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day, everyone. My name is ______, and today I am presenting my MOSA202 Integrated Project: Campus Lost &amp; Found. It is a native Android application, written in Java and connected to Firebase, that helps students at Durban University of Technology report lost items, find items that others have handed in, and get them back to their owners.
In the next ten minutes or so, I will explain the problem I set out to solve, how the app is built, how its main features were implemented, and where it can go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no central, searchable and moderated system through which students can report lost or found items, and no way of deciding which reports are most urgent. Items that are critical to a student's studies, such as a laptop or student card, are treated the same as low-impact items, and there is no controlled way for staff to verify reports before they are shown to everyone.
There are two more issues. First, not every item is equally urgent. A lost water bottle is an inconvenience, but a lost laptop or student card can stop a student from studying or even entering campus. Second, if anyone can post anything, nobody can trust what they see, so reports need to be checked.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solution has four parts. Students can report lost or found items. Every report is analysed by an AI priority classifier that gives a score, a priority and a reason. Approved items appear in a live, searchable list that updates in real time. And administrators control the system: they approve or reject reports, reply to students, and manage who is allowed to be an administrator.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slideLayout" Target="../slideLayouts/slideLayout1.xml"/><Relationship Id="rId1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slideLayout" Target="../slideLayouts/slideLayout1.xml"/><Relationship Id="rId1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slideLayout" Target="../slideLayouts/slideLayout1.xml"/><Relationship Id="rId10"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image" Target="../media/image-22-8.png"/><Relationship Id="rId9" Type="http://schemas.openxmlformats.org/officeDocument/2006/relationships/slideLayout" Target="../slideLayouts/slideLayout1.xml"/><Relationship Id="rId10"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image" Target="../media/image-23-8.png"/><Relationship Id="rId9" Type="http://schemas.openxmlformats.org/officeDocument/2006/relationships/slideLayout" Target="../slideLayouts/slideLayout1.xml"/><Relationship Id="rId10"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A5B"/>
        </a:solidFill>
      </p:bgPr>
    </p:bg>
    <p:spTree>
      <p:nvGrpSpPr>
        <p:cNvPr id="1" name=""/>
        <p:cNvGrpSpPr/>
        <p:nvPr/>
      </p:nvGrpSpPr>
      <p:grpSpPr>
        <a:xfrm>
          <a:off x="0" y="0"/>
          <a:ext cx="0" cy="0"/>
          <a:chOff x="0" y="0"/>
          <a:chExt cx="0" cy="0"/>
        </a:xfrm>
      </p:grpSpPr>
      <p:sp>
        <p:nvSpPr>
          <p:cNvPr id="2" name="Shape 0"/>
          <p:cNvSpPr/>
          <p:nvPr/>
        </p:nvSpPr>
        <p:spPr>
          <a:xfrm>
            <a:off x="4572000" y="-1280160"/>
            <a:ext cx="5486400" cy="5486400"/>
          </a:xfrm>
          <a:prstGeom prst="ellipse">
            <a:avLst/>
          </a:prstGeom>
          <a:solidFill>
            <a:srgbClr val="1E6FD9">
              <a:alpha val="45000"/>
            </a:srgbClr>
          </a:solidFill>
          <a:ln w="12700">
            <a:solidFill>
              <a:srgbClr val="1E6FD9">
                <a:alpha val="0"/>
              </a:srgbClr>
            </a:solidFill>
            <a:prstDash val="solid"/>
          </a:ln>
        </p:spPr>
      </p:sp>
      <p:sp>
        <p:nvSpPr>
          <p:cNvPr id="3" name="Shape 1"/>
          <p:cNvSpPr/>
          <p:nvPr/>
        </p:nvSpPr>
        <p:spPr>
          <a:xfrm>
            <a:off x="548640" y="640080"/>
            <a:ext cx="731520" cy="731520"/>
          </a:xfrm>
          <a:prstGeom prst="ellipse">
            <a:avLst/>
          </a:prstGeom>
          <a:solidFill>
            <a:srgbClr val="FFFFFF"/>
          </a:solidFill>
          <a:ln w="12700">
            <a:solidFill>
              <a:srgbClr val="FFFFFF"/>
            </a:solidFill>
            <a:prstDash val="solid"/>
          </a:ln>
        </p:spPr>
      </p:sp>
      <p:pic>
        <p:nvPicPr>
          <p:cNvPr id="4" name="Image 0" descr="preencoded.png">    </p:cNvPr>
          <p:cNvPicPr>
            <a:picLocks noChangeAspect="1"/>
          </p:cNvPicPr>
          <p:nvPr/>
        </p:nvPicPr>
        <p:blipFill>
          <a:blip r:embed="rId1"/>
          <a:stretch>
            <a:fillRect/>
          </a:stretch>
        </p:blipFill>
        <p:spPr>
          <a:xfrm>
            <a:off x="731520" y="822960"/>
            <a:ext cx="365760" cy="365760"/>
          </a:xfrm>
          <a:prstGeom prst="rect">
            <a:avLst/>
          </a:prstGeom>
        </p:spPr>
      </p:pic>
      <p:sp>
        <p:nvSpPr>
          <p:cNvPr id="5" name="Text 2"/>
          <p:cNvSpPr txBox="1"/>
          <p:nvPr/>
        </p:nvSpPr>
        <p:spPr>
          <a:xfrm>
            <a:off x="548640" y="1463040"/>
            <a:ext cx="4572000" cy="118872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CAMPUS LOST &amp; FOUND</a:t>
            </a:r>
            <a:endParaRPr lang="en-US" sz="3800" dirty="0"/>
          </a:p>
        </p:txBody>
      </p:sp>
      <p:sp>
        <p:nvSpPr>
          <p:cNvPr id="6" name="Text 3"/>
          <p:cNvSpPr txBox="1"/>
          <p:nvPr/>
        </p:nvSpPr>
        <p:spPr>
          <a:xfrm>
            <a:off x="548640" y="2743200"/>
            <a:ext cx="4572000" cy="365760"/>
          </a:xfrm>
          <a:prstGeom prst="rect">
            <a:avLst/>
          </a:prstGeom>
          <a:noFill/>
          <a:ln/>
        </p:spPr>
        <p:txBody>
          <a:bodyPr wrap="square" lIns="0" tIns="0" rIns="0" bIns="0" rtlCol="0" anchor="ctr"/>
          <a:lstStyle/>
          <a:p>
            <a:pPr indent="0" marL="0">
              <a:buNone/>
            </a:pPr>
            <a:r>
              <a:rPr lang="en-US" sz="2000" dirty="0">
                <a:solidFill>
                  <a:srgbClr val="BBD6F7"/>
                </a:solidFill>
                <a:latin typeface="Calibri" pitchFamily="34" charset="0"/>
                <a:ea typeface="Calibri" pitchFamily="34" charset="-122"/>
                <a:cs typeface="Calibri" pitchFamily="34" charset="-120"/>
              </a:rPr>
              <a:t>MOSA202 Integrated Project</a:t>
            </a:r>
            <a:endParaRPr lang="en-US" sz="2000" dirty="0"/>
          </a:p>
        </p:txBody>
      </p:sp>
      <p:sp>
        <p:nvSpPr>
          <p:cNvPr id="7" name="Text 4"/>
          <p:cNvSpPr txBox="1"/>
          <p:nvPr/>
        </p:nvSpPr>
        <p:spPr>
          <a:xfrm>
            <a:off x="548640" y="3154680"/>
            <a:ext cx="4572000" cy="3200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Native Android application  •  Java  •  Firebase</a:t>
            </a:r>
            <a:endParaRPr lang="en-US" sz="1300" dirty="0"/>
          </a:p>
        </p:txBody>
      </p:sp>
      <p:sp>
        <p:nvSpPr>
          <p:cNvPr id="8" name="Text 5"/>
          <p:cNvSpPr txBox="1"/>
          <p:nvPr/>
        </p:nvSpPr>
        <p:spPr>
          <a:xfrm>
            <a:off x="548640" y="3474720"/>
            <a:ext cx="4572000" cy="320040"/>
          </a:xfrm>
          <a:prstGeom prst="rect">
            <a:avLst/>
          </a:prstGeom>
          <a:noFill/>
          <a:ln/>
        </p:spPr>
        <p:txBody>
          <a:bodyPr wrap="square" lIns="0" tIns="0" rIns="0" bIns="0" rtlCol="0" anchor="ctr"/>
          <a:lstStyle/>
          <a:p>
            <a:pPr indent="0" marL="0">
              <a:buNone/>
            </a:pPr>
            <a:r>
              <a:rPr lang="en-US" sz="1300" dirty="0">
                <a:solidFill>
                  <a:srgbClr val="BBD6F7"/>
                </a:solidFill>
                <a:latin typeface="Calibri" pitchFamily="34" charset="0"/>
                <a:ea typeface="Calibri" pitchFamily="34" charset="-122"/>
                <a:cs typeface="Calibri" pitchFamily="34" charset="-120"/>
              </a:rPr>
              <a:t>Durban University of Technology</a:t>
            </a:r>
            <a:endParaRPr lang="en-US" sz="1300" dirty="0"/>
          </a:p>
        </p:txBody>
      </p:sp>
      <p:sp>
        <p:nvSpPr>
          <p:cNvPr id="9" name="Text 6"/>
          <p:cNvSpPr txBox="1"/>
          <p:nvPr/>
        </p:nvSpPr>
        <p:spPr>
          <a:xfrm>
            <a:off x="548640" y="4434840"/>
            <a:ext cx="4754880" cy="320040"/>
          </a:xfrm>
          <a:prstGeom prst="rect">
            <a:avLst/>
          </a:prstGeom>
          <a:noFill/>
          <a:ln/>
        </p:spPr>
        <p:txBody>
          <a:bodyPr wrap="square" lIns="0" tIns="0" rIns="0" bIns="0" rtlCol="0" anchor="ctr"/>
          <a:lstStyle/>
          <a:p>
            <a:pPr indent="0" marL="0">
              <a:buNone/>
            </a:pPr>
            <a:r>
              <a:rPr lang="en-US" sz="1100" dirty="0">
                <a:solidFill>
                  <a:srgbClr val="BBD6F7"/>
                </a:solidFill>
                <a:latin typeface="Calibri" pitchFamily="34" charset="0"/>
                <a:ea typeface="Calibri" pitchFamily="34" charset="-122"/>
                <a:cs typeface="Calibri" pitchFamily="34" charset="-120"/>
              </a:rPr>
              <a:t>Presenter: ____________________</a:t>
            </a:r>
            <a:endParaRPr lang="en-US" sz="1100" dirty="0"/>
          </a:p>
        </p:txBody>
      </p:sp>
      <p:pic>
        <p:nvPicPr>
          <p:cNvPr id="10" name="Image 1" descr="pb_welcome.png">    </p:cNvPr>
          <p:cNvPicPr>
            <a:picLocks noChangeAspect="1"/>
          </p:cNvPicPr>
          <p:nvPr/>
        </p:nvPicPr>
        <p:blipFill>
          <a:blip r:embed="rId2"/>
          <a:stretch>
            <a:fillRect/>
          </a:stretch>
        </p:blipFill>
        <p:spPr>
          <a:xfrm>
            <a:off x="5349240" y="548640"/>
            <a:ext cx="1933731" cy="3931920"/>
          </a:xfrm>
          <a:prstGeom prst="rect">
            <a:avLst/>
          </a:prstGeom>
          <a:effectLst>
            <a:outerShdw sx="100000" sy="100000" kx="0" ky="0" algn="bl" rotWithShape="0" blurRad="152400" dist="50800" dir="5400000">
              <a:srgbClr val="000000">
                <a:alpha val="25000"/>
              </a:srgbClr>
            </a:outerShdw>
          </a:effectLst>
        </p:spPr>
      </p:pic>
      <p:pic>
        <p:nvPicPr>
          <p:cNvPr id="11" name="Image 2" descr="pb_home.png">    </p:cNvPr>
          <p:cNvPicPr>
            <a:picLocks noChangeAspect="1"/>
          </p:cNvPicPr>
          <p:nvPr/>
        </p:nvPicPr>
        <p:blipFill>
          <a:blip r:embed="rId3"/>
          <a:stretch>
            <a:fillRect/>
          </a:stretch>
        </p:blipFill>
        <p:spPr>
          <a:xfrm>
            <a:off x="7086600" y="960120"/>
            <a:ext cx="1933731" cy="3931920"/>
          </a:xfrm>
          <a:prstGeom prst="rect">
            <a:avLst/>
          </a:prstGeom>
          <a:effectLst>
            <a:outerShdw sx="100000" sy="100000" kx="0" ky="0" algn="bl" rotWithShape="0" blurRad="152400" dist="50800" dir="5400000">
              <a:srgbClr val="000000">
                <a:alpha val="25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9FF"/>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E6FD9"/>
          </a:solidFill>
          <a:ln w="12700">
            <a:solidFill>
              <a:srgbClr val="1E6FD9"/>
            </a:solidFill>
            <a:prstDash val="solid"/>
          </a:ln>
        </p:spPr>
      </p:sp>
      <p:sp>
        <p:nvSpPr>
          <p:cNvPr id="3" name="Text 1"/>
          <p:cNvSpPr txBox="1"/>
          <p:nvPr/>
        </p:nvSpPr>
        <p:spPr>
          <a:xfrm>
            <a:off x="548640" y="320040"/>
            <a:ext cx="8229600" cy="640080"/>
          </a:xfrm>
          <a:prstGeom prst="rect">
            <a:avLst/>
          </a:prstGeom>
          <a:noFill/>
          <a:ln/>
        </p:spPr>
        <p:txBody>
          <a:bodyPr wrap="square" lIns="0" tIns="0" rIns="0" bIns="0" rtlCol="0" anchor="ctr"/>
          <a:lstStyle/>
          <a:p>
            <a:pPr indent="0" marL="0">
              <a:buNone/>
            </a:pPr>
            <a:r>
              <a:rPr lang="en-US" sz="3000" b="1" dirty="0">
                <a:solidFill>
                  <a:srgbClr val="0B2A5B"/>
                </a:solidFill>
                <a:latin typeface="Cambria" pitchFamily="34" charset="0"/>
                <a:ea typeface="Cambria" pitchFamily="34" charset="-122"/>
                <a:cs typeface="Cambria" pitchFamily="34" charset="-120"/>
              </a:rPr>
              <a:t>Presentation Outline</a:t>
            </a:r>
            <a:endParaRPr lang="en-US" sz="3000" dirty="0"/>
          </a:p>
        </p:txBody>
      </p:sp>
      <p:sp>
        <p:nvSpPr>
          <p:cNvPr id="4" name="Shape 2"/>
          <p:cNvSpPr/>
          <p:nvPr/>
        </p:nvSpPr>
        <p:spPr>
          <a:xfrm>
            <a:off x="548640" y="1143000"/>
            <a:ext cx="3931920" cy="804672"/>
          </a:xfrm>
          <a:prstGeom prst="roundRect">
            <a:avLst>
              <a:gd name="adj" fmla="val 13636"/>
            </a:avLst>
          </a:prstGeom>
          <a:solidFill>
            <a:srgbClr val="FFFFFF"/>
          </a:solidFill>
          <a:ln w="12700">
            <a:solidFill>
              <a:srgbClr val="D6E4F7"/>
            </a:solidFill>
            <a:prstDash val="solid"/>
          </a:ln>
        </p:spPr>
      </p:sp>
      <p:sp>
        <p:nvSpPr>
          <p:cNvPr id="5" name="Shape 3"/>
          <p:cNvSpPr/>
          <p:nvPr/>
        </p:nvSpPr>
        <p:spPr>
          <a:xfrm>
            <a:off x="685800" y="1289304"/>
            <a:ext cx="512064" cy="512064"/>
          </a:xfrm>
          <a:prstGeom prst="ellipse">
            <a:avLst/>
          </a:prstGeom>
          <a:solidFill>
            <a:srgbClr val="1E6FD9"/>
          </a:solidFill>
          <a:ln w="12700">
            <a:solidFill>
              <a:srgbClr val="1E6FD9"/>
            </a:solidFill>
            <a:prstDash val="solid"/>
          </a:ln>
        </p:spPr>
      </p:sp>
      <p:sp>
        <p:nvSpPr>
          <p:cNvPr id="6" name="Text 4"/>
          <p:cNvSpPr txBox="1"/>
          <p:nvPr/>
        </p:nvSpPr>
        <p:spPr>
          <a:xfrm>
            <a:off x="685800" y="1289304"/>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txBox="1"/>
          <p:nvPr/>
        </p:nvSpPr>
        <p:spPr>
          <a:xfrm>
            <a:off x="1371600" y="1143000"/>
            <a:ext cx="3017520" cy="804672"/>
          </a:xfrm>
          <a:prstGeom prst="rect">
            <a:avLst/>
          </a:prstGeom>
          <a:noFill/>
          <a:ln/>
        </p:spPr>
        <p:txBody>
          <a:bodyPr wrap="square" lIns="0" tIns="0" rIns="0" bIns="0" rtlCol="0" anchor="ctr"/>
          <a:lstStyle/>
          <a:p>
            <a:pPr indent="0" marL="0">
              <a:buNone/>
            </a:pPr>
            <a:r>
              <a:rPr lang="en-US" sz="1400" b="1" dirty="0">
                <a:solidFill>
                  <a:srgbClr val="0B2A5B"/>
                </a:solidFill>
                <a:latin typeface="Calibri" pitchFamily="34" charset="0"/>
                <a:ea typeface="Calibri" pitchFamily="34" charset="-122"/>
                <a:cs typeface="Calibri" pitchFamily="34" charset="-120"/>
              </a:rPr>
              <a:t>Introduction</a:t>
            </a:r>
            <a:endParaRPr lang="en-US" sz="1300" dirty="0"/>
          </a:p>
          <a:p>
            <a:pPr indent="0" marL="0">
              <a:buNone/>
            </a:pPr>
            <a:r>
              <a:rPr lang="en-US" sz="1050" dirty="0">
                <a:solidFill>
                  <a:srgbClr val="5B6B85"/>
                </a:solidFill>
                <a:latin typeface="Calibri" pitchFamily="34" charset="0"/>
                <a:ea typeface="Calibri" pitchFamily="34" charset="-122"/>
                <a:cs typeface="Calibri" pitchFamily="34" charset="-120"/>
              </a:rPr>
              <a:t>What the app is and why it exists</a:t>
            </a:r>
            <a:endParaRPr lang="en-US" sz="1300" dirty="0"/>
          </a:p>
        </p:txBody>
      </p:sp>
      <p:sp>
        <p:nvSpPr>
          <p:cNvPr id="8" name="Shape 6"/>
          <p:cNvSpPr/>
          <p:nvPr/>
        </p:nvSpPr>
        <p:spPr>
          <a:xfrm>
            <a:off x="4709160" y="1143000"/>
            <a:ext cx="3931920" cy="804672"/>
          </a:xfrm>
          <a:prstGeom prst="roundRect">
            <a:avLst>
              <a:gd name="adj" fmla="val 13636"/>
            </a:avLst>
          </a:prstGeom>
          <a:solidFill>
            <a:srgbClr val="FFFFFF"/>
          </a:solidFill>
          <a:ln w="12700">
            <a:solidFill>
              <a:srgbClr val="D6E4F7"/>
            </a:solidFill>
            <a:prstDash val="solid"/>
          </a:ln>
        </p:spPr>
      </p:sp>
      <p:sp>
        <p:nvSpPr>
          <p:cNvPr id="9" name="Shape 7"/>
          <p:cNvSpPr/>
          <p:nvPr/>
        </p:nvSpPr>
        <p:spPr>
          <a:xfrm>
            <a:off x="4846320" y="1289304"/>
            <a:ext cx="512064" cy="512064"/>
          </a:xfrm>
          <a:prstGeom prst="ellipse">
            <a:avLst/>
          </a:prstGeom>
          <a:solidFill>
            <a:srgbClr val="3B9CF0"/>
          </a:solidFill>
          <a:ln w="12700">
            <a:solidFill>
              <a:srgbClr val="3B9CF0"/>
            </a:solidFill>
            <a:prstDash val="solid"/>
          </a:ln>
        </p:spPr>
      </p:sp>
      <p:sp>
        <p:nvSpPr>
          <p:cNvPr id="10" name="Text 8"/>
          <p:cNvSpPr txBox="1"/>
          <p:nvPr/>
        </p:nvSpPr>
        <p:spPr>
          <a:xfrm>
            <a:off x="4846320" y="1289304"/>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1" name="Text 9"/>
          <p:cNvSpPr txBox="1"/>
          <p:nvPr/>
        </p:nvSpPr>
        <p:spPr>
          <a:xfrm>
            <a:off x="5532120" y="1143000"/>
            <a:ext cx="3017520" cy="804672"/>
          </a:xfrm>
          <a:prstGeom prst="rect">
            <a:avLst/>
          </a:prstGeom>
          <a:noFill/>
          <a:ln/>
        </p:spPr>
        <p:txBody>
          <a:bodyPr wrap="square" lIns="0" tIns="0" rIns="0" bIns="0" rtlCol="0" anchor="ctr"/>
          <a:lstStyle/>
          <a:p>
            <a:pPr indent="0" marL="0">
              <a:buNone/>
            </a:pPr>
            <a:r>
              <a:rPr lang="en-US" sz="1400" b="1" dirty="0">
                <a:solidFill>
                  <a:srgbClr val="0B2A5B"/>
                </a:solidFill>
                <a:latin typeface="Calibri" pitchFamily="34" charset="0"/>
                <a:ea typeface="Calibri" pitchFamily="34" charset="-122"/>
                <a:cs typeface="Calibri" pitchFamily="34" charset="-120"/>
              </a:rPr>
              <a:t>Problem Statement</a:t>
            </a:r>
            <a:endParaRPr lang="en-US" sz="1300" dirty="0"/>
          </a:p>
          <a:p>
            <a:pPr indent="0" marL="0">
              <a:buNone/>
            </a:pPr>
            <a:r>
              <a:rPr lang="en-US" sz="1050" dirty="0">
                <a:solidFill>
                  <a:srgbClr val="5B6B85"/>
                </a:solidFill>
                <a:latin typeface="Calibri" pitchFamily="34" charset="0"/>
                <a:ea typeface="Calibri" pitchFamily="34" charset="-122"/>
                <a:cs typeface="Calibri" pitchFamily="34" charset="-120"/>
              </a:rPr>
              <a:t>The gap on campus and our solution</a:t>
            </a:r>
            <a:endParaRPr lang="en-US" sz="1300" dirty="0"/>
          </a:p>
        </p:txBody>
      </p:sp>
      <p:sp>
        <p:nvSpPr>
          <p:cNvPr id="12" name="Shape 10"/>
          <p:cNvSpPr/>
          <p:nvPr/>
        </p:nvSpPr>
        <p:spPr>
          <a:xfrm>
            <a:off x="548640" y="2057400"/>
            <a:ext cx="3931920" cy="804672"/>
          </a:xfrm>
          <a:prstGeom prst="roundRect">
            <a:avLst>
              <a:gd name="adj" fmla="val 13636"/>
            </a:avLst>
          </a:prstGeom>
          <a:solidFill>
            <a:srgbClr val="FFFFFF"/>
          </a:solidFill>
          <a:ln w="12700">
            <a:solidFill>
              <a:srgbClr val="D6E4F7"/>
            </a:solidFill>
            <a:prstDash val="solid"/>
          </a:ln>
        </p:spPr>
      </p:sp>
      <p:sp>
        <p:nvSpPr>
          <p:cNvPr id="13" name="Shape 11"/>
          <p:cNvSpPr/>
          <p:nvPr/>
        </p:nvSpPr>
        <p:spPr>
          <a:xfrm>
            <a:off x="685800" y="2203704"/>
            <a:ext cx="512064" cy="512064"/>
          </a:xfrm>
          <a:prstGeom prst="ellipse">
            <a:avLst/>
          </a:prstGeom>
          <a:solidFill>
            <a:srgbClr val="1E6FD9"/>
          </a:solidFill>
          <a:ln w="12700">
            <a:solidFill>
              <a:srgbClr val="1E6FD9"/>
            </a:solidFill>
            <a:prstDash val="solid"/>
          </a:ln>
        </p:spPr>
      </p:sp>
      <p:sp>
        <p:nvSpPr>
          <p:cNvPr id="14" name="Text 12"/>
          <p:cNvSpPr txBox="1"/>
          <p:nvPr/>
        </p:nvSpPr>
        <p:spPr>
          <a:xfrm>
            <a:off x="685800" y="2203704"/>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5" name="Text 13"/>
          <p:cNvSpPr txBox="1"/>
          <p:nvPr/>
        </p:nvSpPr>
        <p:spPr>
          <a:xfrm>
            <a:off x="1371600" y="2057400"/>
            <a:ext cx="3017520" cy="804672"/>
          </a:xfrm>
          <a:prstGeom prst="rect">
            <a:avLst/>
          </a:prstGeom>
          <a:noFill/>
          <a:ln/>
        </p:spPr>
        <p:txBody>
          <a:bodyPr wrap="square" lIns="0" tIns="0" rIns="0" bIns="0" rtlCol="0" anchor="ctr"/>
          <a:lstStyle/>
          <a:p>
            <a:pPr indent="0" marL="0">
              <a:buNone/>
            </a:pPr>
            <a:r>
              <a:rPr lang="en-US" sz="1400" b="1" dirty="0">
                <a:solidFill>
                  <a:srgbClr val="0B2A5B"/>
                </a:solidFill>
                <a:latin typeface="Calibri" pitchFamily="34" charset="0"/>
                <a:ea typeface="Calibri" pitchFamily="34" charset="-122"/>
                <a:cs typeface="Calibri" pitchFamily="34" charset="-120"/>
              </a:rPr>
              <a:t>System Overview</a:t>
            </a:r>
            <a:endParaRPr lang="en-US" sz="1300" dirty="0"/>
          </a:p>
          <a:p>
            <a:pPr indent="0" marL="0">
              <a:buNone/>
            </a:pPr>
            <a:r>
              <a:rPr lang="en-US" sz="1050" dirty="0">
                <a:solidFill>
                  <a:srgbClr val="5B6B85"/>
                </a:solidFill>
                <a:latin typeface="Calibri" pitchFamily="34" charset="0"/>
                <a:ea typeface="Calibri" pitchFamily="34" charset="-122"/>
                <a:cs typeface="Calibri" pitchFamily="34" charset="-120"/>
              </a:rPr>
              <a:t>Users, roles and main features</a:t>
            </a:r>
            <a:endParaRPr lang="en-US" sz="1300" dirty="0"/>
          </a:p>
        </p:txBody>
      </p:sp>
      <p:sp>
        <p:nvSpPr>
          <p:cNvPr id="16" name="Shape 14"/>
          <p:cNvSpPr/>
          <p:nvPr/>
        </p:nvSpPr>
        <p:spPr>
          <a:xfrm>
            <a:off x="4709160" y="2057400"/>
            <a:ext cx="3931920" cy="804672"/>
          </a:xfrm>
          <a:prstGeom prst="roundRect">
            <a:avLst>
              <a:gd name="adj" fmla="val 13636"/>
            </a:avLst>
          </a:prstGeom>
          <a:solidFill>
            <a:srgbClr val="FFFFFF"/>
          </a:solidFill>
          <a:ln w="12700">
            <a:solidFill>
              <a:srgbClr val="D6E4F7"/>
            </a:solidFill>
            <a:prstDash val="solid"/>
          </a:ln>
        </p:spPr>
      </p:sp>
      <p:sp>
        <p:nvSpPr>
          <p:cNvPr id="17" name="Shape 15"/>
          <p:cNvSpPr/>
          <p:nvPr/>
        </p:nvSpPr>
        <p:spPr>
          <a:xfrm>
            <a:off x="4846320" y="2203704"/>
            <a:ext cx="512064" cy="512064"/>
          </a:xfrm>
          <a:prstGeom prst="ellipse">
            <a:avLst/>
          </a:prstGeom>
          <a:solidFill>
            <a:srgbClr val="3B9CF0"/>
          </a:solidFill>
          <a:ln w="12700">
            <a:solidFill>
              <a:srgbClr val="3B9CF0"/>
            </a:solidFill>
            <a:prstDash val="solid"/>
          </a:ln>
        </p:spPr>
      </p:sp>
      <p:sp>
        <p:nvSpPr>
          <p:cNvPr id="18" name="Text 16"/>
          <p:cNvSpPr txBox="1"/>
          <p:nvPr/>
        </p:nvSpPr>
        <p:spPr>
          <a:xfrm>
            <a:off x="4846320" y="2203704"/>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19" name="Text 17"/>
          <p:cNvSpPr txBox="1"/>
          <p:nvPr/>
        </p:nvSpPr>
        <p:spPr>
          <a:xfrm>
            <a:off x="5532120" y="2057400"/>
            <a:ext cx="3017520" cy="804672"/>
          </a:xfrm>
          <a:prstGeom prst="rect">
            <a:avLst/>
          </a:prstGeom>
          <a:noFill/>
          <a:ln/>
        </p:spPr>
        <p:txBody>
          <a:bodyPr wrap="square" lIns="0" tIns="0" rIns="0" bIns="0" rtlCol="0" anchor="ctr"/>
          <a:lstStyle/>
          <a:p>
            <a:pPr indent="0" marL="0">
              <a:buNone/>
            </a:pPr>
            <a:r>
              <a:rPr lang="en-US" sz="1400" b="1" dirty="0">
                <a:solidFill>
                  <a:srgbClr val="0B2A5B"/>
                </a:solidFill>
                <a:latin typeface="Calibri" pitchFamily="34" charset="0"/>
                <a:ea typeface="Calibri" pitchFamily="34" charset="-122"/>
                <a:cs typeface="Calibri" pitchFamily="34" charset="-120"/>
              </a:rPr>
              <a:t>Technology and Tools</a:t>
            </a:r>
            <a:endParaRPr lang="en-US" sz="1300" dirty="0"/>
          </a:p>
          <a:p>
            <a:pPr indent="0" marL="0">
              <a:buNone/>
            </a:pPr>
            <a:r>
              <a:rPr lang="en-US" sz="1050" dirty="0">
                <a:solidFill>
                  <a:srgbClr val="5B6B85"/>
                </a:solidFill>
                <a:latin typeface="Calibri" pitchFamily="34" charset="0"/>
                <a:ea typeface="Calibri" pitchFamily="34" charset="-122"/>
                <a:cs typeface="Calibri" pitchFamily="34" charset="-120"/>
              </a:rPr>
              <a:t>Language, libraries and Firebase services</a:t>
            </a:r>
            <a:endParaRPr lang="en-US" sz="1300" dirty="0"/>
          </a:p>
        </p:txBody>
      </p:sp>
      <p:sp>
        <p:nvSpPr>
          <p:cNvPr id="20" name="Shape 18"/>
          <p:cNvSpPr/>
          <p:nvPr/>
        </p:nvSpPr>
        <p:spPr>
          <a:xfrm>
            <a:off x="548640" y="2971800"/>
            <a:ext cx="3931920" cy="804672"/>
          </a:xfrm>
          <a:prstGeom prst="roundRect">
            <a:avLst>
              <a:gd name="adj" fmla="val 13636"/>
            </a:avLst>
          </a:prstGeom>
          <a:solidFill>
            <a:srgbClr val="FFFFFF"/>
          </a:solidFill>
          <a:ln w="12700">
            <a:solidFill>
              <a:srgbClr val="D6E4F7"/>
            </a:solidFill>
            <a:prstDash val="solid"/>
          </a:ln>
        </p:spPr>
      </p:sp>
      <p:sp>
        <p:nvSpPr>
          <p:cNvPr id="21" name="Shape 19"/>
          <p:cNvSpPr/>
          <p:nvPr/>
        </p:nvSpPr>
        <p:spPr>
          <a:xfrm>
            <a:off x="685800" y="3118104"/>
            <a:ext cx="512064" cy="512064"/>
          </a:xfrm>
          <a:prstGeom prst="ellipse">
            <a:avLst/>
          </a:prstGeom>
          <a:solidFill>
            <a:srgbClr val="1E6FD9"/>
          </a:solidFill>
          <a:ln w="12700">
            <a:solidFill>
              <a:srgbClr val="1E6FD9"/>
            </a:solidFill>
            <a:prstDash val="solid"/>
          </a:ln>
        </p:spPr>
      </p:sp>
      <p:sp>
        <p:nvSpPr>
          <p:cNvPr id="22" name="Text 20"/>
          <p:cNvSpPr txBox="1"/>
          <p:nvPr/>
        </p:nvSpPr>
        <p:spPr>
          <a:xfrm>
            <a:off x="685800" y="3118104"/>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3" name="Text 21"/>
          <p:cNvSpPr txBox="1"/>
          <p:nvPr/>
        </p:nvSpPr>
        <p:spPr>
          <a:xfrm>
            <a:off x="1371600" y="2971800"/>
            <a:ext cx="3017520" cy="804672"/>
          </a:xfrm>
          <a:prstGeom prst="rect">
            <a:avLst/>
          </a:prstGeom>
          <a:noFill/>
          <a:ln/>
        </p:spPr>
        <p:txBody>
          <a:bodyPr wrap="square" lIns="0" tIns="0" rIns="0" bIns="0" rtlCol="0" anchor="ctr"/>
          <a:lstStyle/>
          <a:p>
            <a:pPr indent="0" marL="0">
              <a:buNone/>
            </a:pPr>
            <a:r>
              <a:rPr lang="en-US" sz="1400" b="1" dirty="0">
                <a:solidFill>
                  <a:srgbClr val="0B2A5B"/>
                </a:solidFill>
                <a:latin typeface="Calibri" pitchFamily="34" charset="0"/>
                <a:ea typeface="Calibri" pitchFamily="34" charset="-122"/>
                <a:cs typeface="Calibri" pitchFamily="34" charset="-120"/>
              </a:rPr>
              <a:t>Implementation</a:t>
            </a:r>
            <a:endParaRPr lang="en-US" sz="1300" dirty="0"/>
          </a:p>
          <a:p>
            <a:pPr indent="0" marL="0">
              <a:buNone/>
            </a:pPr>
            <a:r>
              <a:rPr lang="en-US" sz="1050" dirty="0">
                <a:solidFill>
                  <a:srgbClr val="5B6B85"/>
                </a:solidFill>
                <a:latin typeface="Calibri" pitchFamily="34" charset="0"/>
                <a:ea typeface="Calibri" pitchFamily="34" charset="-122"/>
                <a:cs typeface="Calibri" pitchFamily="34" charset="-120"/>
              </a:rPr>
              <a:t>Accounts, reporting and the AI priority classifier</a:t>
            </a:r>
            <a:endParaRPr lang="en-US" sz="1300" dirty="0"/>
          </a:p>
        </p:txBody>
      </p:sp>
      <p:sp>
        <p:nvSpPr>
          <p:cNvPr id="24" name="Shape 22"/>
          <p:cNvSpPr/>
          <p:nvPr/>
        </p:nvSpPr>
        <p:spPr>
          <a:xfrm>
            <a:off x="4709160" y="2971800"/>
            <a:ext cx="3931920" cy="804672"/>
          </a:xfrm>
          <a:prstGeom prst="roundRect">
            <a:avLst>
              <a:gd name="adj" fmla="val 13636"/>
            </a:avLst>
          </a:prstGeom>
          <a:solidFill>
            <a:srgbClr val="FFFFFF"/>
          </a:solidFill>
          <a:ln w="12700">
            <a:solidFill>
              <a:srgbClr val="D6E4F7"/>
            </a:solidFill>
            <a:prstDash val="solid"/>
          </a:ln>
        </p:spPr>
      </p:sp>
      <p:sp>
        <p:nvSpPr>
          <p:cNvPr id="25" name="Shape 23"/>
          <p:cNvSpPr/>
          <p:nvPr/>
        </p:nvSpPr>
        <p:spPr>
          <a:xfrm>
            <a:off x="4846320" y="3118104"/>
            <a:ext cx="512064" cy="512064"/>
          </a:xfrm>
          <a:prstGeom prst="ellipse">
            <a:avLst/>
          </a:prstGeom>
          <a:solidFill>
            <a:srgbClr val="3B9CF0"/>
          </a:solidFill>
          <a:ln w="12700">
            <a:solidFill>
              <a:srgbClr val="3B9CF0"/>
            </a:solidFill>
            <a:prstDash val="solid"/>
          </a:ln>
        </p:spPr>
      </p:sp>
      <p:sp>
        <p:nvSpPr>
          <p:cNvPr id="26" name="Text 24"/>
          <p:cNvSpPr txBox="1"/>
          <p:nvPr/>
        </p:nvSpPr>
        <p:spPr>
          <a:xfrm>
            <a:off x="4846320" y="3118104"/>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27" name="Text 25"/>
          <p:cNvSpPr txBox="1"/>
          <p:nvPr/>
        </p:nvSpPr>
        <p:spPr>
          <a:xfrm>
            <a:off x="5532120" y="2971800"/>
            <a:ext cx="3017520" cy="804672"/>
          </a:xfrm>
          <a:prstGeom prst="rect">
            <a:avLst/>
          </a:prstGeom>
          <a:noFill/>
          <a:ln/>
        </p:spPr>
        <p:txBody>
          <a:bodyPr wrap="square" lIns="0" tIns="0" rIns="0" bIns="0" rtlCol="0" anchor="ctr"/>
          <a:lstStyle/>
          <a:p>
            <a:pPr indent="0" marL="0">
              <a:buNone/>
            </a:pPr>
            <a:r>
              <a:rPr lang="en-US" sz="1400" b="1" dirty="0">
                <a:solidFill>
                  <a:srgbClr val="0B2A5B"/>
                </a:solidFill>
                <a:latin typeface="Calibri" pitchFamily="34" charset="0"/>
                <a:ea typeface="Calibri" pitchFamily="34" charset="-122"/>
                <a:cs typeface="Calibri" pitchFamily="34" charset="-120"/>
              </a:rPr>
              <a:t>Testing</a:t>
            </a:r>
            <a:endParaRPr lang="en-US" sz="1300" dirty="0"/>
          </a:p>
          <a:p>
            <a:pPr indent="0" marL="0">
              <a:buNone/>
            </a:pPr>
            <a:r>
              <a:rPr lang="en-US" sz="1050" dirty="0">
                <a:solidFill>
                  <a:srgbClr val="5B6B85"/>
                </a:solidFill>
                <a:latin typeface="Calibri" pitchFamily="34" charset="0"/>
                <a:ea typeface="Calibri" pitchFamily="34" charset="-122"/>
                <a:cs typeface="Calibri" pitchFamily="34" charset="-120"/>
              </a:rPr>
              <a:t>18 scenarios across the whole app</a:t>
            </a:r>
            <a:endParaRPr lang="en-US" sz="1300" dirty="0"/>
          </a:p>
        </p:txBody>
      </p:sp>
      <p:sp>
        <p:nvSpPr>
          <p:cNvPr id="28" name="Shape 26"/>
          <p:cNvSpPr/>
          <p:nvPr/>
        </p:nvSpPr>
        <p:spPr>
          <a:xfrm>
            <a:off x="548640" y="3886200"/>
            <a:ext cx="3931920" cy="804672"/>
          </a:xfrm>
          <a:prstGeom prst="roundRect">
            <a:avLst>
              <a:gd name="adj" fmla="val 13636"/>
            </a:avLst>
          </a:prstGeom>
          <a:solidFill>
            <a:srgbClr val="FFFFFF"/>
          </a:solidFill>
          <a:ln w="12700">
            <a:solidFill>
              <a:srgbClr val="D6E4F7"/>
            </a:solidFill>
            <a:prstDash val="solid"/>
          </a:ln>
        </p:spPr>
      </p:sp>
      <p:sp>
        <p:nvSpPr>
          <p:cNvPr id="29" name="Shape 27"/>
          <p:cNvSpPr/>
          <p:nvPr/>
        </p:nvSpPr>
        <p:spPr>
          <a:xfrm>
            <a:off x="685800" y="4032504"/>
            <a:ext cx="512064" cy="512064"/>
          </a:xfrm>
          <a:prstGeom prst="ellipse">
            <a:avLst/>
          </a:prstGeom>
          <a:solidFill>
            <a:srgbClr val="1E6FD9"/>
          </a:solidFill>
          <a:ln w="12700">
            <a:solidFill>
              <a:srgbClr val="1E6FD9"/>
            </a:solidFill>
            <a:prstDash val="solid"/>
          </a:ln>
        </p:spPr>
      </p:sp>
      <p:sp>
        <p:nvSpPr>
          <p:cNvPr id="30" name="Text 28"/>
          <p:cNvSpPr txBox="1"/>
          <p:nvPr/>
        </p:nvSpPr>
        <p:spPr>
          <a:xfrm>
            <a:off x="685800" y="4032504"/>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7</a:t>
            </a:r>
            <a:endParaRPr lang="en-US" sz="1800" dirty="0"/>
          </a:p>
        </p:txBody>
      </p:sp>
      <p:sp>
        <p:nvSpPr>
          <p:cNvPr id="31" name="Text 29"/>
          <p:cNvSpPr txBox="1"/>
          <p:nvPr/>
        </p:nvSpPr>
        <p:spPr>
          <a:xfrm>
            <a:off x="1371600" y="3886200"/>
            <a:ext cx="3017520" cy="804672"/>
          </a:xfrm>
          <a:prstGeom prst="rect">
            <a:avLst/>
          </a:prstGeom>
          <a:noFill/>
          <a:ln/>
        </p:spPr>
        <p:txBody>
          <a:bodyPr wrap="square" lIns="0" tIns="0" rIns="0" bIns="0" rtlCol="0" anchor="ctr"/>
          <a:lstStyle/>
          <a:p>
            <a:pPr indent="0" marL="0">
              <a:buNone/>
            </a:pPr>
            <a:r>
              <a:rPr lang="en-US" sz="1400" b="1" dirty="0">
                <a:solidFill>
                  <a:srgbClr val="0B2A5B"/>
                </a:solidFill>
                <a:latin typeface="Calibri" pitchFamily="34" charset="0"/>
                <a:ea typeface="Calibri" pitchFamily="34" charset="-122"/>
                <a:cs typeface="Calibri" pitchFamily="34" charset="-120"/>
              </a:rPr>
              <a:t>Challenges and Limitations</a:t>
            </a:r>
            <a:endParaRPr lang="en-US" sz="1300" dirty="0"/>
          </a:p>
          <a:p>
            <a:pPr indent="0" marL="0">
              <a:buNone/>
            </a:pPr>
            <a:r>
              <a:rPr lang="en-US" sz="1050" dirty="0">
                <a:solidFill>
                  <a:srgbClr val="5B6B85"/>
                </a:solidFill>
                <a:latin typeface="Calibri" pitchFamily="34" charset="0"/>
                <a:ea typeface="Calibri" pitchFamily="34" charset="-122"/>
                <a:cs typeface="Calibri" pitchFamily="34" charset="-120"/>
              </a:rPr>
              <a:t>What the current version does not do yet</a:t>
            </a:r>
            <a:endParaRPr lang="en-US" sz="1300" dirty="0"/>
          </a:p>
        </p:txBody>
      </p:sp>
      <p:sp>
        <p:nvSpPr>
          <p:cNvPr id="32" name="Shape 30"/>
          <p:cNvSpPr/>
          <p:nvPr/>
        </p:nvSpPr>
        <p:spPr>
          <a:xfrm>
            <a:off x="4709160" y="3886200"/>
            <a:ext cx="3931920" cy="804672"/>
          </a:xfrm>
          <a:prstGeom prst="roundRect">
            <a:avLst>
              <a:gd name="adj" fmla="val 13636"/>
            </a:avLst>
          </a:prstGeom>
          <a:solidFill>
            <a:srgbClr val="FFFFFF"/>
          </a:solidFill>
          <a:ln w="12700">
            <a:solidFill>
              <a:srgbClr val="D6E4F7"/>
            </a:solidFill>
            <a:prstDash val="solid"/>
          </a:ln>
        </p:spPr>
      </p:sp>
      <p:sp>
        <p:nvSpPr>
          <p:cNvPr id="33" name="Shape 31"/>
          <p:cNvSpPr/>
          <p:nvPr/>
        </p:nvSpPr>
        <p:spPr>
          <a:xfrm>
            <a:off x="4846320" y="4032504"/>
            <a:ext cx="512064" cy="512064"/>
          </a:xfrm>
          <a:prstGeom prst="ellipse">
            <a:avLst/>
          </a:prstGeom>
          <a:solidFill>
            <a:srgbClr val="3B9CF0"/>
          </a:solidFill>
          <a:ln w="12700">
            <a:solidFill>
              <a:srgbClr val="3B9CF0"/>
            </a:solidFill>
            <a:prstDash val="solid"/>
          </a:ln>
        </p:spPr>
      </p:sp>
      <p:sp>
        <p:nvSpPr>
          <p:cNvPr id="34" name="Text 32"/>
          <p:cNvSpPr txBox="1"/>
          <p:nvPr/>
        </p:nvSpPr>
        <p:spPr>
          <a:xfrm>
            <a:off x="4846320" y="4032504"/>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8</a:t>
            </a:r>
            <a:endParaRPr lang="en-US" sz="1800" dirty="0"/>
          </a:p>
        </p:txBody>
      </p:sp>
      <p:sp>
        <p:nvSpPr>
          <p:cNvPr id="35" name="Text 33"/>
          <p:cNvSpPr txBox="1"/>
          <p:nvPr/>
        </p:nvSpPr>
        <p:spPr>
          <a:xfrm>
            <a:off x="5532120" y="3886200"/>
            <a:ext cx="3017520" cy="804672"/>
          </a:xfrm>
          <a:prstGeom prst="rect">
            <a:avLst/>
          </a:prstGeom>
          <a:noFill/>
          <a:ln/>
        </p:spPr>
        <p:txBody>
          <a:bodyPr wrap="square" lIns="0" tIns="0" rIns="0" bIns="0" rtlCol="0" anchor="ctr"/>
          <a:lstStyle/>
          <a:p>
            <a:pPr indent="0" marL="0">
              <a:buNone/>
            </a:pPr>
            <a:r>
              <a:rPr lang="en-US" sz="1400" b="1" dirty="0">
                <a:solidFill>
                  <a:srgbClr val="0B2A5B"/>
                </a:solidFill>
                <a:latin typeface="Calibri" pitchFamily="34" charset="0"/>
                <a:ea typeface="Calibri" pitchFamily="34" charset="-122"/>
                <a:cs typeface="Calibri" pitchFamily="34" charset="-120"/>
              </a:rPr>
              <a:t>Where It Can Go Next</a:t>
            </a:r>
            <a:endParaRPr lang="en-US" sz="1300" dirty="0"/>
          </a:p>
          <a:p>
            <a:pPr indent="0" marL="0">
              <a:buNone/>
            </a:pPr>
            <a:r>
              <a:rPr lang="en-US" sz="1050" dirty="0">
                <a:solidFill>
                  <a:srgbClr val="5B6B85"/>
                </a:solidFill>
                <a:latin typeface="Calibri" pitchFamily="34" charset="0"/>
                <a:ea typeface="Calibri" pitchFamily="34" charset="-122"/>
                <a:cs typeface="Calibri" pitchFamily="34" charset="-120"/>
              </a:rPr>
              <a:t>Planned features and improvements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9FF"/>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E6FD9"/>
          </a:solidFill>
          <a:ln w="12700">
            <a:solidFill>
              <a:srgbClr val="1E6FD9"/>
            </a:solidFill>
            <a:prstDash val="solid"/>
          </a:ln>
        </p:spPr>
      </p:sp>
      <p:sp>
        <p:nvSpPr>
          <p:cNvPr id="3" name="Text 1"/>
          <p:cNvSpPr txBox="1"/>
          <p:nvPr/>
        </p:nvSpPr>
        <p:spPr>
          <a:xfrm>
            <a:off x="548640" y="91440"/>
            <a:ext cx="7680960" cy="228600"/>
          </a:xfrm>
          <a:prstGeom prst="rect">
            <a:avLst/>
          </a:prstGeom>
          <a:noFill/>
          <a:ln/>
        </p:spPr>
        <p:txBody>
          <a:bodyPr wrap="square" lIns="0" tIns="0" rIns="0" bIns="0" rtlCol="0" anchor="ctr"/>
          <a:lstStyle/>
          <a:p>
            <a:pPr indent="0" marL="0">
              <a:buNone/>
            </a:pPr>
            <a:r>
              <a:rPr lang="en-US" sz="900" b="1" spc="200" kern="0" dirty="0">
                <a:solidFill>
                  <a:srgbClr val="1E6FD9"/>
                </a:solidFill>
                <a:latin typeface="Calibri" pitchFamily="34" charset="0"/>
                <a:ea typeface="Calibri" pitchFamily="34" charset="-122"/>
                <a:cs typeface="Calibri" pitchFamily="34" charset="-120"/>
              </a:rPr>
              <a:t>INTRODUCTION</a:t>
            </a:r>
            <a:endParaRPr lang="en-US" sz="900" dirty="0"/>
          </a:p>
        </p:txBody>
      </p:sp>
      <p:sp>
        <p:nvSpPr>
          <p:cNvPr id="4" name="Text 2"/>
          <p:cNvSpPr txBox="1"/>
          <p:nvPr/>
        </p:nvSpPr>
        <p:spPr>
          <a:xfrm>
            <a:off x="548640" y="320040"/>
            <a:ext cx="8229600" cy="640080"/>
          </a:xfrm>
          <a:prstGeom prst="rect">
            <a:avLst/>
          </a:prstGeom>
          <a:noFill/>
          <a:ln/>
        </p:spPr>
        <p:txBody>
          <a:bodyPr wrap="square" lIns="0" tIns="0" rIns="0" bIns="0" rtlCol="0" anchor="ctr"/>
          <a:lstStyle/>
          <a:p>
            <a:pPr indent="0" marL="0">
              <a:buNone/>
            </a:pPr>
            <a:r>
              <a:rPr lang="en-US" sz="3000" b="1" dirty="0">
                <a:solidFill>
                  <a:srgbClr val="0B2A5B"/>
                </a:solidFill>
                <a:latin typeface="Cambria" pitchFamily="34" charset="0"/>
                <a:ea typeface="Cambria" pitchFamily="34" charset="-122"/>
                <a:cs typeface="Cambria" pitchFamily="34" charset="-120"/>
              </a:rPr>
              <a:t>Introduction</a:t>
            </a:r>
            <a:endParaRPr lang="en-US" sz="3000" dirty="0"/>
          </a:p>
        </p:txBody>
      </p:sp>
      <p:sp>
        <p:nvSpPr>
          <p:cNvPr id="5" name="Shape 3"/>
          <p:cNvSpPr/>
          <p:nvPr/>
        </p:nvSpPr>
        <p:spPr>
          <a:xfrm>
            <a:off x="548640" y="1188720"/>
            <a:ext cx="5669280" cy="1600200"/>
          </a:xfrm>
          <a:prstGeom prst="roundRect">
            <a:avLst>
              <a:gd name="adj" fmla="val 8571"/>
            </a:avLst>
          </a:prstGeom>
          <a:solidFill>
            <a:srgbClr val="1E6FD9"/>
          </a:solidFill>
          <a:ln w="12700">
            <a:solidFill>
              <a:srgbClr val="1E6FD9"/>
            </a:solidFill>
            <a:prstDash val="solid"/>
          </a:ln>
        </p:spPr>
      </p:sp>
      <p:sp>
        <p:nvSpPr>
          <p:cNvPr id="6" name="Text 4"/>
          <p:cNvSpPr txBox="1"/>
          <p:nvPr/>
        </p:nvSpPr>
        <p:spPr>
          <a:xfrm>
            <a:off x="777240" y="1188720"/>
            <a:ext cx="5212080" cy="1600200"/>
          </a:xfrm>
          <a:prstGeom prst="rect">
            <a:avLst/>
          </a:prstGeom>
          <a:noFill/>
          <a:ln/>
        </p:spPr>
        <p:txBody>
          <a:bodyPr wrap="square" lIns="0" tIns="0" rIns="0" bIns="0" rtlCol="0" anchor="ctr"/>
          <a:lstStyle/>
          <a:p>
            <a:pPr indent="0" marL="0">
              <a:buNone/>
            </a:pPr>
            <a:r>
              <a:rPr lang="en-US" sz="1500" dirty="0">
                <a:solidFill>
                  <a:srgbClr val="FFFFFF"/>
                </a:solidFill>
                <a:latin typeface="Cambria" pitchFamily="34" charset="0"/>
                <a:ea typeface="Cambria" pitchFamily="34" charset="-122"/>
                <a:cs typeface="Cambria" pitchFamily="34" charset="-120"/>
              </a:rPr>
              <a:t>Campus Lost &amp; Found is a native Android application, written in Java and connected to Firebase. It helps students at Durban University of Technology report lost items, find items that others have handed in, and get them back to their owners.</a:t>
            </a:r>
            <a:endParaRPr lang="en-US" sz="1500" dirty="0"/>
          </a:p>
        </p:txBody>
      </p:sp>
      <p:sp>
        <p:nvSpPr>
          <p:cNvPr id="7" name="Text 5"/>
          <p:cNvSpPr txBox="1"/>
          <p:nvPr/>
        </p:nvSpPr>
        <p:spPr>
          <a:xfrm>
            <a:off x="548640" y="2971800"/>
            <a:ext cx="3657600" cy="274320"/>
          </a:xfrm>
          <a:prstGeom prst="rect">
            <a:avLst/>
          </a:prstGeom>
          <a:noFill/>
          <a:ln/>
        </p:spPr>
        <p:txBody>
          <a:bodyPr wrap="square" lIns="0" tIns="0" rIns="0" bIns="0" rtlCol="0" anchor="ctr"/>
          <a:lstStyle/>
          <a:p>
            <a:pPr indent="0" marL="0">
              <a:buNone/>
            </a:pPr>
            <a:r>
              <a:rPr lang="en-US" sz="1300" b="1" dirty="0">
                <a:solidFill>
                  <a:srgbClr val="0B2A5B"/>
                </a:solidFill>
                <a:latin typeface="Calibri" pitchFamily="34" charset="0"/>
                <a:ea typeface="Calibri" pitchFamily="34" charset="-122"/>
                <a:cs typeface="Calibri" pitchFamily="34" charset="-120"/>
              </a:rPr>
              <a:t>In this presentation</a:t>
            </a:r>
            <a:endParaRPr lang="en-US" sz="1300" dirty="0"/>
          </a:p>
        </p:txBody>
      </p:sp>
      <p:sp>
        <p:nvSpPr>
          <p:cNvPr id="8" name="Shape 6"/>
          <p:cNvSpPr/>
          <p:nvPr/>
        </p:nvSpPr>
        <p:spPr>
          <a:xfrm>
            <a:off x="548640" y="3291840"/>
            <a:ext cx="310896" cy="310896"/>
          </a:xfrm>
          <a:prstGeom prst="ellipse">
            <a:avLst/>
          </a:prstGeom>
          <a:solidFill>
            <a:srgbClr val="1E6FD9"/>
          </a:solidFill>
          <a:ln w="12700">
            <a:solidFill>
              <a:srgbClr val="1E6FD9"/>
            </a:solidFill>
            <a:prstDash val="solid"/>
          </a:ln>
        </p:spPr>
      </p:sp>
      <p:pic>
        <p:nvPicPr>
          <p:cNvPr id="9" name="Image 0" descr="preencoded.png">    </p:cNvPr>
          <p:cNvPicPr>
            <a:picLocks noChangeAspect="1"/>
          </p:cNvPicPr>
          <p:nvPr/>
        </p:nvPicPr>
        <p:blipFill>
          <a:blip r:embed="rId1"/>
          <a:stretch>
            <a:fillRect/>
          </a:stretch>
        </p:blipFill>
        <p:spPr>
          <a:xfrm>
            <a:off x="626364" y="3369564"/>
            <a:ext cx="155448" cy="155448"/>
          </a:xfrm>
          <a:prstGeom prst="rect">
            <a:avLst/>
          </a:prstGeom>
        </p:spPr>
      </p:pic>
      <p:sp>
        <p:nvSpPr>
          <p:cNvPr id="10" name="Text 7"/>
          <p:cNvSpPr txBox="1"/>
          <p:nvPr/>
        </p:nvSpPr>
        <p:spPr>
          <a:xfrm>
            <a:off x="1005840" y="3291840"/>
            <a:ext cx="5029200" cy="310896"/>
          </a:xfrm>
          <a:prstGeom prst="rect">
            <a:avLst/>
          </a:prstGeom>
          <a:noFill/>
          <a:ln/>
        </p:spPr>
        <p:txBody>
          <a:bodyPr wrap="square" lIns="0" tIns="0" rIns="0" bIns="0" rtlCol="0" anchor="ctr"/>
          <a:lstStyle/>
          <a:p>
            <a:pPr indent="0" marL="0">
              <a:buNone/>
            </a:pPr>
            <a:r>
              <a:rPr lang="en-US" sz="1300" dirty="0">
                <a:solidFill>
                  <a:srgbClr val="14213D"/>
                </a:solidFill>
                <a:latin typeface="Calibri" pitchFamily="34" charset="0"/>
                <a:ea typeface="Calibri" pitchFamily="34" charset="-122"/>
                <a:cs typeface="Calibri" pitchFamily="34" charset="-120"/>
              </a:rPr>
              <a:t>The problem it sets out to solve</a:t>
            </a:r>
            <a:endParaRPr lang="en-US" sz="1300" dirty="0"/>
          </a:p>
        </p:txBody>
      </p:sp>
      <p:sp>
        <p:nvSpPr>
          <p:cNvPr id="11" name="Shape 8"/>
          <p:cNvSpPr/>
          <p:nvPr/>
        </p:nvSpPr>
        <p:spPr>
          <a:xfrm>
            <a:off x="548640" y="3675888"/>
            <a:ext cx="310896" cy="310896"/>
          </a:xfrm>
          <a:prstGeom prst="ellipse">
            <a:avLst/>
          </a:prstGeom>
          <a:solidFill>
            <a:srgbClr val="3B9CF0"/>
          </a:solidFill>
          <a:ln w="12700">
            <a:solidFill>
              <a:srgbClr val="3B9CF0"/>
            </a:solidFill>
            <a:prstDash val="solid"/>
          </a:ln>
        </p:spPr>
      </p:sp>
      <p:pic>
        <p:nvPicPr>
          <p:cNvPr id="12" name="Image 1" descr="preencoded.png">    </p:cNvPr>
          <p:cNvPicPr>
            <a:picLocks noChangeAspect="1"/>
          </p:cNvPicPr>
          <p:nvPr/>
        </p:nvPicPr>
        <p:blipFill>
          <a:blip r:embed="rId2"/>
          <a:stretch>
            <a:fillRect/>
          </a:stretch>
        </p:blipFill>
        <p:spPr>
          <a:xfrm>
            <a:off x="626364" y="3753612"/>
            <a:ext cx="155448" cy="155448"/>
          </a:xfrm>
          <a:prstGeom prst="rect">
            <a:avLst/>
          </a:prstGeom>
        </p:spPr>
      </p:pic>
      <p:sp>
        <p:nvSpPr>
          <p:cNvPr id="13" name="Text 9"/>
          <p:cNvSpPr txBox="1"/>
          <p:nvPr/>
        </p:nvSpPr>
        <p:spPr>
          <a:xfrm>
            <a:off x="1005840" y="3675888"/>
            <a:ext cx="5029200" cy="310896"/>
          </a:xfrm>
          <a:prstGeom prst="rect">
            <a:avLst/>
          </a:prstGeom>
          <a:noFill/>
          <a:ln/>
        </p:spPr>
        <p:txBody>
          <a:bodyPr wrap="square" lIns="0" tIns="0" rIns="0" bIns="0" rtlCol="0" anchor="ctr"/>
          <a:lstStyle/>
          <a:p>
            <a:pPr indent="0" marL="0">
              <a:buNone/>
            </a:pPr>
            <a:r>
              <a:rPr lang="en-US" sz="1300" dirty="0">
                <a:solidFill>
                  <a:srgbClr val="14213D"/>
                </a:solidFill>
                <a:latin typeface="Calibri" pitchFamily="34" charset="0"/>
                <a:ea typeface="Calibri" pitchFamily="34" charset="-122"/>
                <a:cs typeface="Calibri" pitchFamily="34" charset="-120"/>
              </a:rPr>
              <a:t>How the app is built</a:t>
            </a:r>
            <a:endParaRPr lang="en-US" sz="1300" dirty="0"/>
          </a:p>
        </p:txBody>
      </p:sp>
      <p:sp>
        <p:nvSpPr>
          <p:cNvPr id="14" name="Shape 10"/>
          <p:cNvSpPr/>
          <p:nvPr/>
        </p:nvSpPr>
        <p:spPr>
          <a:xfrm>
            <a:off x="548640" y="4059936"/>
            <a:ext cx="310896" cy="310896"/>
          </a:xfrm>
          <a:prstGeom prst="ellipse">
            <a:avLst/>
          </a:prstGeom>
          <a:solidFill>
            <a:srgbClr val="1E6FD9"/>
          </a:solidFill>
          <a:ln w="12700">
            <a:solidFill>
              <a:srgbClr val="1E6FD9"/>
            </a:solidFill>
            <a:prstDash val="solid"/>
          </a:ln>
        </p:spPr>
      </p:sp>
      <p:pic>
        <p:nvPicPr>
          <p:cNvPr id="15" name="Image 2" descr="preencoded.png">    </p:cNvPr>
          <p:cNvPicPr>
            <a:picLocks noChangeAspect="1"/>
          </p:cNvPicPr>
          <p:nvPr/>
        </p:nvPicPr>
        <p:blipFill>
          <a:blip r:embed="rId3"/>
          <a:stretch>
            <a:fillRect/>
          </a:stretch>
        </p:blipFill>
        <p:spPr>
          <a:xfrm>
            <a:off x="626364" y="4137660"/>
            <a:ext cx="155448" cy="155448"/>
          </a:xfrm>
          <a:prstGeom prst="rect">
            <a:avLst/>
          </a:prstGeom>
        </p:spPr>
      </p:pic>
      <p:sp>
        <p:nvSpPr>
          <p:cNvPr id="16" name="Text 11"/>
          <p:cNvSpPr txBox="1"/>
          <p:nvPr/>
        </p:nvSpPr>
        <p:spPr>
          <a:xfrm>
            <a:off x="1005840" y="4059936"/>
            <a:ext cx="5029200" cy="310896"/>
          </a:xfrm>
          <a:prstGeom prst="rect">
            <a:avLst/>
          </a:prstGeom>
          <a:noFill/>
          <a:ln/>
        </p:spPr>
        <p:txBody>
          <a:bodyPr wrap="square" lIns="0" tIns="0" rIns="0" bIns="0" rtlCol="0" anchor="ctr"/>
          <a:lstStyle/>
          <a:p>
            <a:pPr indent="0" marL="0">
              <a:buNone/>
            </a:pPr>
            <a:r>
              <a:rPr lang="en-US" sz="1300" dirty="0">
                <a:solidFill>
                  <a:srgbClr val="14213D"/>
                </a:solidFill>
                <a:latin typeface="Calibri" pitchFamily="34" charset="0"/>
                <a:ea typeface="Calibri" pitchFamily="34" charset="-122"/>
                <a:cs typeface="Calibri" pitchFamily="34" charset="-120"/>
              </a:rPr>
              <a:t>How its main features were implemented</a:t>
            </a:r>
            <a:endParaRPr lang="en-US" sz="1300" dirty="0"/>
          </a:p>
        </p:txBody>
      </p:sp>
      <p:sp>
        <p:nvSpPr>
          <p:cNvPr id="17" name="Shape 12"/>
          <p:cNvSpPr/>
          <p:nvPr/>
        </p:nvSpPr>
        <p:spPr>
          <a:xfrm>
            <a:off x="548640" y="4443984"/>
            <a:ext cx="310896" cy="310896"/>
          </a:xfrm>
          <a:prstGeom prst="ellipse">
            <a:avLst/>
          </a:prstGeom>
          <a:solidFill>
            <a:srgbClr val="3B9CF0"/>
          </a:solidFill>
          <a:ln w="12700">
            <a:solidFill>
              <a:srgbClr val="3B9CF0"/>
            </a:solidFill>
            <a:prstDash val="solid"/>
          </a:ln>
        </p:spPr>
      </p:sp>
      <p:pic>
        <p:nvPicPr>
          <p:cNvPr id="18" name="Image 3" descr="preencoded.png">    </p:cNvPr>
          <p:cNvPicPr>
            <a:picLocks noChangeAspect="1"/>
          </p:cNvPicPr>
          <p:nvPr/>
        </p:nvPicPr>
        <p:blipFill>
          <a:blip r:embed="rId4"/>
          <a:stretch>
            <a:fillRect/>
          </a:stretch>
        </p:blipFill>
        <p:spPr>
          <a:xfrm>
            <a:off x="626364" y="4521708"/>
            <a:ext cx="155448" cy="155448"/>
          </a:xfrm>
          <a:prstGeom prst="rect">
            <a:avLst/>
          </a:prstGeom>
        </p:spPr>
      </p:pic>
      <p:sp>
        <p:nvSpPr>
          <p:cNvPr id="19" name="Text 13"/>
          <p:cNvSpPr txBox="1"/>
          <p:nvPr/>
        </p:nvSpPr>
        <p:spPr>
          <a:xfrm>
            <a:off x="1005840" y="4443984"/>
            <a:ext cx="5029200" cy="310896"/>
          </a:xfrm>
          <a:prstGeom prst="rect">
            <a:avLst/>
          </a:prstGeom>
          <a:noFill/>
          <a:ln/>
        </p:spPr>
        <p:txBody>
          <a:bodyPr wrap="square" lIns="0" tIns="0" rIns="0" bIns="0" rtlCol="0" anchor="ctr"/>
          <a:lstStyle/>
          <a:p>
            <a:pPr indent="0" marL="0">
              <a:buNone/>
            </a:pPr>
            <a:r>
              <a:rPr lang="en-US" sz="1300" dirty="0">
                <a:solidFill>
                  <a:srgbClr val="14213D"/>
                </a:solidFill>
                <a:latin typeface="Calibri" pitchFamily="34" charset="0"/>
                <a:ea typeface="Calibri" pitchFamily="34" charset="-122"/>
                <a:cs typeface="Calibri" pitchFamily="34" charset="-120"/>
              </a:rPr>
              <a:t>Where it can go next</a:t>
            </a:r>
            <a:endParaRPr lang="en-US" sz="1300" dirty="0"/>
          </a:p>
        </p:txBody>
      </p:sp>
      <p:pic>
        <p:nvPicPr>
          <p:cNvPr id="20" name="Image 4" descr="pb_home.png">    </p:cNvPr>
          <p:cNvPicPr>
            <a:picLocks noChangeAspect="1"/>
          </p:cNvPicPr>
          <p:nvPr/>
        </p:nvPicPr>
        <p:blipFill>
          <a:blip r:embed="rId5"/>
          <a:stretch>
            <a:fillRect/>
          </a:stretch>
        </p:blipFill>
        <p:spPr>
          <a:xfrm>
            <a:off x="6675120" y="457200"/>
            <a:ext cx="2068643" cy="4206240"/>
          </a:xfrm>
          <a:prstGeom prst="rect">
            <a:avLst/>
          </a:prstGeom>
          <a:effectLst>
            <a:outerShdw sx="100000" sy="100000" kx="0" ky="0" algn="bl" rotWithShape="0" blurRad="152400" dist="50800" dir="5400000">
              <a:srgbClr val="000000">
                <a:alpha val="25000"/>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9FF"/>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E6FD9"/>
          </a:solidFill>
          <a:ln w="12700">
            <a:solidFill>
              <a:srgbClr val="1E6FD9"/>
            </a:solidFill>
            <a:prstDash val="solid"/>
          </a:ln>
        </p:spPr>
      </p:sp>
      <p:sp>
        <p:nvSpPr>
          <p:cNvPr id="3" name="Text 1"/>
          <p:cNvSpPr txBox="1"/>
          <p:nvPr/>
        </p:nvSpPr>
        <p:spPr>
          <a:xfrm>
            <a:off x="548640" y="91440"/>
            <a:ext cx="7680960" cy="228600"/>
          </a:xfrm>
          <a:prstGeom prst="rect">
            <a:avLst/>
          </a:prstGeom>
          <a:noFill/>
          <a:ln/>
        </p:spPr>
        <p:txBody>
          <a:bodyPr wrap="square" lIns="0" tIns="0" rIns="0" bIns="0" rtlCol="0" anchor="ctr"/>
          <a:lstStyle/>
          <a:p>
            <a:pPr indent="0" marL="0">
              <a:buNone/>
            </a:pPr>
            <a:r>
              <a:rPr lang="en-US" sz="900" b="1" spc="200" kern="0" dirty="0">
                <a:solidFill>
                  <a:srgbClr val="1E6FD9"/>
                </a:solidFill>
                <a:latin typeface="Calibri" pitchFamily="34" charset="0"/>
                <a:ea typeface="Calibri" pitchFamily="34" charset="-122"/>
                <a:cs typeface="Calibri" pitchFamily="34" charset="-120"/>
              </a:rPr>
              <a:t>PROBLEM STATEMENT</a:t>
            </a:r>
            <a:endParaRPr lang="en-US" sz="900" dirty="0"/>
          </a:p>
        </p:txBody>
      </p:sp>
      <p:sp>
        <p:nvSpPr>
          <p:cNvPr id="4" name="Text 2"/>
          <p:cNvSpPr txBox="1"/>
          <p:nvPr/>
        </p:nvSpPr>
        <p:spPr>
          <a:xfrm>
            <a:off x="548640" y="320040"/>
            <a:ext cx="8229600" cy="640080"/>
          </a:xfrm>
          <a:prstGeom prst="rect">
            <a:avLst/>
          </a:prstGeom>
          <a:noFill/>
          <a:ln/>
        </p:spPr>
        <p:txBody>
          <a:bodyPr wrap="square" lIns="0" tIns="0" rIns="0" bIns="0" rtlCol="0" anchor="ctr"/>
          <a:lstStyle/>
          <a:p>
            <a:pPr indent="0" marL="0">
              <a:buNone/>
            </a:pPr>
            <a:r>
              <a:rPr lang="en-US" sz="3000" b="1" dirty="0">
                <a:solidFill>
                  <a:srgbClr val="0B2A5B"/>
                </a:solidFill>
                <a:latin typeface="Cambria" pitchFamily="34" charset="0"/>
                <a:ea typeface="Cambria" pitchFamily="34" charset="-122"/>
                <a:cs typeface="Cambria" pitchFamily="34" charset="-120"/>
              </a:rPr>
              <a:t>Problem Statement</a:t>
            </a:r>
            <a:endParaRPr lang="en-US" sz="3000" dirty="0"/>
          </a:p>
        </p:txBody>
      </p:sp>
      <p:sp>
        <p:nvSpPr>
          <p:cNvPr id="5" name="Shape 3"/>
          <p:cNvSpPr/>
          <p:nvPr/>
        </p:nvSpPr>
        <p:spPr>
          <a:xfrm>
            <a:off x="548640" y="1143000"/>
            <a:ext cx="8046720" cy="1188720"/>
          </a:xfrm>
          <a:prstGeom prst="roundRect">
            <a:avLst>
              <a:gd name="adj" fmla="val 11538"/>
            </a:avLst>
          </a:prstGeom>
          <a:solidFill>
            <a:srgbClr val="0B2A5B"/>
          </a:solidFill>
          <a:ln w="12700">
            <a:solidFill>
              <a:srgbClr val="0B2A5B"/>
            </a:solidFill>
            <a:prstDash val="solid"/>
          </a:ln>
        </p:spPr>
      </p:sp>
      <p:sp>
        <p:nvSpPr>
          <p:cNvPr id="6" name="Shape 4"/>
          <p:cNvSpPr/>
          <p:nvPr/>
        </p:nvSpPr>
        <p:spPr>
          <a:xfrm>
            <a:off x="777240" y="1417320"/>
            <a:ext cx="640080" cy="640080"/>
          </a:xfrm>
          <a:prstGeom prst="ellipse">
            <a:avLst/>
          </a:prstGeom>
          <a:solidFill>
            <a:srgbClr val="FFFFFF"/>
          </a:solidFill>
          <a:ln w="12700">
            <a:solidFill>
              <a:srgbClr val="FFFFFF"/>
            </a:solidFill>
            <a:prstDash val="solid"/>
          </a:ln>
        </p:spPr>
      </p:sp>
      <p:pic>
        <p:nvPicPr>
          <p:cNvPr id="7" name="Image 0" descr="preencoded.png">    </p:cNvPr>
          <p:cNvPicPr>
            <a:picLocks noChangeAspect="1"/>
          </p:cNvPicPr>
          <p:nvPr/>
        </p:nvPicPr>
        <p:blipFill>
          <a:blip r:embed="rId1"/>
          <a:stretch>
            <a:fillRect/>
          </a:stretch>
        </p:blipFill>
        <p:spPr>
          <a:xfrm>
            <a:off x="937260" y="1577340"/>
            <a:ext cx="320040" cy="320040"/>
          </a:xfrm>
          <a:prstGeom prst="rect">
            <a:avLst/>
          </a:prstGeom>
        </p:spPr>
      </p:pic>
      <p:sp>
        <p:nvSpPr>
          <p:cNvPr id="8" name="Text 5"/>
          <p:cNvSpPr txBox="1"/>
          <p:nvPr/>
        </p:nvSpPr>
        <p:spPr>
          <a:xfrm>
            <a:off x="1645920" y="1143000"/>
            <a:ext cx="6766560" cy="1188720"/>
          </a:xfrm>
          <a:prstGeom prst="rect">
            <a:avLst/>
          </a:prstGeom>
          <a:noFill/>
          <a:ln/>
        </p:spPr>
        <p:txBody>
          <a:bodyPr wrap="square" lIns="0" tIns="0" rIns="0" bIns="0" rtlCol="0" anchor="ctr"/>
          <a:lstStyle/>
          <a:p>
            <a:pPr indent="0" marL="0">
              <a:buNone/>
            </a:pPr>
            <a:r>
              <a:rPr lang="en-US" sz="1500" dirty="0">
                <a:solidFill>
                  <a:srgbClr val="FFFFFF"/>
                </a:solidFill>
                <a:latin typeface="Cambria" pitchFamily="34" charset="0"/>
                <a:ea typeface="Cambria" pitchFamily="34" charset="-122"/>
                <a:cs typeface="Cambria" pitchFamily="34" charset="-120"/>
              </a:rPr>
              <a:t>There is no central, searchable and moderated system through which students can report lost or found items, and no way of deciding which reports are most urgent.</a:t>
            </a:r>
            <a:endParaRPr lang="en-US" sz="1500" dirty="0"/>
          </a:p>
        </p:txBody>
      </p:sp>
      <p:sp>
        <p:nvSpPr>
          <p:cNvPr id="9" name="Shape 6"/>
          <p:cNvSpPr/>
          <p:nvPr/>
        </p:nvSpPr>
        <p:spPr>
          <a:xfrm>
            <a:off x="548640" y="2560320"/>
            <a:ext cx="3931920" cy="2148840"/>
          </a:xfrm>
          <a:prstGeom prst="roundRect">
            <a:avLst>
              <a:gd name="adj" fmla="val 5106"/>
            </a:avLst>
          </a:prstGeom>
          <a:solidFill>
            <a:srgbClr val="FFFFFF"/>
          </a:solidFill>
          <a:ln w="12700">
            <a:solidFill>
              <a:srgbClr val="D6E4F7"/>
            </a:solidFill>
            <a:prstDash val="solid"/>
          </a:ln>
        </p:spPr>
      </p:sp>
      <p:pic>
        <p:nvPicPr>
          <p:cNvPr id="10" name="Image 1" descr="ib_laptop.png">    </p:cNvPr>
          <p:cNvPicPr>
            <a:picLocks noChangeAspect="1"/>
          </p:cNvPicPr>
          <p:nvPr/>
        </p:nvPicPr>
        <p:blipFill>
          <a:blip r:embed="rId2"/>
          <a:stretch>
            <a:fillRect/>
          </a:stretch>
        </p:blipFill>
        <p:spPr>
          <a:xfrm>
            <a:off x="731520" y="2697480"/>
            <a:ext cx="731520" cy="731520"/>
          </a:xfrm>
          <a:prstGeom prst="rect">
            <a:avLst/>
          </a:prstGeom>
        </p:spPr>
      </p:pic>
      <p:pic>
        <p:nvPicPr>
          <p:cNvPr id="11" name="Image 2" descr="ib_card.png">    </p:cNvPr>
          <p:cNvPicPr>
            <a:picLocks noChangeAspect="1"/>
          </p:cNvPicPr>
          <p:nvPr/>
        </p:nvPicPr>
        <p:blipFill>
          <a:blip r:embed="rId3"/>
          <a:stretch>
            <a:fillRect/>
          </a:stretch>
        </p:blipFill>
        <p:spPr>
          <a:xfrm>
            <a:off x="1463040" y="2697480"/>
            <a:ext cx="731520" cy="731520"/>
          </a:xfrm>
          <a:prstGeom prst="rect">
            <a:avLst/>
          </a:prstGeom>
        </p:spPr>
      </p:pic>
      <p:sp>
        <p:nvSpPr>
          <p:cNvPr id="12" name="Text 7"/>
          <p:cNvSpPr txBox="1"/>
          <p:nvPr/>
        </p:nvSpPr>
        <p:spPr>
          <a:xfrm>
            <a:off x="731520" y="3474720"/>
            <a:ext cx="3566160" cy="320040"/>
          </a:xfrm>
          <a:prstGeom prst="rect">
            <a:avLst/>
          </a:prstGeom>
          <a:noFill/>
          <a:ln/>
        </p:spPr>
        <p:txBody>
          <a:bodyPr wrap="square" lIns="0" tIns="0" rIns="0" bIns="0" rtlCol="0" anchor="ctr"/>
          <a:lstStyle/>
          <a:p>
            <a:pPr indent="0" marL="0">
              <a:buNone/>
            </a:pPr>
            <a:r>
              <a:rPr lang="en-US" sz="1400" b="1" dirty="0">
                <a:solidFill>
                  <a:srgbClr val="0B2A5B"/>
                </a:solidFill>
                <a:latin typeface="Cambria" pitchFamily="34" charset="0"/>
                <a:ea typeface="Cambria" pitchFamily="34" charset="-122"/>
                <a:cs typeface="Cambria" pitchFamily="34" charset="-120"/>
              </a:rPr>
              <a:t>Not every item is equally urgent</a:t>
            </a:r>
            <a:endParaRPr lang="en-US" sz="1400" dirty="0"/>
          </a:p>
        </p:txBody>
      </p:sp>
      <p:sp>
        <p:nvSpPr>
          <p:cNvPr id="13" name="Text 8"/>
          <p:cNvSpPr txBox="1"/>
          <p:nvPr/>
        </p:nvSpPr>
        <p:spPr>
          <a:xfrm>
            <a:off x="731520" y="3794760"/>
            <a:ext cx="3566160" cy="868680"/>
          </a:xfrm>
          <a:prstGeom prst="rect">
            <a:avLst/>
          </a:prstGeom>
          <a:noFill/>
          <a:ln/>
        </p:spPr>
        <p:txBody>
          <a:bodyPr wrap="square" lIns="0" tIns="0" rIns="0" bIns="0" rtlCol="0" anchor="t"/>
          <a:lstStyle/>
          <a:p>
            <a:pPr indent="0" marL="0">
              <a:buNone/>
            </a:pPr>
            <a:r>
              <a:rPr lang="en-US" sz="1150" dirty="0">
                <a:solidFill>
                  <a:srgbClr val="14213D"/>
                </a:solidFill>
                <a:latin typeface="Calibri" pitchFamily="34" charset="0"/>
                <a:ea typeface="Calibri" pitchFamily="34" charset="-122"/>
                <a:cs typeface="Calibri" pitchFamily="34" charset="-120"/>
              </a:rPr>
              <a:t>A lost water bottle is an inconvenience, but a lost laptop or student card can stop a student from studying or even entering campus.</a:t>
            </a:r>
            <a:endParaRPr lang="en-US" sz="1150" dirty="0"/>
          </a:p>
        </p:txBody>
      </p:sp>
      <p:sp>
        <p:nvSpPr>
          <p:cNvPr id="14" name="Shape 9"/>
          <p:cNvSpPr/>
          <p:nvPr/>
        </p:nvSpPr>
        <p:spPr>
          <a:xfrm>
            <a:off x="4663440" y="2560320"/>
            <a:ext cx="3931920" cy="2148840"/>
          </a:xfrm>
          <a:prstGeom prst="roundRect">
            <a:avLst>
              <a:gd name="adj" fmla="val 5106"/>
            </a:avLst>
          </a:prstGeom>
          <a:solidFill>
            <a:srgbClr val="FFFFFF"/>
          </a:solidFill>
          <a:ln w="12700">
            <a:solidFill>
              <a:srgbClr val="D6E4F7"/>
            </a:solidFill>
            <a:prstDash val="solid"/>
          </a:ln>
        </p:spPr>
      </p:sp>
      <p:sp>
        <p:nvSpPr>
          <p:cNvPr id="15" name="Shape 10"/>
          <p:cNvSpPr/>
          <p:nvPr/>
        </p:nvSpPr>
        <p:spPr>
          <a:xfrm>
            <a:off x="4846320" y="2788920"/>
            <a:ext cx="548640" cy="548640"/>
          </a:xfrm>
          <a:prstGeom prst="ellipse">
            <a:avLst/>
          </a:prstGeom>
          <a:solidFill>
            <a:srgbClr val="1E6FD9"/>
          </a:solidFill>
          <a:ln w="12700">
            <a:solidFill>
              <a:srgbClr val="1E6FD9"/>
            </a:solidFill>
            <a:prstDash val="solid"/>
          </a:ln>
        </p:spPr>
      </p:sp>
      <p:pic>
        <p:nvPicPr>
          <p:cNvPr id="16" name="Image 3" descr="preencoded.png">    </p:cNvPr>
          <p:cNvPicPr>
            <a:picLocks noChangeAspect="1"/>
          </p:cNvPicPr>
          <p:nvPr/>
        </p:nvPicPr>
        <p:blipFill>
          <a:blip r:embed="rId4"/>
          <a:stretch>
            <a:fillRect/>
          </a:stretch>
        </p:blipFill>
        <p:spPr>
          <a:xfrm>
            <a:off x="4983480" y="2926080"/>
            <a:ext cx="274320" cy="274320"/>
          </a:xfrm>
          <a:prstGeom prst="rect">
            <a:avLst/>
          </a:prstGeom>
        </p:spPr>
      </p:pic>
      <p:sp>
        <p:nvSpPr>
          <p:cNvPr id="17" name="Text 11"/>
          <p:cNvSpPr txBox="1"/>
          <p:nvPr/>
        </p:nvSpPr>
        <p:spPr>
          <a:xfrm>
            <a:off x="4846320" y="3474720"/>
            <a:ext cx="3566160" cy="320040"/>
          </a:xfrm>
          <a:prstGeom prst="rect">
            <a:avLst/>
          </a:prstGeom>
          <a:noFill/>
          <a:ln/>
        </p:spPr>
        <p:txBody>
          <a:bodyPr wrap="square" lIns="0" tIns="0" rIns="0" bIns="0" rtlCol="0" anchor="ctr"/>
          <a:lstStyle/>
          <a:p>
            <a:pPr indent="0" marL="0">
              <a:buNone/>
            </a:pPr>
            <a:r>
              <a:rPr lang="en-US" sz="1400" b="1" dirty="0">
                <a:solidFill>
                  <a:srgbClr val="0B2A5B"/>
                </a:solidFill>
                <a:latin typeface="Cambria" pitchFamily="34" charset="0"/>
                <a:ea typeface="Cambria" pitchFamily="34" charset="-122"/>
                <a:cs typeface="Cambria" pitchFamily="34" charset="-120"/>
              </a:rPr>
              <a:t>Reports need to be checked</a:t>
            </a:r>
            <a:endParaRPr lang="en-US" sz="1400" dirty="0"/>
          </a:p>
        </p:txBody>
      </p:sp>
      <p:sp>
        <p:nvSpPr>
          <p:cNvPr id="18" name="Text 12"/>
          <p:cNvSpPr txBox="1"/>
          <p:nvPr/>
        </p:nvSpPr>
        <p:spPr>
          <a:xfrm>
            <a:off x="4846320" y="3794760"/>
            <a:ext cx="3566160" cy="868680"/>
          </a:xfrm>
          <a:prstGeom prst="rect">
            <a:avLst/>
          </a:prstGeom>
          <a:noFill/>
          <a:ln/>
        </p:spPr>
        <p:txBody>
          <a:bodyPr wrap="square" lIns="0" tIns="0" rIns="0" bIns="0" rtlCol="0" anchor="t"/>
          <a:lstStyle/>
          <a:p>
            <a:pPr indent="0" marL="0">
              <a:buNone/>
            </a:pPr>
            <a:r>
              <a:rPr lang="en-US" sz="1150" dirty="0">
                <a:solidFill>
                  <a:srgbClr val="14213D"/>
                </a:solidFill>
                <a:latin typeface="Calibri" pitchFamily="34" charset="0"/>
                <a:ea typeface="Calibri" pitchFamily="34" charset="-122"/>
                <a:cs typeface="Calibri" pitchFamily="34" charset="-120"/>
              </a:rPr>
              <a:t>If anyone can post anything, nobody can trust what they see. Staff need a controlled way to verify reports before they are shown to everyone.</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9FF"/>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E6FD9"/>
          </a:solidFill>
          <a:ln w="12700">
            <a:solidFill>
              <a:srgbClr val="1E6FD9"/>
            </a:solidFill>
            <a:prstDash val="solid"/>
          </a:ln>
        </p:spPr>
      </p:sp>
      <p:sp>
        <p:nvSpPr>
          <p:cNvPr id="3" name="Text 1"/>
          <p:cNvSpPr txBox="1"/>
          <p:nvPr/>
        </p:nvSpPr>
        <p:spPr>
          <a:xfrm>
            <a:off x="548640" y="91440"/>
            <a:ext cx="7680960" cy="228600"/>
          </a:xfrm>
          <a:prstGeom prst="rect">
            <a:avLst/>
          </a:prstGeom>
          <a:noFill/>
          <a:ln/>
        </p:spPr>
        <p:txBody>
          <a:bodyPr wrap="square" lIns="0" tIns="0" rIns="0" bIns="0" rtlCol="0" anchor="ctr"/>
          <a:lstStyle/>
          <a:p>
            <a:pPr indent="0" marL="0">
              <a:buNone/>
            </a:pPr>
            <a:r>
              <a:rPr lang="en-US" sz="900" b="1" spc="200" kern="0" dirty="0">
                <a:solidFill>
                  <a:srgbClr val="1E6FD9"/>
                </a:solidFill>
                <a:latin typeface="Calibri" pitchFamily="34" charset="0"/>
                <a:ea typeface="Calibri" pitchFamily="34" charset="-122"/>
                <a:cs typeface="Calibri" pitchFamily="34" charset="-120"/>
              </a:rPr>
              <a:t>PROBLEM STATEMENT  ·  OUR SOLUTION</a:t>
            </a:r>
            <a:endParaRPr lang="en-US" sz="900" dirty="0"/>
          </a:p>
        </p:txBody>
      </p:sp>
      <p:sp>
        <p:nvSpPr>
          <p:cNvPr id="4" name="Text 2"/>
          <p:cNvSpPr txBox="1"/>
          <p:nvPr/>
        </p:nvSpPr>
        <p:spPr>
          <a:xfrm>
            <a:off x="548640" y="320040"/>
            <a:ext cx="8229600" cy="640080"/>
          </a:xfrm>
          <a:prstGeom prst="rect">
            <a:avLst/>
          </a:prstGeom>
          <a:noFill/>
          <a:ln/>
        </p:spPr>
        <p:txBody>
          <a:bodyPr wrap="square" lIns="0" tIns="0" rIns="0" bIns="0" rtlCol="0" anchor="ctr"/>
          <a:lstStyle/>
          <a:p>
            <a:pPr indent="0" marL="0">
              <a:buNone/>
            </a:pPr>
            <a:r>
              <a:rPr lang="en-US" sz="3000" b="1" dirty="0">
                <a:solidFill>
                  <a:srgbClr val="0B2A5B"/>
                </a:solidFill>
                <a:latin typeface="Cambria" pitchFamily="34" charset="0"/>
                <a:ea typeface="Cambria" pitchFamily="34" charset="-122"/>
                <a:cs typeface="Cambria" pitchFamily="34" charset="-120"/>
              </a:rPr>
              <a:t>Our Solution: Four Parts</a:t>
            </a:r>
            <a:endParaRPr lang="en-US" sz="3000" dirty="0"/>
          </a:p>
        </p:txBody>
      </p:sp>
      <p:sp>
        <p:nvSpPr>
          <p:cNvPr id="5" name="Shape 3"/>
          <p:cNvSpPr/>
          <p:nvPr/>
        </p:nvSpPr>
        <p:spPr>
          <a:xfrm>
            <a:off x="548640" y="1371600"/>
            <a:ext cx="1920240" cy="3017520"/>
          </a:xfrm>
          <a:prstGeom prst="roundRect">
            <a:avLst>
              <a:gd name="adj" fmla="val 5714"/>
            </a:avLst>
          </a:prstGeom>
          <a:solidFill>
            <a:srgbClr val="FFFFFF"/>
          </a:solidFill>
          <a:ln w="12700">
            <a:solidFill>
              <a:srgbClr val="D6E4F7"/>
            </a:solidFill>
            <a:prstDash val="solid"/>
          </a:ln>
        </p:spPr>
      </p:sp>
      <p:sp>
        <p:nvSpPr>
          <p:cNvPr id="6" name="Shape 4"/>
          <p:cNvSpPr/>
          <p:nvPr/>
        </p:nvSpPr>
        <p:spPr>
          <a:xfrm>
            <a:off x="1188720" y="1600200"/>
            <a:ext cx="640080" cy="640080"/>
          </a:xfrm>
          <a:prstGeom prst="ellipse">
            <a:avLst/>
          </a:prstGeom>
          <a:solidFill>
            <a:srgbClr val="1E6FD9"/>
          </a:solidFill>
          <a:ln w="12700">
            <a:solidFill>
              <a:srgbClr val="1E6FD9"/>
            </a:solidFill>
            <a:prstDash val="solid"/>
          </a:ln>
        </p:spPr>
      </p:sp>
      <p:pic>
        <p:nvPicPr>
          <p:cNvPr id="7" name="Image 0" descr="preencoded.png">    </p:cNvPr>
          <p:cNvPicPr>
            <a:picLocks noChangeAspect="1"/>
          </p:cNvPicPr>
          <p:nvPr/>
        </p:nvPicPr>
        <p:blipFill>
          <a:blip r:embed="rId1"/>
          <a:stretch>
            <a:fillRect/>
          </a:stretch>
        </p:blipFill>
        <p:spPr>
          <a:xfrm>
            <a:off x="1348740" y="1760220"/>
            <a:ext cx="320040" cy="320040"/>
          </a:xfrm>
          <a:prstGeom prst="rect">
            <a:avLst/>
          </a:prstGeom>
        </p:spPr>
      </p:pic>
      <p:sp>
        <p:nvSpPr>
          <p:cNvPr id="8" name="Text 5"/>
          <p:cNvSpPr txBox="1"/>
          <p:nvPr/>
        </p:nvSpPr>
        <p:spPr>
          <a:xfrm>
            <a:off x="640080" y="1417320"/>
            <a:ext cx="320040" cy="320040"/>
          </a:xfrm>
          <a:prstGeom prst="rect">
            <a:avLst/>
          </a:prstGeom>
          <a:noFill/>
          <a:ln/>
        </p:spPr>
        <p:txBody>
          <a:bodyPr wrap="square" lIns="0" tIns="0" rIns="0" bIns="0" rtlCol="0" anchor="ctr"/>
          <a:lstStyle/>
          <a:p>
            <a:pPr indent="0" marL="0">
              <a:buNone/>
            </a:pPr>
            <a:r>
              <a:rPr lang="en-US" sz="1400" b="1" dirty="0">
                <a:solidFill>
                  <a:srgbClr val="BBD6F7"/>
                </a:solidFill>
                <a:latin typeface="Cambria" pitchFamily="34" charset="0"/>
                <a:ea typeface="Cambria" pitchFamily="34" charset="-122"/>
                <a:cs typeface="Cambria" pitchFamily="34" charset="-120"/>
              </a:rPr>
              <a:t>1</a:t>
            </a:r>
            <a:endParaRPr lang="en-US" sz="1400" dirty="0"/>
          </a:p>
        </p:txBody>
      </p:sp>
      <p:sp>
        <p:nvSpPr>
          <p:cNvPr id="9" name="Text 6"/>
          <p:cNvSpPr txBox="1"/>
          <p:nvPr/>
        </p:nvSpPr>
        <p:spPr>
          <a:xfrm>
            <a:off x="685800" y="2423160"/>
            <a:ext cx="1645920" cy="640080"/>
          </a:xfrm>
          <a:prstGeom prst="rect">
            <a:avLst/>
          </a:prstGeom>
          <a:noFill/>
          <a:ln/>
        </p:spPr>
        <p:txBody>
          <a:bodyPr wrap="square" lIns="0" tIns="0" rIns="0" bIns="0" rtlCol="0" anchor="ctr"/>
          <a:lstStyle/>
          <a:p>
            <a:pPr algn="ctr" indent="0" marL="0">
              <a:buNone/>
            </a:pPr>
            <a:r>
              <a:rPr lang="en-US" sz="1500" b="1" dirty="0">
                <a:solidFill>
                  <a:srgbClr val="0B2A5B"/>
                </a:solidFill>
                <a:latin typeface="Cambria" pitchFamily="34" charset="0"/>
                <a:ea typeface="Cambria" pitchFamily="34" charset="-122"/>
                <a:cs typeface="Cambria" pitchFamily="34" charset="-120"/>
              </a:rPr>
              <a:t>Report</a:t>
            </a:r>
            <a:endParaRPr lang="en-US" sz="1500" dirty="0"/>
          </a:p>
        </p:txBody>
      </p:sp>
      <p:sp>
        <p:nvSpPr>
          <p:cNvPr id="10" name="Text 7"/>
          <p:cNvSpPr txBox="1"/>
          <p:nvPr/>
        </p:nvSpPr>
        <p:spPr>
          <a:xfrm>
            <a:off x="685800" y="3108960"/>
            <a:ext cx="1645920" cy="1188720"/>
          </a:xfrm>
          <a:prstGeom prst="rect">
            <a:avLst/>
          </a:prstGeom>
          <a:noFill/>
          <a:ln/>
        </p:spPr>
        <p:txBody>
          <a:bodyPr wrap="square" lIns="0" tIns="0" rIns="0" bIns="0" rtlCol="0" anchor="t"/>
          <a:lstStyle/>
          <a:p>
            <a:pPr algn="ctr" indent="0" marL="0">
              <a:buNone/>
            </a:pPr>
            <a:r>
              <a:rPr lang="en-US" sz="1200" dirty="0">
                <a:solidFill>
                  <a:srgbClr val="14213D"/>
                </a:solidFill>
                <a:latin typeface="Calibri" pitchFamily="34" charset="0"/>
                <a:ea typeface="Calibri" pitchFamily="34" charset="-122"/>
                <a:cs typeface="Calibri" pitchFamily="34" charset="-120"/>
              </a:rPr>
              <a:t>Students can report lost or found items.</a:t>
            </a:r>
            <a:endParaRPr lang="en-US" sz="1200" dirty="0"/>
          </a:p>
        </p:txBody>
      </p:sp>
      <p:sp>
        <p:nvSpPr>
          <p:cNvPr id="11" name="Shape 8"/>
          <p:cNvSpPr/>
          <p:nvPr/>
        </p:nvSpPr>
        <p:spPr>
          <a:xfrm>
            <a:off x="2633472" y="1371600"/>
            <a:ext cx="1920240" cy="3017520"/>
          </a:xfrm>
          <a:prstGeom prst="roundRect">
            <a:avLst>
              <a:gd name="adj" fmla="val 5714"/>
            </a:avLst>
          </a:prstGeom>
          <a:solidFill>
            <a:srgbClr val="FFFFFF"/>
          </a:solidFill>
          <a:ln w="12700">
            <a:solidFill>
              <a:srgbClr val="D6E4F7"/>
            </a:solidFill>
            <a:prstDash val="solid"/>
          </a:ln>
        </p:spPr>
      </p:sp>
      <p:sp>
        <p:nvSpPr>
          <p:cNvPr id="12" name="Shape 9"/>
          <p:cNvSpPr/>
          <p:nvPr/>
        </p:nvSpPr>
        <p:spPr>
          <a:xfrm>
            <a:off x="3273552" y="1600200"/>
            <a:ext cx="640080" cy="640080"/>
          </a:xfrm>
          <a:prstGeom prst="ellipse">
            <a:avLst/>
          </a:prstGeom>
          <a:solidFill>
            <a:srgbClr val="3B9CF0"/>
          </a:solidFill>
          <a:ln w="12700">
            <a:solidFill>
              <a:srgbClr val="3B9CF0"/>
            </a:solidFill>
            <a:prstDash val="solid"/>
          </a:ln>
        </p:spPr>
      </p:sp>
      <p:pic>
        <p:nvPicPr>
          <p:cNvPr id="13" name="Image 1" descr="preencoded.png">    </p:cNvPr>
          <p:cNvPicPr>
            <a:picLocks noChangeAspect="1"/>
          </p:cNvPicPr>
          <p:nvPr/>
        </p:nvPicPr>
        <p:blipFill>
          <a:blip r:embed="rId2"/>
          <a:stretch>
            <a:fillRect/>
          </a:stretch>
        </p:blipFill>
        <p:spPr>
          <a:xfrm>
            <a:off x="3433572" y="1760220"/>
            <a:ext cx="320040" cy="320040"/>
          </a:xfrm>
          <a:prstGeom prst="rect">
            <a:avLst/>
          </a:prstGeom>
        </p:spPr>
      </p:pic>
      <p:sp>
        <p:nvSpPr>
          <p:cNvPr id="14" name="Text 10"/>
          <p:cNvSpPr txBox="1"/>
          <p:nvPr/>
        </p:nvSpPr>
        <p:spPr>
          <a:xfrm>
            <a:off x="2724912" y="1417320"/>
            <a:ext cx="320040" cy="320040"/>
          </a:xfrm>
          <a:prstGeom prst="rect">
            <a:avLst/>
          </a:prstGeom>
          <a:noFill/>
          <a:ln/>
        </p:spPr>
        <p:txBody>
          <a:bodyPr wrap="square" lIns="0" tIns="0" rIns="0" bIns="0" rtlCol="0" anchor="ctr"/>
          <a:lstStyle/>
          <a:p>
            <a:pPr indent="0" marL="0">
              <a:buNone/>
            </a:pPr>
            <a:r>
              <a:rPr lang="en-US" sz="1400" b="1" dirty="0">
                <a:solidFill>
                  <a:srgbClr val="BBD6F7"/>
                </a:solidFill>
                <a:latin typeface="Cambria" pitchFamily="34" charset="0"/>
                <a:ea typeface="Cambria" pitchFamily="34" charset="-122"/>
                <a:cs typeface="Cambria" pitchFamily="34" charset="-120"/>
              </a:rPr>
              <a:t>2</a:t>
            </a:r>
            <a:endParaRPr lang="en-US" sz="1400" dirty="0"/>
          </a:p>
        </p:txBody>
      </p:sp>
      <p:sp>
        <p:nvSpPr>
          <p:cNvPr id="15" name="Text 11"/>
          <p:cNvSpPr txBox="1"/>
          <p:nvPr/>
        </p:nvSpPr>
        <p:spPr>
          <a:xfrm>
            <a:off x="2770632" y="2423160"/>
            <a:ext cx="1645920" cy="640080"/>
          </a:xfrm>
          <a:prstGeom prst="rect">
            <a:avLst/>
          </a:prstGeom>
          <a:noFill/>
          <a:ln/>
        </p:spPr>
        <p:txBody>
          <a:bodyPr wrap="square" lIns="0" tIns="0" rIns="0" bIns="0" rtlCol="0" anchor="ctr"/>
          <a:lstStyle/>
          <a:p>
            <a:pPr algn="ctr" indent="0" marL="0">
              <a:buNone/>
            </a:pPr>
            <a:r>
              <a:rPr lang="en-US" sz="1500" b="1" dirty="0">
                <a:solidFill>
                  <a:srgbClr val="0B2A5B"/>
                </a:solidFill>
                <a:latin typeface="Cambria" pitchFamily="34" charset="0"/>
                <a:ea typeface="Cambria" pitchFamily="34" charset="-122"/>
                <a:cs typeface="Cambria" pitchFamily="34" charset="-120"/>
              </a:rPr>
              <a:t>AI priority classifier</a:t>
            </a:r>
            <a:endParaRPr lang="en-US" sz="1500" dirty="0"/>
          </a:p>
        </p:txBody>
      </p:sp>
      <p:sp>
        <p:nvSpPr>
          <p:cNvPr id="16" name="Text 12"/>
          <p:cNvSpPr txBox="1"/>
          <p:nvPr/>
        </p:nvSpPr>
        <p:spPr>
          <a:xfrm>
            <a:off x="2770632" y="3108960"/>
            <a:ext cx="1645920" cy="1188720"/>
          </a:xfrm>
          <a:prstGeom prst="rect">
            <a:avLst/>
          </a:prstGeom>
          <a:noFill/>
          <a:ln/>
        </p:spPr>
        <p:txBody>
          <a:bodyPr wrap="square" lIns="0" tIns="0" rIns="0" bIns="0" rtlCol="0" anchor="t"/>
          <a:lstStyle/>
          <a:p>
            <a:pPr algn="ctr" indent="0" marL="0">
              <a:buNone/>
            </a:pPr>
            <a:r>
              <a:rPr lang="en-US" sz="1200" dirty="0">
                <a:solidFill>
                  <a:srgbClr val="14213D"/>
                </a:solidFill>
                <a:latin typeface="Calibri" pitchFamily="34" charset="0"/>
                <a:ea typeface="Calibri" pitchFamily="34" charset="-122"/>
                <a:cs typeface="Calibri" pitchFamily="34" charset="-120"/>
              </a:rPr>
              <a:t>Every report is analysed and given a score, a priority and a reason.</a:t>
            </a:r>
            <a:endParaRPr lang="en-US" sz="1200" dirty="0"/>
          </a:p>
        </p:txBody>
      </p:sp>
      <p:sp>
        <p:nvSpPr>
          <p:cNvPr id="17" name="Shape 13"/>
          <p:cNvSpPr/>
          <p:nvPr/>
        </p:nvSpPr>
        <p:spPr>
          <a:xfrm>
            <a:off x="4718304" y="1371600"/>
            <a:ext cx="1920240" cy="3017520"/>
          </a:xfrm>
          <a:prstGeom prst="roundRect">
            <a:avLst>
              <a:gd name="adj" fmla="val 5714"/>
            </a:avLst>
          </a:prstGeom>
          <a:solidFill>
            <a:srgbClr val="FFFFFF"/>
          </a:solidFill>
          <a:ln w="12700">
            <a:solidFill>
              <a:srgbClr val="D6E4F7"/>
            </a:solidFill>
            <a:prstDash val="solid"/>
          </a:ln>
        </p:spPr>
      </p:sp>
      <p:sp>
        <p:nvSpPr>
          <p:cNvPr id="18" name="Shape 14"/>
          <p:cNvSpPr/>
          <p:nvPr/>
        </p:nvSpPr>
        <p:spPr>
          <a:xfrm>
            <a:off x="5358384" y="1600200"/>
            <a:ext cx="640080" cy="640080"/>
          </a:xfrm>
          <a:prstGeom prst="ellipse">
            <a:avLst/>
          </a:prstGeom>
          <a:solidFill>
            <a:srgbClr val="1E6FD9"/>
          </a:solidFill>
          <a:ln w="12700">
            <a:solidFill>
              <a:srgbClr val="1E6FD9"/>
            </a:solidFill>
            <a:prstDash val="solid"/>
          </a:ln>
        </p:spPr>
      </p:sp>
      <p:pic>
        <p:nvPicPr>
          <p:cNvPr id="19" name="Image 2" descr="preencoded.png">    </p:cNvPr>
          <p:cNvPicPr>
            <a:picLocks noChangeAspect="1"/>
          </p:cNvPicPr>
          <p:nvPr/>
        </p:nvPicPr>
        <p:blipFill>
          <a:blip r:embed="rId3"/>
          <a:stretch>
            <a:fillRect/>
          </a:stretch>
        </p:blipFill>
        <p:spPr>
          <a:xfrm>
            <a:off x="5518404" y="1760220"/>
            <a:ext cx="320040" cy="320040"/>
          </a:xfrm>
          <a:prstGeom prst="rect">
            <a:avLst/>
          </a:prstGeom>
        </p:spPr>
      </p:pic>
      <p:sp>
        <p:nvSpPr>
          <p:cNvPr id="20" name="Text 15"/>
          <p:cNvSpPr txBox="1"/>
          <p:nvPr/>
        </p:nvSpPr>
        <p:spPr>
          <a:xfrm>
            <a:off x="4809744" y="1417320"/>
            <a:ext cx="320040" cy="320040"/>
          </a:xfrm>
          <a:prstGeom prst="rect">
            <a:avLst/>
          </a:prstGeom>
          <a:noFill/>
          <a:ln/>
        </p:spPr>
        <p:txBody>
          <a:bodyPr wrap="square" lIns="0" tIns="0" rIns="0" bIns="0" rtlCol="0" anchor="ctr"/>
          <a:lstStyle/>
          <a:p>
            <a:pPr indent="0" marL="0">
              <a:buNone/>
            </a:pPr>
            <a:r>
              <a:rPr lang="en-US" sz="1400" b="1" dirty="0">
                <a:solidFill>
                  <a:srgbClr val="BBD6F7"/>
                </a:solidFill>
                <a:latin typeface="Cambria" pitchFamily="34" charset="0"/>
                <a:ea typeface="Cambria" pitchFamily="34" charset="-122"/>
                <a:cs typeface="Cambria" pitchFamily="34" charset="-120"/>
              </a:rPr>
              <a:t>3</a:t>
            </a:r>
            <a:endParaRPr lang="en-US" sz="1400" dirty="0"/>
          </a:p>
        </p:txBody>
      </p:sp>
      <p:sp>
        <p:nvSpPr>
          <p:cNvPr id="21" name="Text 16"/>
          <p:cNvSpPr txBox="1"/>
          <p:nvPr/>
        </p:nvSpPr>
        <p:spPr>
          <a:xfrm>
            <a:off x="4855464" y="2423160"/>
            <a:ext cx="1645920" cy="640080"/>
          </a:xfrm>
          <a:prstGeom prst="rect">
            <a:avLst/>
          </a:prstGeom>
          <a:noFill/>
          <a:ln/>
        </p:spPr>
        <p:txBody>
          <a:bodyPr wrap="square" lIns="0" tIns="0" rIns="0" bIns="0" rtlCol="0" anchor="ctr"/>
          <a:lstStyle/>
          <a:p>
            <a:pPr algn="ctr" indent="0" marL="0">
              <a:buNone/>
            </a:pPr>
            <a:r>
              <a:rPr lang="en-US" sz="1500" b="1" dirty="0">
                <a:solidFill>
                  <a:srgbClr val="0B2A5B"/>
                </a:solidFill>
                <a:latin typeface="Cambria" pitchFamily="34" charset="0"/>
                <a:ea typeface="Cambria" pitchFamily="34" charset="-122"/>
                <a:cs typeface="Cambria" pitchFamily="34" charset="-120"/>
              </a:rPr>
              <a:t>Live, searchable list</a:t>
            </a:r>
            <a:endParaRPr lang="en-US" sz="1500" dirty="0"/>
          </a:p>
        </p:txBody>
      </p:sp>
      <p:sp>
        <p:nvSpPr>
          <p:cNvPr id="22" name="Text 17"/>
          <p:cNvSpPr txBox="1"/>
          <p:nvPr/>
        </p:nvSpPr>
        <p:spPr>
          <a:xfrm>
            <a:off x="4855464" y="3108960"/>
            <a:ext cx="1645920" cy="1188720"/>
          </a:xfrm>
          <a:prstGeom prst="rect">
            <a:avLst/>
          </a:prstGeom>
          <a:noFill/>
          <a:ln/>
        </p:spPr>
        <p:txBody>
          <a:bodyPr wrap="square" lIns="0" tIns="0" rIns="0" bIns="0" rtlCol="0" anchor="t"/>
          <a:lstStyle/>
          <a:p>
            <a:pPr algn="ctr" indent="0" marL="0">
              <a:buNone/>
            </a:pPr>
            <a:r>
              <a:rPr lang="en-US" sz="1200" dirty="0">
                <a:solidFill>
                  <a:srgbClr val="14213D"/>
                </a:solidFill>
                <a:latin typeface="Calibri" pitchFamily="34" charset="0"/>
                <a:ea typeface="Calibri" pitchFamily="34" charset="-122"/>
                <a:cs typeface="Calibri" pitchFamily="34" charset="-120"/>
              </a:rPr>
              <a:t>Approved items appear in a live, searchable list that updates in real time.</a:t>
            </a:r>
            <a:endParaRPr lang="en-US" sz="1200" dirty="0"/>
          </a:p>
        </p:txBody>
      </p:sp>
      <p:sp>
        <p:nvSpPr>
          <p:cNvPr id="23" name="Shape 18"/>
          <p:cNvSpPr/>
          <p:nvPr/>
        </p:nvSpPr>
        <p:spPr>
          <a:xfrm>
            <a:off x="6803136" y="1371600"/>
            <a:ext cx="1920240" cy="3017520"/>
          </a:xfrm>
          <a:prstGeom prst="roundRect">
            <a:avLst>
              <a:gd name="adj" fmla="val 5714"/>
            </a:avLst>
          </a:prstGeom>
          <a:solidFill>
            <a:srgbClr val="FFFFFF"/>
          </a:solidFill>
          <a:ln w="12700">
            <a:solidFill>
              <a:srgbClr val="D6E4F7"/>
            </a:solidFill>
            <a:prstDash val="solid"/>
          </a:ln>
        </p:spPr>
      </p:sp>
      <p:sp>
        <p:nvSpPr>
          <p:cNvPr id="24" name="Shape 19"/>
          <p:cNvSpPr/>
          <p:nvPr/>
        </p:nvSpPr>
        <p:spPr>
          <a:xfrm>
            <a:off x="7443216" y="1600200"/>
            <a:ext cx="640080" cy="640080"/>
          </a:xfrm>
          <a:prstGeom prst="ellipse">
            <a:avLst/>
          </a:prstGeom>
          <a:solidFill>
            <a:srgbClr val="3B9CF0"/>
          </a:solidFill>
          <a:ln w="12700">
            <a:solidFill>
              <a:srgbClr val="3B9CF0"/>
            </a:solidFill>
            <a:prstDash val="solid"/>
          </a:ln>
        </p:spPr>
      </p:sp>
      <p:pic>
        <p:nvPicPr>
          <p:cNvPr id="25" name="Image 3" descr="preencoded.png">    </p:cNvPr>
          <p:cNvPicPr>
            <a:picLocks noChangeAspect="1"/>
          </p:cNvPicPr>
          <p:nvPr/>
        </p:nvPicPr>
        <p:blipFill>
          <a:blip r:embed="rId4"/>
          <a:stretch>
            <a:fillRect/>
          </a:stretch>
        </p:blipFill>
        <p:spPr>
          <a:xfrm>
            <a:off x="7603236" y="1760220"/>
            <a:ext cx="320040" cy="320040"/>
          </a:xfrm>
          <a:prstGeom prst="rect">
            <a:avLst/>
          </a:prstGeom>
        </p:spPr>
      </p:pic>
      <p:sp>
        <p:nvSpPr>
          <p:cNvPr id="26" name="Text 20"/>
          <p:cNvSpPr txBox="1"/>
          <p:nvPr/>
        </p:nvSpPr>
        <p:spPr>
          <a:xfrm>
            <a:off x="6894576" y="1417320"/>
            <a:ext cx="320040" cy="320040"/>
          </a:xfrm>
          <a:prstGeom prst="rect">
            <a:avLst/>
          </a:prstGeom>
          <a:noFill/>
          <a:ln/>
        </p:spPr>
        <p:txBody>
          <a:bodyPr wrap="square" lIns="0" tIns="0" rIns="0" bIns="0" rtlCol="0" anchor="ctr"/>
          <a:lstStyle/>
          <a:p>
            <a:pPr indent="0" marL="0">
              <a:buNone/>
            </a:pPr>
            <a:r>
              <a:rPr lang="en-US" sz="1400" b="1" dirty="0">
                <a:solidFill>
                  <a:srgbClr val="BBD6F7"/>
                </a:solidFill>
                <a:latin typeface="Cambria" pitchFamily="34" charset="0"/>
                <a:ea typeface="Cambria" pitchFamily="34" charset="-122"/>
                <a:cs typeface="Cambria" pitchFamily="34" charset="-120"/>
              </a:rPr>
              <a:t>4</a:t>
            </a:r>
            <a:endParaRPr lang="en-US" sz="1400" dirty="0"/>
          </a:p>
        </p:txBody>
      </p:sp>
      <p:sp>
        <p:nvSpPr>
          <p:cNvPr id="27" name="Text 21"/>
          <p:cNvSpPr txBox="1"/>
          <p:nvPr/>
        </p:nvSpPr>
        <p:spPr>
          <a:xfrm>
            <a:off x="6940296" y="2423160"/>
            <a:ext cx="1645920" cy="640080"/>
          </a:xfrm>
          <a:prstGeom prst="rect">
            <a:avLst/>
          </a:prstGeom>
          <a:noFill/>
          <a:ln/>
        </p:spPr>
        <p:txBody>
          <a:bodyPr wrap="square" lIns="0" tIns="0" rIns="0" bIns="0" rtlCol="0" anchor="ctr"/>
          <a:lstStyle/>
          <a:p>
            <a:pPr algn="ctr" indent="0" marL="0">
              <a:buNone/>
            </a:pPr>
            <a:r>
              <a:rPr lang="en-US" sz="1500" b="1" dirty="0">
                <a:solidFill>
                  <a:srgbClr val="0B2A5B"/>
                </a:solidFill>
                <a:latin typeface="Cambria" pitchFamily="34" charset="0"/>
                <a:ea typeface="Cambria" pitchFamily="34" charset="-122"/>
                <a:cs typeface="Cambria" pitchFamily="34" charset="-120"/>
              </a:rPr>
              <a:t>Administrators in control</a:t>
            </a:r>
            <a:endParaRPr lang="en-US" sz="1500" dirty="0"/>
          </a:p>
        </p:txBody>
      </p:sp>
      <p:sp>
        <p:nvSpPr>
          <p:cNvPr id="28" name="Text 22"/>
          <p:cNvSpPr txBox="1"/>
          <p:nvPr/>
        </p:nvSpPr>
        <p:spPr>
          <a:xfrm>
            <a:off x="6940296" y="3108960"/>
            <a:ext cx="1645920" cy="1188720"/>
          </a:xfrm>
          <a:prstGeom prst="rect">
            <a:avLst/>
          </a:prstGeom>
          <a:noFill/>
          <a:ln/>
        </p:spPr>
        <p:txBody>
          <a:bodyPr wrap="square" lIns="0" tIns="0" rIns="0" bIns="0" rtlCol="0" anchor="t"/>
          <a:lstStyle/>
          <a:p>
            <a:pPr algn="ctr" indent="0" marL="0">
              <a:buNone/>
            </a:pPr>
            <a:r>
              <a:rPr lang="en-US" sz="1200" dirty="0">
                <a:solidFill>
                  <a:srgbClr val="14213D"/>
                </a:solidFill>
                <a:latin typeface="Calibri" pitchFamily="34" charset="0"/>
                <a:ea typeface="Calibri" pitchFamily="34" charset="-122"/>
                <a:cs typeface="Calibri" pitchFamily="34" charset="-120"/>
              </a:rPr>
              <a:t>Admins approve or reject reports, reply to students, and manage who is allowed to be an administrator.</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9FF"/>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E6FD9"/>
          </a:solidFill>
          <a:ln w="12700">
            <a:solidFill>
              <a:srgbClr val="1E6FD9"/>
            </a:solidFill>
            <a:prstDash val="solid"/>
          </a:ln>
        </p:spPr>
      </p:sp>
      <p:sp>
        <p:nvSpPr>
          <p:cNvPr id="3" name="Text 1"/>
          <p:cNvSpPr txBox="1"/>
          <p:nvPr/>
        </p:nvSpPr>
        <p:spPr>
          <a:xfrm>
            <a:off x="548640" y="91440"/>
            <a:ext cx="7680960" cy="228600"/>
          </a:xfrm>
          <a:prstGeom prst="rect">
            <a:avLst/>
          </a:prstGeom>
          <a:noFill/>
          <a:ln/>
        </p:spPr>
        <p:txBody>
          <a:bodyPr wrap="square" lIns="0" tIns="0" rIns="0" bIns="0" rtlCol="0" anchor="ctr"/>
          <a:lstStyle/>
          <a:p>
            <a:pPr indent="0" marL="0">
              <a:buNone/>
            </a:pPr>
            <a:r>
              <a:rPr lang="en-US" sz="900" b="1" spc="200" kern="0" dirty="0">
                <a:solidFill>
                  <a:srgbClr val="1E6FD9"/>
                </a:solidFill>
                <a:latin typeface="Calibri" pitchFamily="34" charset="0"/>
                <a:ea typeface="Calibri" pitchFamily="34" charset="-122"/>
                <a:cs typeface="Calibri" pitchFamily="34" charset="-120"/>
              </a:rPr>
              <a:t>SYSTEM OVERVIEW</a:t>
            </a:r>
            <a:endParaRPr lang="en-US" sz="900" dirty="0"/>
          </a:p>
        </p:txBody>
      </p:sp>
      <p:sp>
        <p:nvSpPr>
          <p:cNvPr id="4" name="Text 2"/>
          <p:cNvSpPr txBox="1"/>
          <p:nvPr/>
        </p:nvSpPr>
        <p:spPr>
          <a:xfrm>
            <a:off x="548640" y="320040"/>
            <a:ext cx="8229600" cy="640080"/>
          </a:xfrm>
          <a:prstGeom prst="rect">
            <a:avLst/>
          </a:prstGeom>
          <a:noFill/>
          <a:ln/>
        </p:spPr>
        <p:txBody>
          <a:bodyPr wrap="square" lIns="0" tIns="0" rIns="0" bIns="0" rtlCol="0" anchor="ctr"/>
          <a:lstStyle/>
          <a:p>
            <a:pPr indent="0" marL="0">
              <a:buNone/>
            </a:pPr>
            <a:r>
              <a:rPr lang="en-US" sz="3000" b="1" dirty="0">
                <a:solidFill>
                  <a:srgbClr val="0B2A5B"/>
                </a:solidFill>
                <a:latin typeface="Cambria" pitchFamily="34" charset="0"/>
                <a:ea typeface="Cambria" pitchFamily="34" charset="-122"/>
                <a:cs typeface="Cambria" pitchFamily="34" charset="-120"/>
              </a:rPr>
              <a:t>Users and Roles</a:t>
            </a:r>
            <a:endParaRPr lang="en-US" sz="3000" dirty="0"/>
          </a:p>
        </p:txBody>
      </p:sp>
      <p:sp>
        <p:nvSpPr>
          <p:cNvPr id="5" name="Text 3"/>
          <p:cNvSpPr txBox="1"/>
          <p:nvPr/>
        </p:nvSpPr>
        <p:spPr>
          <a:xfrm>
            <a:off x="548640" y="1005840"/>
            <a:ext cx="8046720" cy="365760"/>
          </a:xfrm>
          <a:prstGeom prst="rect">
            <a:avLst/>
          </a:prstGeom>
          <a:noFill/>
          <a:ln/>
        </p:spPr>
        <p:txBody>
          <a:bodyPr wrap="square" lIns="0" tIns="0" rIns="0" bIns="0" rtlCol="0" anchor="ctr"/>
          <a:lstStyle/>
          <a:p>
            <a:pPr indent="0" marL="0">
              <a:buNone/>
            </a:pPr>
            <a:r>
              <a:rPr lang="en-US" sz="1300" i="1" dirty="0">
                <a:solidFill>
                  <a:srgbClr val="5B6B85"/>
                </a:solidFill>
                <a:latin typeface="Calibri" pitchFamily="34" charset="0"/>
                <a:ea typeface="Calibri" pitchFamily="34" charset="-122"/>
                <a:cs typeface="Calibri" pitchFamily="34" charset="-120"/>
              </a:rPr>
              <a:t>A role field stored on each user's Firestore document controls what the person may do.</a:t>
            </a:r>
            <a:endParaRPr lang="en-US" sz="1300" dirty="0"/>
          </a:p>
        </p:txBody>
      </p:sp>
      <p:sp>
        <p:nvSpPr>
          <p:cNvPr id="6" name="Shape 4"/>
          <p:cNvSpPr/>
          <p:nvPr/>
        </p:nvSpPr>
        <p:spPr>
          <a:xfrm>
            <a:off x="548640" y="1463040"/>
            <a:ext cx="3657600" cy="3291840"/>
          </a:xfrm>
          <a:prstGeom prst="roundRect">
            <a:avLst>
              <a:gd name="adj" fmla="val 3333"/>
            </a:avLst>
          </a:prstGeom>
          <a:solidFill>
            <a:srgbClr val="FFFFFF"/>
          </a:solidFill>
          <a:ln w="12700">
            <a:solidFill>
              <a:srgbClr val="D6E4F7"/>
            </a:solidFill>
            <a:prstDash val="solid"/>
          </a:ln>
        </p:spPr>
      </p:sp>
      <p:sp>
        <p:nvSpPr>
          <p:cNvPr id="7" name="Shape 5"/>
          <p:cNvSpPr/>
          <p:nvPr/>
        </p:nvSpPr>
        <p:spPr>
          <a:xfrm>
            <a:off x="548640" y="1463040"/>
            <a:ext cx="3657600" cy="457200"/>
          </a:xfrm>
          <a:prstGeom prst="rect">
            <a:avLst/>
          </a:prstGeom>
          <a:solidFill>
            <a:srgbClr val="1E6FD9"/>
          </a:solidFill>
          <a:ln w="12700">
            <a:solidFill>
              <a:srgbClr val="1E6FD9"/>
            </a:solidFill>
            <a:prstDash val="solid"/>
          </a:ln>
        </p:spPr>
      </p:sp>
      <p:sp>
        <p:nvSpPr>
          <p:cNvPr id="8" name="Text 6"/>
          <p:cNvSpPr txBox="1"/>
          <p:nvPr/>
        </p:nvSpPr>
        <p:spPr>
          <a:xfrm>
            <a:off x="731520" y="1463040"/>
            <a:ext cx="3291840"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Student (user)</a:t>
            </a:r>
            <a:endParaRPr lang="en-US" sz="1500" dirty="0"/>
          </a:p>
        </p:txBody>
      </p:sp>
      <p:sp>
        <p:nvSpPr>
          <p:cNvPr id="9" name="Text 7"/>
          <p:cNvSpPr txBox="1"/>
          <p:nvPr/>
        </p:nvSpPr>
        <p:spPr>
          <a:xfrm>
            <a:off x="731520" y="2057400"/>
            <a:ext cx="3337560" cy="265176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14213D"/>
                </a:solidFill>
                <a:latin typeface="Calibri" pitchFamily="34" charset="0"/>
                <a:ea typeface="Calibri" pitchFamily="34" charset="-122"/>
                <a:cs typeface="Calibri" pitchFamily="34" charset="-120"/>
              </a:rPr>
              <a:t>Register, log in, reset a forgotten password</a:t>
            </a:r>
            <a:endParaRPr lang="en-US" sz="1100" dirty="0"/>
          </a:p>
          <a:p>
            <a:pPr marL="342900" indent="-342900">
              <a:spcAft>
                <a:spcPts val="500"/>
              </a:spcAft>
              <a:buSzPct val="100000"/>
              <a:buChar char="•"/>
            </a:pPr>
            <a:r>
              <a:rPr lang="en-US" sz="1100" dirty="0">
                <a:solidFill>
                  <a:srgbClr val="14213D"/>
                </a:solidFill>
                <a:latin typeface="Calibri" pitchFamily="34" charset="0"/>
                <a:ea typeface="Calibri" pitchFamily="34" charset="-122"/>
                <a:cs typeface="Calibri" pitchFamily="34" charset="-120"/>
              </a:rPr>
              <a:t>Report Lost or Found items</a:t>
            </a:r>
            <a:endParaRPr lang="en-US" sz="1100" dirty="0"/>
          </a:p>
          <a:p>
            <a:pPr marL="342900" indent="-342900">
              <a:spcAft>
                <a:spcPts val="500"/>
              </a:spcAft>
              <a:buSzPct val="100000"/>
              <a:buChar char="•"/>
            </a:pPr>
            <a:r>
              <a:rPr lang="en-US" sz="1100" dirty="0">
                <a:solidFill>
                  <a:srgbClr val="14213D"/>
                </a:solidFill>
                <a:latin typeface="Calibri" pitchFamily="34" charset="0"/>
                <a:ea typeface="Calibri" pitchFamily="34" charset="-122"/>
                <a:cs typeface="Calibri" pitchFamily="34" charset="-120"/>
              </a:rPr>
              <a:t>Browse, search and filter approved reports</a:t>
            </a:r>
            <a:endParaRPr lang="en-US" sz="1100" dirty="0"/>
          </a:p>
          <a:p>
            <a:pPr marL="342900" indent="-342900">
              <a:spcAft>
                <a:spcPts val="500"/>
              </a:spcAft>
              <a:buSzPct val="100000"/>
              <a:buChar char="•"/>
            </a:pPr>
            <a:r>
              <a:rPr lang="en-US" sz="1100" dirty="0">
                <a:solidFill>
                  <a:srgbClr val="14213D"/>
                </a:solidFill>
                <a:latin typeface="Calibri" pitchFamily="34" charset="0"/>
                <a:ea typeface="Calibri" pitchFamily="34" charset="-122"/>
                <a:cs typeface="Calibri" pitchFamily="34" charset="-120"/>
              </a:rPr>
              <a:t>View their own approved reports</a:t>
            </a:r>
            <a:endParaRPr lang="en-US" sz="1100" dirty="0"/>
          </a:p>
          <a:p>
            <a:pPr marL="342900" indent="-342900">
              <a:spcAft>
                <a:spcPts val="500"/>
              </a:spcAft>
              <a:buSzPct val="100000"/>
              <a:buChar char="•"/>
            </a:pPr>
            <a:r>
              <a:rPr lang="en-US" sz="1100" dirty="0">
                <a:solidFill>
                  <a:srgbClr val="14213D"/>
                </a:solidFill>
                <a:latin typeface="Calibri" pitchFamily="34" charset="0"/>
                <a:ea typeface="Calibri" pitchFamily="34" charset="-122"/>
                <a:cs typeface="Calibri" pitchFamily="34" charset="-120"/>
              </a:rPr>
              <a:t>Open item details; contact a reporter by email</a:t>
            </a:r>
            <a:endParaRPr lang="en-US" sz="1100" dirty="0"/>
          </a:p>
          <a:p>
            <a:pPr marL="342900" indent="-342900">
              <a:spcAft>
                <a:spcPts val="500"/>
              </a:spcAft>
              <a:buSzPct val="100000"/>
              <a:buChar char="•"/>
            </a:pPr>
            <a:r>
              <a:rPr lang="en-US" sz="1100" dirty="0">
                <a:solidFill>
                  <a:srgbClr val="14213D"/>
                </a:solidFill>
                <a:latin typeface="Calibri" pitchFamily="34" charset="0"/>
                <a:ea typeface="Calibri" pitchFamily="34" charset="-122"/>
                <a:cs typeface="Calibri" pitchFamily="34" charset="-120"/>
              </a:rPr>
              <a:t>Mark their own report Resolved or Claimed</a:t>
            </a:r>
            <a:endParaRPr lang="en-US" sz="1100" dirty="0"/>
          </a:p>
          <a:p>
            <a:pPr marL="342900" indent="-342900">
              <a:spcAft>
                <a:spcPts val="500"/>
              </a:spcAft>
              <a:buSzPct val="100000"/>
              <a:buChar char="•"/>
            </a:pPr>
            <a:r>
              <a:rPr lang="en-US" sz="1100" dirty="0">
                <a:solidFill>
                  <a:srgbClr val="14213D"/>
                </a:solidFill>
                <a:latin typeface="Calibri" pitchFamily="34" charset="0"/>
                <a:ea typeface="Calibri" pitchFamily="34" charset="-122"/>
                <a:cs typeface="Calibri" pitchFamily="34" charset="-120"/>
              </a:rPr>
              <a:t>Read notifications; message administrators</a:t>
            </a:r>
            <a:endParaRPr lang="en-US" sz="1100" dirty="0"/>
          </a:p>
          <a:p>
            <a:pPr marL="342900" indent="-342900">
              <a:spcAft>
                <a:spcPts val="500"/>
              </a:spcAft>
              <a:buSzPct val="100000"/>
              <a:buChar char="•"/>
            </a:pPr>
            <a:r>
              <a:rPr lang="en-US" sz="1100" dirty="0">
                <a:solidFill>
                  <a:srgbClr val="14213D"/>
                </a:solidFill>
                <a:latin typeface="Calibri" pitchFamily="34" charset="0"/>
                <a:ea typeface="Calibri" pitchFamily="34" charset="-122"/>
                <a:cs typeface="Calibri" pitchFamily="34" charset="-120"/>
              </a:rPr>
              <a:t>View profile and log out</a:t>
            </a:r>
            <a:endParaRPr lang="en-US" sz="1100" dirty="0"/>
          </a:p>
        </p:txBody>
      </p:sp>
      <p:sp>
        <p:nvSpPr>
          <p:cNvPr id="10" name="Shape 8"/>
          <p:cNvSpPr/>
          <p:nvPr/>
        </p:nvSpPr>
        <p:spPr>
          <a:xfrm>
            <a:off x="4389120" y="1463040"/>
            <a:ext cx="4206240" cy="1417320"/>
          </a:xfrm>
          <a:prstGeom prst="roundRect">
            <a:avLst>
              <a:gd name="adj" fmla="val 7742"/>
            </a:avLst>
          </a:prstGeom>
          <a:solidFill>
            <a:srgbClr val="FFFFFF"/>
          </a:solidFill>
          <a:ln w="12700">
            <a:solidFill>
              <a:srgbClr val="D6E4F7"/>
            </a:solidFill>
            <a:prstDash val="solid"/>
          </a:ln>
        </p:spPr>
      </p:sp>
      <p:sp>
        <p:nvSpPr>
          <p:cNvPr id="11" name="Shape 9"/>
          <p:cNvSpPr/>
          <p:nvPr/>
        </p:nvSpPr>
        <p:spPr>
          <a:xfrm>
            <a:off x="4389120" y="1463040"/>
            <a:ext cx="91440" cy="1417320"/>
          </a:xfrm>
          <a:prstGeom prst="rect">
            <a:avLst/>
          </a:prstGeom>
          <a:solidFill>
            <a:srgbClr val="0B2A5B"/>
          </a:solidFill>
          <a:ln w="12700">
            <a:solidFill>
              <a:srgbClr val="0B2A5B"/>
            </a:solidFill>
            <a:prstDash val="solid"/>
          </a:ln>
        </p:spPr>
      </p:sp>
      <p:sp>
        <p:nvSpPr>
          <p:cNvPr id="12" name="Text 10"/>
          <p:cNvSpPr txBox="1"/>
          <p:nvPr/>
        </p:nvSpPr>
        <p:spPr>
          <a:xfrm>
            <a:off x="4617720" y="1508760"/>
            <a:ext cx="3840480" cy="274320"/>
          </a:xfrm>
          <a:prstGeom prst="rect">
            <a:avLst/>
          </a:prstGeom>
          <a:noFill/>
          <a:ln/>
        </p:spPr>
        <p:txBody>
          <a:bodyPr wrap="square" lIns="0" tIns="0" rIns="0" bIns="0" rtlCol="0" anchor="ctr"/>
          <a:lstStyle/>
          <a:p>
            <a:pPr indent="0" marL="0">
              <a:buNone/>
            </a:pPr>
            <a:r>
              <a:rPr lang="en-US" sz="1300" b="1" dirty="0">
                <a:solidFill>
                  <a:srgbClr val="0B2A5B"/>
                </a:solidFill>
                <a:latin typeface="Cambria" pitchFamily="34" charset="0"/>
                <a:ea typeface="Cambria" pitchFamily="34" charset="-122"/>
                <a:cs typeface="Cambria" pitchFamily="34" charset="-120"/>
              </a:rPr>
              <a:t>Administrator (admin)</a:t>
            </a:r>
            <a:endParaRPr lang="en-US" sz="1300" dirty="0"/>
          </a:p>
        </p:txBody>
      </p:sp>
      <p:sp>
        <p:nvSpPr>
          <p:cNvPr id="13" name="Text 11"/>
          <p:cNvSpPr txBox="1"/>
          <p:nvPr/>
        </p:nvSpPr>
        <p:spPr>
          <a:xfrm>
            <a:off x="4617720" y="1810512"/>
            <a:ext cx="3886200" cy="1033272"/>
          </a:xfrm>
          <a:prstGeom prst="rect">
            <a:avLst/>
          </a:prstGeom>
          <a:noFill/>
          <a:ln/>
        </p:spPr>
        <p:txBody>
          <a:bodyPr wrap="square" lIns="0" tIns="0" rIns="0" bIns="0" rtlCol="0" anchor="t"/>
          <a:lstStyle/>
          <a:p>
            <a:pPr marL="342900" indent="-342900">
              <a:buSzPct val="100000"/>
              <a:buChar char="•"/>
            </a:pPr>
            <a:r>
              <a:rPr lang="en-US" sz="1000" dirty="0">
                <a:solidFill>
                  <a:srgbClr val="14213D"/>
                </a:solidFill>
                <a:latin typeface="Calibri" pitchFamily="34" charset="0"/>
                <a:ea typeface="Calibri" pitchFamily="34" charset="-122"/>
                <a:cs typeface="Calibri" pitchFamily="34" charset="-120"/>
              </a:rPr>
              <a:t>Log in through the Admin Login screen</a:t>
            </a:r>
            <a:endParaRPr lang="en-US" sz="1000" dirty="0"/>
          </a:p>
          <a:p>
            <a:pPr marL="342900" indent="-342900">
              <a:buSzPct val="100000"/>
              <a:buChar char="•"/>
            </a:pPr>
            <a:r>
              <a:rPr lang="en-US" sz="1000" dirty="0">
                <a:solidFill>
                  <a:srgbClr val="14213D"/>
                </a:solidFill>
                <a:latin typeface="Calibri" pitchFamily="34" charset="0"/>
                <a:ea typeface="Calibri" pitchFamily="34" charset="-122"/>
                <a:cs typeface="Calibri" pitchFamily="34" charset="-120"/>
              </a:rPr>
              <a:t>View all reports, filter by status</a:t>
            </a:r>
            <a:endParaRPr lang="en-US" sz="1000" dirty="0"/>
          </a:p>
          <a:p>
            <a:pPr marL="342900" indent="-342900">
              <a:buSzPct val="100000"/>
              <a:buChar char="•"/>
            </a:pPr>
            <a:r>
              <a:rPr lang="en-US" sz="1000" dirty="0">
                <a:solidFill>
                  <a:srgbClr val="14213D"/>
                </a:solidFill>
                <a:latin typeface="Calibri" pitchFamily="34" charset="0"/>
                <a:ea typeface="Calibri" pitchFamily="34" charset="-122"/>
                <a:cs typeface="Calibri" pitchFamily="34" charset="-120"/>
              </a:rPr>
              <a:t>Approve, reject, resolve, claim or delete a report</a:t>
            </a:r>
            <a:endParaRPr lang="en-US" sz="1000" dirty="0"/>
          </a:p>
          <a:p>
            <a:pPr marL="342900" indent="-342900">
              <a:buSzPct val="100000"/>
              <a:buChar char="•"/>
            </a:pPr>
            <a:r>
              <a:rPr lang="en-US" sz="1000" dirty="0">
                <a:solidFill>
                  <a:srgbClr val="14213D"/>
                </a:solidFill>
                <a:latin typeface="Calibri" pitchFamily="34" charset="0"/>
                <a:ea typeface="Calibri" pitchFamily="34" charset="-122"/>
                <a:cs typeface="Calibri" pitchFamily="34" charset="-120"/>
              </a:rPr>
              <a:t>Read student messages and reply</a:t>
            </a:r>
            <a:endParaRPr lang="en-US" sz="1000" dirty="0"/>
          </a:p>
        </p:txBody>
      </p:sp>
      <p:sp>
        <p:nvSpPr>
          <p:cNvPr id="14" name="Shape 12"/>
          <p:cNvSpPr/>
          <p:nvPr/>
        </p:nvSpPr>
        <p:spPr>
          <a:xfrm>
            <a:off x="4389120" y="2990088"/>
            <a:ext cx="4206240" cy="868680"/>
          </a:xfrm>
          <a:prstGeom prst="roundRect">
            <a:avLst>
              <a:gd name="adj" fmla="val 12632"/>
            </a:avLst>
          </a:prstGeom>
          <a:solidFill>
            <a:srgbClr val="FFFFFF"/>
          </a:solidFill>
          <a:ln w="12700">
            <a:solidFill>
              <a:srgbClr val="D6E4F7"/>
            </a:solidFill>
            <a:prstDash val="solid"/>
          </a:ln>
        </p:spPr>
      </p:sp>
      <p:sp>
        <p:nvSpPr>
          <p:cNvPr id="15" name="Shape 13"/>
          <p:cNvSpPr/>
          <p:nvPr/>
        </p:nvSpPr>
        <p:spPr>
          <a:xfrm>
            <a:off x="4389120" y="2990088"/>
            <a:ext cx="91440" cy="868680"/>
          </a:xfrm>
          <a:prstGeom prst="rect">
            <a:avLst/>
          </a:prstGeom>
          <a:solidFill>
            <a:srgbClr val="3B9CF0"/>
          </a:solidFill>
          <a:ln w="12700">
            <a:solidFill>
              <a:srgbClr val="3B9CF0"/>
            </a:solidFill>
            <a:prstDash val="solid"/>
          </a:ln>
        </p:spPr>
      </p:sp>
      <p:sp>
        <p:nvSpPr>
          <p:cNvPr id="16" name="Text 14"/>
          <p:cNvSpPr txBox="1"/>
          <p:nvPr/>
        </p:nvSpPr>
        <p:spPr>
          <a:xfrm>
            <a:off x="4617720" y="3035808"/>
            <a:ext cx="3840480" cy="274320"/>
          </a:xfrm>
          <a:prstGeom prst="rect">
            <a:avLst/>
          </a:prstGeom>
          <a:noFill/>
          <a:ln/>
        </p:spPr>
        <p:txBody>
          <a:bodyPr wrap="square" lIns="0" tIns="0" rIns="0" bIns="0" rtlCol="0" anchor="ctr"/>
          <a:lstStyle/>
          <a:p>
            <a:pPr indent="0" marL="0">
              <a:buNone/>
            </a:pPr>
            <a:r>
              <a:rPr lang="en-US" sz="1300" b="1" dirty="0">
                <a:solidFill>
                  <a:srgbClr val="3B9CF0"/>
                </a:solidFill>
                <a:latin typeface="Cambria" pitchFamily="34" charset="0"/>
                <a:ea typeface="Cambria" pitchFamily="34" charset="-122"/>
                <a:cs typeface="Cambria" pitchFamily="34" charset="-120"/>
              </a:rPr>
              <a:t>Pending administrator</a:t>
            </a:r>
            <a:endParaRPr lang="en-US" sz="1300" dirty="0"/>
          </a:p>
        </p:txBody>
      </p:sp>
      <p:sp>
        <p:nvSpPr>
          <p:cNvPr id="17" name="Text 15"/>
          <p:cNvSpPr txBox="1"/>
          <p:nvPr/>
        </p:nvSpPr>
        <p:spPr>
          <a:xfrm>
            <a:off x="4617720" y="3337560"/>
            <a:ext cx="3886200" cy="484632"/>
          </a:xfrm>
          <a:prstGeom prst="rect">
            <a:avLst/>
          </a:prstGeom>
          <a:noFill/>
          <a:ln/>
        </p:spPr>
        <p:txBody>
          <a:bodyPr wrap="square" lIns="0" tIns="0" rIns="0" bIns="0" rtlCol="0" anchor="t"/>
          <a:lstStyle/>
          <a:p>
            <a:pPr marL="342900" indent="-342900">
              <a:buSzPct val="100000"/>
              <a:buChar char="•"/>
            </a:pPr>
            <a:r>
              <a:rPr lang="en-US" sz="1000" dirty="0">
                <a:solidFill>
                  <a:srgbClr val="14213D"/>
                </a:solidFill>
                <a:latin typeface="Calibri" pitchFamily="34" charset="0"/>
                <a:ea typeface="Calibri" pitchFamily="34" charset="-122"/>
                <a:cs typeface="Calibri" pitchFamily="34" charset="-120"/>
              </a:rPr>
              <a:t>Used Create Admin Account</a:t>
            </a:r>
            <a:endParaRPr lang="en-US" sz="1000" dirty="0"/>
          </a:p>
          <a:p>
            <a:pPr marL="342900" indent="-342900">
              <a:buSzPct val="100000"/>
              <a:buChar char="•"/>
            </a:pPr>
            <a:r>
              <a:rPr lang="en-US" sz="1000" dirty="0">
                <a:solidFill>
                  <a:srgbClr val="14213D"/>
                </a:solidFill>
                <a:latin typeface="Calibri" pitchFamily="34" charset="0"/>
                <a:ea typeface="Calibri" pitchFamily="34" charset="-122"/>
                <a:cs typeface="Calibri" pitchFamily="34" charset="-120"/>
              </a:rPr>
              <a:t>Account exists but cannot log in as admin until approved</a:t>
            </a:r>
            <a:endParaRPr lang="en-US" sz="1000" dirty="0"/>
          </a:p>
        </p:txBody>
      </p:sp>
      <p:sp>
        <p:nvSpPr>
          <p:cNvPr id="18" name="Shape 16"/>
          <p:cNvSpPr/>
          <p:nvPr/>
        </p:nvSpPr>
        <p:spPr>
          <a:xfrm>
            <a:off x="4389120" y="3968496"/>
            <a:ext cx="4206240" cy="914400"/>
          </a:xfrm>
          <a:prstGeom prst="roundRect">
            <a:avLst>
              <a:gd name="adj" fmla="val 12000"/>
            </a:avLst>
          </a:prstGeom>
          <a:solidFill>
            <a:srgbClr val="FFFFFF"/>
          </a:solidFill>
          <a:ln w="12700">
            <a:solidFill>
              <a:srgbClr val="D6E4F7"/>
            </a:solidFill>
            <a:prstDash val="solid"/>
          </a:ln>
        </p:spPr>
      </p:sp>
      <p:sp>
        <p:nvSpPr>
          <p:cNvPr id="19" name="Shape 17"/>
          <p:cNvSpPr/>
          <p:nvPr/>
        </p:nvSpPr>
        <p:spPr>
          <a:xfrm>
            <a:off x="4389120" y="3968496"/>
            <a:ext cx="91440" cy="914400"/>
          </a:xfrm>
          <a:prstGeom prst="rect">
            <a:avLst/>
          </a:prstGeom>
          <a:solidFill>
            <a:srgbClr val="1E6FD9"/>
          </a:solidFill>
          <a:ln w="12700">
            <a:solidFill>
              <a:srgbClr val="1E6FD9"/>
            </a:solidFill>
            <a:prstDash val="solid"/>
          </a:ln>
        </p:spPr>
      </p:sp>
      <p:sp>
        <p:nvSpPr>
          <p:cNvPr id="20" name="Text 18"/>
          <p:cNvSpPr txBox="1"/>
          <p:nvPr/>
        </p:nvSpPr>
        <p:spPr>
          <a:xfrm>
            <a:off x="4617720" y="4014216"/>
            <a:ext cx="3840480" cy="274320"/>
          </a:xfrm>
          <a:prstGeom prst="rect">
            <a:avLst/>
          </a:prstGeom>
          <a:noFill/>
          <a:ln/>
        </p:spPr>
        <p:txBody>
          <a:bodyPr wrap="square" lIns="0" tIns="0" rIns="0" bIns="0" rtlCol="0" anchor="ctr"/>
          <a:lstStyle/>
          <a:p>
            <a:pPr indent="0" marL="0">
              <a:buNone/>
            </a:pPr>
            <a:r>
              <a:rPr lang="en-US" sz="1300" b="1" dirty="0">
                <a:solidFill>
                  <a:srgbClr val="1E6FD9"/>
                </a:solidFill>
                <a:latin typeface="Cambria" pitchFamily="34" charset="0"/>
                <a:ea typeface="Cambria" pitchFamily="34" charset="-122"/>
                <a:cs typeface="Cambria" pitchFamily="34" charset="-120"/>
              </a:rPr>
              <a:t>Main administrator</a:t>
            </a:r>
            <a:endParaRPr lang="en-US" sz="1300" dirty="0"/>
          </a:p>
        </p:txBody>
      </p:sp>
      <p:sp>
        <p:nvSpPr>
          <p:cNvPr id="21" name="Text 19"/>
          <p:cNvSpPr txBox="1"/>
          <p:nvPr/>
        </p:nvSpPr>
        <p:spPr>
          <a:xfrm>
            <a:off x="4617720" y="4315968"/>
            <a:ext cx="3886200" cy="530352"/>
          </a:xfrm>
          <a:prstGeom prst="rect">
            <a:avLst/>
          </a:prstGeom>
          <a:noFill/>
          <a:ln/>
        </p:spPr>
        <p:txBody>
          <a:bodyPr wrap="square" lIns="0" tIns="0" rIns="0" bIns="0" rtlCol="0" anchor="t"/>
          <a:lstStyle/>
          <a:p>
            <a:pPr marL="342900" indent="-342900">
              <a:buSzPct val="100000"/>
              <a:buChar char="•"/>
            </a:pPr>
            <a:r>
              <a:rPr lang="en-US" sz="1000" dirty="0">
                <a:solidFill>
                  <a:srgbClr val="14213D"/>
                </a:solidFill>
                <a:latin typeface="Calibri" pitchFamily="34" charset="0"/>
                <a:ea typeface="Calibri" pitchFamily="34" charset="-122"/>
                <a:cs typeface="Calibri" pitchFamily="34" charset="-120"/>
              </a:rPr>
              <a:t>Admin whose Firebase user ID is registered in the app</a:t>
            </a:r>
            <a:endParaRPr lang="en-US" sz="1000" dirty="0"/>
          </a:p>
          <a:p>
            <a:pPr marL="342900" indent="-342900">
              <a:buSzPct val="100000"/>
              <a:buChar char="•"/>
            </a:pPr>
            <a:r>
              <a:rPr lang="en-US" sz="1000" dirty="0">
                <a:solidFill>
                  <a:srgbClr val="14213D"/>
                </a:solidFill>
                <a:latin typeface="Calibri" pitchFamily="34" charset="0"/>
                <a:ea typeface="Calibri" pitchFamily="34" charset="-122"/>
                <a:cs typeface="Calibri" pitchFamily="34" charset="-120"/>
              </a:rPr>
              <a:t>Only this account can open Manage Users, approve pending admins and remove admin rights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9FF"/>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E6FD9"/>
          </a:solidFill>
          <a:ln w="12700">
            <a:solidFill>
              <a:srgbClr val="1E6FD9"/>
            </a:solidFill>
            <a:prstDash val="solid"/>
          </a:ln>
        </p:spPr>
      </p:sp>
      <p:sp>
        <p:nvSpPr>
          <p:cNvPr id="3" name="Text 1"/>
          <p:cNvSpPr txBox="1"/>
          <p:nvPr/>
        </p:nvSpPr>
        <p:spPr>
          <a:xfrm>
            <a:off x="548640" y="91440"/>
            <a:ext cx="7680960" cy="228600"/>
          </a:xfrm>
          <a:prstGeom prst="rect">
            <a:avLst/>
          </a:prstGeom>
          <a:noFill/>
          <a:ln/>
        </p:spPr>
        <p:txBody>
          <a:bodyPr wrap="square" lIns="0" tIns="0" rIns="0" bIns="0" rtlCol="0" anchor="ctr"/>
          <a:lstStyle/>
          <a:p>
            <a:pPr indent="0" marL="0">
              <a:buNone/>
            </a:pPr>
            <a:r>
              <a:rPr lang="en-US" sz="900" b="1" spc="200" kern="0" dirty="0">
                <a:solidFill>
                  <a:srgbClr val="1E6FD9"/>
                </a:solidFill>
                <a:latin typeface="Calibri" pitchFamily="34" charset="0"/>
                <a:ea typeface="Calibri" pitchFamily="34" charset="-122"/>
                <a:cs typeface="Calibri" pitchFamily="34" charset="-120"/>
              </a:rPr>
              <a:t>SYSTEM OVERVIEW</a:t>
            </a:r>
            <a:endParaRPr lang="en-US" sz="900" dirty="0"/>
          </a:p>
        </p:txBody>
      </p:sp>
      <p:sp>
        <p:nvSpPr>
          <p:cNvPr id="4" name="Text 2"/>
          <p:cNvSpPr txBox="1"/>
          <p:nvPr/>
        </p:nvSpPr>
        <p:spPr>
          <a:xfrm>
            <a:off x="548640" y="320040"/>
            <a:ext cx="8229600" cy="640080"/>
          </a:xfrm>
          <a:prstGeom prst="rect">
            <a:avLst/>
          </a:prstGeom>
          <a:noFill/>
          <a:ln/>
        </p:spPr>
        <p:txBody>
          <a:bodyPr wrap="square" lIns="0" tIns="0" rIns="0" bIns="0" rtlCol="0" anchor="ctr"/>
          <a:lstStyle/>
          <a:p>
            <a:pPr indent="0" marL="0">
              <a:buNone/>
            </a:pPr>
            <a:r>
              <a:rPr lang="en-US" sz="3000" b="1" dirty="0">
                <a:solidFill>
                  <a:srgbClr val="0B2A5B"/>
                </a:solidFill>
                <a:latin typeface="Cambria" pitchFamily="34" charset="0"/>
                <a:ea typeface="Cambria" pitchFamily="34" charset="-122"/>
                <a:cs typeface="Cambria" pitchFamily="34" charset="-120"/>
              </a:rPr>
              <a:t>Main Features (1 of 2)</a:t>
            </a:r>
            <a:endParaRPr lang="en-US" sz="3000" dirty="0"/>
          </a:p>
        </p:txBody>
      </p:sp>
      <p:sp>
        <p:nvSpPr>
          <p:cNvPr id="5" name="Shape 3"/>
          <p:cNvSpPr/>
          <p:nvPr/>
        </p:nvSpPr>
        <p:spPr>
          <a:xfrm>
            <a:off x="548640" y="1188720"/>
            <a:ext cx="2560320" cy="1691640"/>
          </a:xfrm>
          <a:prstGeom prst="roundRect">
            <a:avLst>
              <a:gd name="adj" fmla="val 6486"/>
            </a:avLst>
          </a:prstGeom>
          <a:solidFill>
            <a:srgbClr val="FFFFFF"/>
          </a:solidFill>
          <a:ln w="12700">
            <a:solidFill>
              <a:srgbClr val="D6E4F7"/>
            </a:solidFill>
            <a:prstDash val="solid"/>
          </a:ln>
        </p:spPr>
      </p:sp>
      <p:sp>
        <p:nvSpPr>
          <p:cNvPr id="6" name="Shape 4"/>
          <p:cNvSpPr/>
          <p:nvPr/>
        </p:nvSpPr>
        <p:spPr>
          <a:xfrm>
            <a:off x="685800" y="1325880"/>
            <a:ext cx="457200" cy="457200"/>
          </a:xfrm>
          <a:prstGeom prst="ellipse">
            <a:avLst/>
          </a:prstGeom>
          <a:solidFill>
            <a:srgbClr val="1E6FD9"/>
          </a:solidFill>
          <a:ln w="12700">
            <a:solidFill>
              <a:srgbClr val="1E6FD9"/>
            </a:solidFill>
            <a:prstDash val="solid"/>
          </a:ln>
        </p:spPr>
      </p:sp>
      <p:pic>
        <p:nvPicPr>
          <p:cNvPr id="7" name="Image 0" descr="preencoded.png">    </p:cNvPr>
          <p:cNvPicPr>
            <a:picLocks noChangeAspect="1"/>
          </p:cNvPicPr>
          <p:nvPr/>
        </p:nvPicPr>
        <p:blipFill>
          <a:blip r:embed="rId1"/>
          <a:stretch>
            <a:fillRect/>
          </a:stretch>
        </p:blipFill>
        <p:spPr>
          <a:xfrm>
            <a:off x="800100" y="1440180"/>
            <a:ext cx="228600" cy="228600"/>
          </a:xfrm>
          <a:prstGeom prst="rect">
            <a:avLst/>
          </a:prstGeom>
        </p:spPr>
      </p:pic>
      <p:sp>
        <p:nvSpPr>
          <p:cNvPr id="8" name="Text 5"/>
          <p:cNvSpPr txBox="1"/>
          <p:nvPr/>
        </p:nvSpPr>
        <p:spPr>
          <a:xfrm>
            <a:off x="1261872" y="1325880"/>
            <a:ext cx="1737360" cy="457200"/>
          </a:xfrm>
          <a:prstGeom prst="rect">
            <a:avLst/>
          </a:prstGeom>
          <a:noFill/>
          <a:ln/>
        </p:spPr>
        <p:txBody>
          <a:bodyPr wrap="square" lIns="0" tIns="0" rIns="0" bIns="0" rtlCol="0" anchor="ctr"/>
          <a:lstStyle/>
          <a:p>
            <a:pPr indent="0" marL="0">
              <a:buNone/>
            </a:pPr>
            <a:r>
              <a:rPr lang="en-US" sz="1350" b="1" dirty="0">
                <a:solidFill>
                  <a:srgbClr val="0B2A5B"/>
                </a:solidFill>
                <a:latin typeface="Cambria" pitchFamily="34" charset="0"/>
                <a:ea typeface="Cambria" pitchFamily="34" charset="-122"/>
                <a:cs typeface="Cambria" pitchFamily="34" charset="-120"/>
              </a:rPr>
              <a:t>Welcome screen</a:t>
            </a:r>
            <a:endParaRPr lang="en-US" sz="1350" dirty="0"/>
          </a:p>
        </p:txBody>
      </p:sp>
      <p:sp>
        <p:nvSpPr>
          <p:cNvPr id="9" name="Text 6"/>
          <p:cNvSpPr txBox="1"/>
          <p:nvPr/>
        </p:nvSpPr>
        <p:spPr>
          <a:xfrm>
            <a:off x="685800" y="1874520"/>
            <a:ext cx="2286000" cy="960120"/>
          </a:xfrm>
          <a:prstGeom prst="rect">
            <a:avLst/>
          </a:prstGeom>
          <a:noFill/>
          <a:ln/>
        </p:spPr>
        <p:txBody>
          <a:bodyPr wrap="square" lIns="0" tIns="0" rIns="0" bIns="0" rtlCol="0" anchor="t"/>
          <a:lstStyle/>
          <a:p>
            <a:pPr indent="0" marL="0">
              <a:buNone/>
            </a:pPr>
            <a:r>
              <a:rPr lang="en-US" sz="1050" dirty="0">
                <a:solidFill>
                  <a:srgbClr val="14213D"/>
                </a:solidFill>
                <a:latin typeface="Calibri" pitchFamily="34" charset="0"/>
                <a:ea typeface="Calibri" pitchFamily="34" charset="-122"/>
                <a:cs typeface="Calibri" pitchFamily="34" charset="-120"/>
              </a:rPr>
              <a:t>Get Started (register), Login (student) and Login as Admin buttons.</a:t>
            </a:r>
            <a:endParaRPr lang="en-US" sz="1050" dirty="0"/>
          </a:p>
        </p:txBody>
      </p:sp>
      <p:sp>
        <p:nvSpPr>
          <p:cNvPr id="10" name="Shape 7"/>
          <p:cNvSpPr/>
          <p:nvPr/>
        </p:nvSpPr>
        <p:spPr>
          <a:xfrm>
            <a:off x="3291840" y="1188720"/>
            <a:ext cx="2560320" cy="1691640"/>
          </a:xfrm>
          <a:prstGeom prst="roundRect">
            <a:avLst>
              <a:gd name="adj" fmla="val 6486"/>
            </a:avLst>
          </a:prstGeom>
          <a:solidFill>
            <a:srgbClr val="FFFFFF"/>
          </a:solidFill>
          <a:ln w="12700">
            <a:solidFill>
              <a:srgbClr val="D6E4F7"/>
            </a:solidFill>
            <a:prstDash val="solid"/>
          </a:ln>
        </p:spPr>
      </p:sp>
      <p:sp>
        <p:nvSpPr>
          <p:cNvPr id="11" name="Shape 8"/>
          <p:cNvSpPr/>
          <p:nvPr/>
        </p:nvSpPr>
        <p:spPr>
          <a:xfrm>
            <a:off x="3429000" y="1325880"/>
            <a:ext cx="457200" cy="457200"/>
          </a:xfrm>
          <a:prstGeom prst="ellipse">
            <a:avLst/>
          </a:prstGeom>
          <a:solidFill>
            <a:srgbClr val="3B9CF0"/>
          </a:solidFill>
          <a:ln w="12700">
            <a:solidFill>
              <a:srgbClr val="3B9CF0"/>
            </a:solidFill>
            <a:prstDash val="solid"/>
          </a:ln>
        </p:spPr>
      </p:sp>
      <p:pic>
        <p:nvPicPr>
          <p:cNvPr id="12" name="Image 1" descr="preencoded.png">    </p:cNvPr>
          <p:cNvPicPr>
            <a:picLocks noChangeAspect="1"/>
          </p:cNvPicPr>
          <p:nvPr/>
        </p:nvPicPr>
        <p:blipFill>
          <a:blip r:embed="rId2"/>
          <a:stretch>
            <a:fillRect/>
          </a:stretch>
        </p:blipFill>
        <p:spPr>
          <a:xfrm>
            <a:off x="3543300" y="1440180"/>
            <a:ext cx="228600" cy="228600"/>
          </a:xfrm>
          <a:prstGeom prst="rect">
            <a:avLst/>
          </a:prstGeom>
        </p:spPr>
      </p:pic>
      <p:sp>
        <p:nvSpPr>
          <p:cNvPr id="13" name="Text 9"/>
          <p:cNvSpPr txBox="1"/>
          <p:nvPr/>
        </p:nvSpPr>
        <p:spPr>
          <a:xfrm>
            <a:off x="4005072" y="1325880"/>
            <a:ext cx="1737360" cy="457200"/>
          </a:xfrm>
          <a:prstGeom prst="rect">
            <a:avLst/>
          </a:prstGeom>
          <a:noFill/>
          <a:ln/>
        </p:spPr>
        <p:txBody>
          <a:bodyPr wrap="square" lIns="0" tIns="0" rIns="0" bIns="0" rtlCol="0" anchor="ctr"/>
          <a:lstStyle/>
          <a:p>
            <a:pPr indent="0" marL="0">
              <a:buNone/>
            </a:pPr>
            <a:r>
              <a:rPr lang="en-US" sz="1350" b="1" dirty="0">
                <a:solidFill>
                  <a:srgbClr val="0B2A5B"/>
                </a:solidFill>
                <a:latin typeface="Cambria" pitchFamily="34" charset="0"/>
                <a:ea typeface="Cambria" pitchFamily="34" charset="-122"/>
                <a:cs typeface="Cambria" pitchFamily="34" charset="-120"/>
              </a:rPr>
              <a:t>Account management</a:t>
            </a:r>
            <a:endParaRPr lang="en-US" sz="1350" dirty="0"/>
          </a:p>
        </p:txBody>
      </p:sp>
      <p:sp>
        <p:nvSpPr>
          <p:cNvPr id="14" name="Text 10"/>
          <p:cNvSpPr txBox="1"/>
          <p:nvPr/>
        </p:nvSpPr>
        <p:spPr>
          <a:xfrm>
            <a:off x="3429000" y="1874520"/>
            <a:ext cx="2286000" cy="960120"/>
          </a:xfrm>
          <a:prstGeom prst="rect">
            <a:avLst/>
          </a:prstGeom>
          <a:noFill/>
          <a:ln/>
        </p:spPr>
        <p:txBody>
          <a:bodyPr wrap="square" lIns="0" tIns="0" rIns="0" bIns="0" rtlCol="0" anchor="t"/>
          <a:lstStyle/>
          <a:p>
            <a:pPr indent="0" marL="0">
              <a:buNone/>
            </a:pPr>
            <a:r>
              <a:rPr lang="en-US" sz="1050" dirty="0">
                <a:solidFill>
                  <a:srgbClr val="14213D"/>
                </a:solidFill>
                <a:latin typeface="Calibri" pitchFamily="34" charset="0"/>
                <a:ea typeface="Calibri" pitchFamily="34" charset="-122"/>
                <a:cs typeface="Calibri" pitchFamily="34" charset="-120"/>
              </a:rPr>
              <a:t>Registration with name, student number, email, phone and password; login; password reset by email.</a:t>
            </a:r>
            <a:endParaRPr lang="en-US" sz="1050" dirty="0"/>
          </a:p>
        </p:txBody>
      </p:sp>
      <p:sp>
        <p:nvSpPr>
          <p:cNvPr id="15" name="Shape 11"/>
          <p:cNvSpPr/>
          <p:nvPr/>
        </p:nvSpPr>
        <p:spPr>
          <a:xfrm>
            <a:off x="6035040" y="1188720"/>
            <a:ext cx="2560320" cy="1691640"/>
          </a:xfrm>
          <a:prstGeom prst="roundRect">
            <a:avLst>
              <a:gd name="adj" fmla="val 6486"/>
            </a:avLst>
          </a:prstGeom>
          <a:solidFill>
            <a:srgbClr val="FFFFFF"/>
          </a:solidFill>
          <a:ln w="12700">
            <a:solidFill>
              <a:srgbClr val="D6E4F7"/>
            </a:solidFill>
            <a:prstDash val="solid"/>
          </a:ln>
        </p:spPr>
      </p:sp>
      <p:sp>
        <p:nvSpPr>
          <p:cNvPr id="16" name="Shape 12"/>
          <p:cNvSpPr/>
          <p:nvPr/>
        </p:nvSpPr>
        <p:spPr>
          <a:xfrm>
            <a:off x="6172200" y="1325880"/>
            <a:ext cx="457200" cy="457200"/>
          </a:xfrm>
          <a:prstGeom prst="ellipse">
            <a:avLst/>
          </a:prstGeom>
          <a:solidFill>
            <a:srgbClr val="1E6FD9"/>
          </a:solidFill>
          <a:ln w="12700">
            <a:solidFill>
              <a:srgbClr val="1E6FD9"/>
            </a:solidFill>
            <a:prstDash val="solid"/>
          </a:ln>
        </p:spPr>
      </p:sp>
      <p:pic>
        <p:nvPicPr>
          <p:cNvPr id="17" name="Image 2" descr="preencoded.png">    </p:cNvPr>
          <p:cNvPicPr>
            <a:picLocks noChangeAspect="1"/>
          </p:cNvPicPr>
          <p:nvPr/>
        </p:nvPicPr>
        <p:blipFill>
          <a:blip r:embed="rId3"/>
          <a:stretch>
            <a:fillRect/>
          </a:stretch>
        </p:blipFill>
        <p:spPr>
          <a:xfrm>
            <a:off x="6286500" y="1440180"/>
            <a:ext cx="228600" cy="228600"/>
          </a:xfrm>
          <a:prstGeom prst="rect">
            <a:avLst/>
          </a:prstGeom>
        </p:spPr>
      </p:pic>
      <p:sp>
        <p:nvSpPr>
          <p:cNvPr id="18" name="Text 13"/>
          <p:cNvSpPr txBox="1"/>
          <p:nvPr/>
        </p:nvSpPr>
        <p:spPr>
          <a:xfrm>
            <a:off x="6748272" y="1325880"/>
            <a:ext cx="1737360" cy="457200"/>
          </a:xfrm>
          <a:prstGeom prst="rect">
            <a:avLst/>
          </a:prstGeom>
          <a:noFill/>
          <a:ln/>
        </p:spPr>
        <p:txBody>
          <a:bodyPr wrap="square" lIns="0" tIns="0" rIns="0" bIns="0" rtlCol="0" anchor="ctr"/>
          <a:lstStyle/>
          <a:p>
            <a:pPr indent="0" marL="0">
              <a:buNone/>
            </a:pPr>
            <a:r>
              <a:rPr lang="en-US" sz="1350" b="1" dirty="0">
                <a:solidFill>
                  <a:srgbClr val="0B2A5B"/>
                </a:solidFill>
                <a:latin typeface="Cambria" pitchFamily="34" charset="0"/>
                <a:ea typeface="Cambria" pitchFamily="34" charset="-122"/>
                <a:cs typeface="Cambria" pitchFamily="34" charset="-120"/>
              </a:rPr>
              <a:t>Report an item</a:t>
            </a:r>
            <a:endParaRPr lang="en-US" sz="1350" dirty="0"/>
          </a:p>
        </p:txBody>
      </p:sp>
      <p:sp>
        <p:nvSpPr>
          <p:cNvPr id="19" name="Text 14"/>
          <p:cNvSpPr txBox="1"/>
          <p:nvPr/>
        </p:nvSpPr>
        <p:spPr>
          <a:xfrm>
            <a:off x="6172200" y="1874520"/>
            <a:ext cx="2286000" cy="960120"/>
          </a:xfrm>
          <a:prstGeom prst="rect">
            <a:avLst/>
          </a:prstGeom>
          <a:noFill/>
          <a:ln/>
        </p:spPr>
        <p:txBody>
          <a:bodyPr wrap="square" lIns="0" tIns="0" rIns="0" bIns="0" rtlCol="0" anchor="t"/>
          <a:lstStyle/>
          <a:p>
            <a:pPr indent="0" marL="0">
              <a:buNone/>
            </a:pPr>
            <a:r>
              <a:rPr lang="en-US" sz="1050" dirty="0">
                <a:solidFill>
                  <a:srgbClr val="14213D"/>
                </a:solidFill>
                <a:latin typeface="Calibri" pitchFamily="34" charset="0"/>
                <a:ea typeface="Calibri" pitchFamily="34" charset="-122"/>
                <a:cs typeface="Calibri" pitchFamily="34" charset="-120"/>
              </a:rPr>
              <a:t>Choose Lost or Found, pick a category, enter title, description and location, then press Analyse &amp; Submit.</a:t>
            </a:r>
            <a:endParaRPr lang="en-US" sz="1050" dirty="0"/>
          </a:p>
        </p:txBody>
      </p:sp>
      <p:sp>
        <p:nvSpPr>
          <p:cNvPr id="20" name="Shape 15"/>
          <p:cNvSpPr/>
          <p:nvPr/>
        </p:nvSpPr>
        <p:spPr>
          <a:xfrm>
            <a:off x="548640" y="3017520"/>
            <a:ext cx="2560320" cy="1691640"/>
          </a:xfrm>
          <a:prstGeom prst="roundRect">
            <a:avLst>
              <a:gd name="adj" fmla="val 6486"/>
            </a:avLst>
          </a:prstGeom>
          <a:solidFill>
            <a:srgbClr val="FFFFFF"/>
          </a:solidFill>
          <a:ln w="12700">
            <a:solidFill>
              <a:srgbClr val="D6E4F7"/>
            </a:solidFill>
            <a:prstDash val="solid"/>
          </a:ln>
        </p:spPr>
      </p:sp>
      <p:sp>
        <p:nvSpPr>
          <p:cNvPr id="21" name="Shape 16"/>
          <p:cNvSpPr/>
          <p:nvPr/>
        </p:nvSpPr>
        <p:spPr>
          <a:xfrm>
            <a:off x="685800" y="3154680"/>
            <a:ext cx="457200" cy="457200"/>
          </a:xfrm>
          <a:prstGeom prst="ellipse">
            <a:avLst/>
          </a:prstGeom>
          <a:solidFill>
            <a:srgbClr val="3B9CF0"/>
          </a:solidFill>
          <a:ln w="12700">
            <a:solidFill>
              <a:srgbClr val="3B9CF0"/>
            </a:solidFill>
            <a:prstDash val="solid"/>
          </a:ln>
        </p:spPr>
      </p:sp>
      <p:pic>
        <p:nvPicPr>
          <p:cNvPr id="22" name="Image 3" descr="preencoded.png">    </p:cNvPr>
          <p:cNvPicPr>
            <a:picLocks noChangeAspect="1"/>
          </p:cNvPicPr>
          <p:nvPr/>
        </p:nvPicPr>
        <p:blipFill>
          <a:blip r:embed="rId4"/>
          <a:stretch>
            <a:fillRect/>
          </a:stretch>
        </p:blipFill>
        <p:spPr>
          <a:xfrm>
            <a:off x="800100" y="3268980"/>
            <a:ext cx="228600" cy="228600"/>
          </a:xfrm>
          <a:prstGeom prst="rect">
            <a:avLst/>
          </a:prstGeom>
        </p:spPr>
      </p:pic>
      <p:sp>
        <p:nvSpPr>
          <p:cNvPr id="23" name="Text 17"/>
          <p:cNvSpPr txBox="1"/>
          <p:nvPr/>
        </p:nvSpPr>
        <p:spPr>
          <a:xfrm>
            <a:off x="1261872" y="3154680"/>
            <a:ext cx="1737360" cy="457200"/>
          </a:xfrm>
          <a:prstGeom prst="rect">
            <a:avLst/>
          </a:prstGeom>
          <a:noFill/>
          <a:ln/>
        </p:spPr>
        <p:txBody>
          <a:bodyPr wrap="square" lIns="0" tIns="0" rIns="0" bIns="0" rtlCol="0" anchor="ctr"/>
          <a:lstStyle/>
          <a:p>
            <a:pPr indent="0" marL="0">
              <a:buNone/>
            </a:pPr>
            <a:r>
              <a:rPr lang="en-US" sz="1350" b="1" dirty="0">
                <a:solidFill>
                  <a:srgbClr val="0B2A5B"/>
                </a:solidFill>
                <a:latin typeface="Cambria" pitchFamily="34" charset="0"/>
                <a:ea typeface="Cambria" pitchFamily="34" charset="-122"/>
                <a:cs typeface="Cambria" pitchFamily="34" charset="-120"/>
              </a:rPr>
              <a:t>AI priority analysis</a:t>
            </a:r>
            <a:endParaRPr lang="en-US" sz="1350" dirty="0"/>
          </a:p>
        </p:txBody>
      </p:sp>
      <p:sp>
        <p:nvSpPr>
          <p:cNvPr id="24" name="Text 18"/>
          <p:cNvSpPr txBox="1"/>
          <p:nvPr/>
        </p:nvSpPr>
        <p:spPr>
          <a:xfrm>
            <a:off x="685800" y="3703320"/>
            <a:ext cx="2286000" cy="960120"/>
          </a:xfrm>
          <a:prstGeom prst="rect">
            <a:avLst/>
          </a:prstGeom>
          <a:noFill/>
          <a:ln/>
        </p:spPr>
        <p:txBody>
          <a:bodyPr wrap="square" lIns="0" tIns="0" rIns="0" bIns="0" rtlCol="0" anchor="t"/>
          <a:lstStyle/>
          <a:p>
            <a:pPr indent="0" marL="0">
              <a:buNone/>
            </a:pPr>
            <a:r>
              <a:rPr lang="en-US" sz="1050" dirty="0">
                <a:solidFill>
                  <a:srgbClr val="14213D"/>
                </a:solidFill>
                <a:latin typeface="Calibri" pitchFamily="34" charset="0"/>
                <a:ea typeface="Calibri" pitchFamily="34" charset="-122"/>
                <a:cs typeface="Calibri" pitchFamily="34" charset="-120"/>
              </a:rPr>
              <a:t>Gives priority, score, reason and an “automatically approved” or “sent to admin for review” decision.</a:t>
            </a:r>
            <a:endParaRPr lang="en-US" sz="1050" dirty="0"/>
          </a:p>
        </p:txBody>
      </p:sp>
      <p:sp>
        <p:nvSpPr>
          <p:cNvPr id="25" name="Shape 19"/>
          <p:cNvSpPr/>
          <p:nvPr/>
        </p:nvSpPr>
        <p:spPr>
          <a:xfrm>
            <a:off x="3291840" y="3017520"/>
            <a:ext cx="2560320" cy="1691640"/>
          </a:xfrm>
          <a:prstGeom prst="roundRect">
            <a:avLst>
              <a:gd name="adj" fmla="val 6486"/>
            </a:avLst>
          </a:prstGeom>
          <a:solidFill>
            <a:srgbClr val="FFFFFF"/>
          </a:solidFill>
          <a:ln w="12700">
            <a:solidFill>
              <a:srgbClr val="D6E4F7"/>
            </a:solidFill>
            <a:prstDash val="solid"/>
          </a:ln>
        </p:spPr>
      </p:sp>
      <p:sp>
        <p:nvSpPr>
          <p:cNvPr id="26" name="Shape 20"/>
          <p:cNvSpPr/>
          <p:nvPr/>
        </p:nvSpPr>
        <p:spPr>
          <a:xfrm>
            <a:off x="3429000" y="3154680"/>
            <a:ext cx="457200" cy="457200"/>
          </a:xfrm>
          <a:prstGeom prst="ellipse">
            <a:avLst/>
          </a:prstGeom>
          <a:solidFill>
            <a:srgbClr val="1E6FD9"/>
          </a:solidFill>
          <a:ln w="12700">
            <a:solidFill>
              <a:srgbClr val="1E6FD9"/>
            </a:solidFill>
            <a:prstDash val="solid"/>
          </a:ln>
        </p:spPr>
      </p:sp>
      <p:pic>
        <p:nvPicPr>
          <p:cNvPr id="27" name="Image 4" descr="preencoded.png">    </p:cNvPr>
          <p:cNvPicPr>
            <a:picLocks noChangeAspect="1"/>
          </p:cNvPicPr>
          <p:nvPr/>
        </p:nvPicPr>
        <p:blipFill>
          <a:blip r:embed="rId5"/>
          <a:stretch>
            <a:fillRect/>
          </a:stretch>
        </p:blipFill>
        <p:spPr>
          <a:xfrm>
            <a:off x="3543300" y="3268980"/>
            <a:ext cx="228600" cy="228600"/>
          </a:xfrm>
          <a:prstGeom prst="rect">
            <a:avLst/>
          </a:prstGeom>
        </p:spPr>
      </p:pic>
      <p:sp>
        <p:nvSpPr>
          <p:cNvPr id="28" name="Text 21"/>
          <p:cNvSpPr txBox="1"/>
          <p:nvPr/>
        </p:nvSpPr>
        <p:spPr>
          <a:xfrm>
            <a:off x="4005072" y="3154680"/>
            <a:ext cx="1737360" cy="457200"/>
          </a:xfrm>
          <a:prstGeom prst="rect">
            <a:avLst/>
          </a:prstGeom>
          <a:noFill/>
          <a:ln/>
        </p:spPr>
        <p:txBody>
          <a:bodyPr wrap="square" lIns="0" tIns="0" rIns="0" bIns="0" rtlCol="0" anchor="ctr"/>
          <a:lstStyle/>
          <a:p>
            <a:pPr indent="0" marL="0">
              <a:buNone/>
            </a:pPr>
            <a:r>
              <a:rPr lang="en-US" sz="1350" b="1" dirty="0">
                <a:solidFill>
                  <a:srgbClr val="0B2A5B"/>
                </a:solidFill>
                <a:latin typeface="Cambria" pitchFamily="34" charset="0"/>
                <a:ea typeface="Cambria" pitchFamily="34" charset="-122"/>
                <a:cs typeface="Cambria" pitchFamily="34" charset="-120"/>
              </a:rPr>
              <a:t>Home dashboard</a:t>
            </a:r>
            <a:endParaRPr lang="en-US" sz="1350" dirty="0"/>
          </a:p>
        </p:txBody>
      </p:sp>
      <p:sp>
        <p:nvSpPr>
          <p:cNvPr id="29" name="Text 22"/>
          <p:cNvSpPr txBox="1"/>
          <p:nvPr/>
        </p:nvSpPr>
        <p:spPr>
          <a:xfrm>
            <a:off x="3429000" y="3703320"/>
            <a:ext cx="2286000" cy="960120"/>
          </a:xfrm>
          <a:prstGeom prst="rect">
            <a:avLst/>
          </a:prstGeom>
          <a:noFill/>
          <a:ln/>
        </p:spPr>
        <p:txBody>
          <a:bodyPr wrap="square" lIns="0" tIns="0" rIns="0" bIns="0" rtlCol="0" anchor="t"/>
          <a:lstStyle/>
          <a:p>
            <a:pPr indent="0" marL="0">
              <a:buNone/>
            </a:pPr>
            <a:r>
              <a:rPr lang="en-US" sz="1050" dirty="0">
                <a:solidFill>
                  <a:srgbClr val="14213D"/>
                </a:solidFill>
                <a:latin typeface="Calibri" pitchFamily="34" charset="0"/>
                <a:ea typeface="Calibri" pitchFamily="34" charset="-122"/>
                <a:cs typeface="Calibri" pitchFamily="34" charset="-120"/>
              </a:rPr>
              <a:t>Greeting, notification bell, live search bar, category cards (Electronics, Books, Accessories, Others), the latest five approved reports and an unread-messages badge.</a:t>
            </a:r>
            <a:endParaRPr lang="en-US" sz="1050" dirty="0"/>
          </a:p>
        </p:txBody>
      </p:sp>
      <p:sp>
        <p:nvSpPr>
          <p:cNvPr id="30" name="Shape 23"/>
          <p:cNvSpPr/>
          <p:nvPr/>
        </p:nvSpPr>
        <p:spPr>
          <a:xfrm>
            <a:off x="6035040" y="3017520"/>
            <a:ext cx="2560320" cy="1691640"/>
          </a:xfrm>
          <a:prstGeom prst="roundRect">
            <a:avLst>
              <a:gd name="adj" fmla="val 6486"/>
            </a:avLst>
          </a:prstGeom>
          <a:solidFill>
            <a:srgbClr val="FFFFFF"/>
          </a:solidFill>
          <a:ln w="12700">
            <a:solidFill>
              <a:srgbClr val="D6E4F7"/>
            </a:solidFill>
            <a:prstDash val="solid"/>
          </a:ln>
        </p:spPr>
      </p:sp>
      <p:sp>
        <p:nvSpPr>
          <p:cNvPr id="31" name="Shape 24"/>
          <p:cNvSpPr/>
          <p:nvPr/>
        </p:nvSpPr>
        <p:spPr>
          <a:xfrm>
            <a:off x="6172200" y="3154680"/>
            <a:ext cx="457200" cy="457200"/>
          </a:xfrm>
          <a:prstGeom prst="ellipse">
            <a:avLst/>
          </a:prstGeom>
          <a:solidFill>
            <a:srgbClr val="3B9CF0"/>
          </a:solidFill>
          <a:ln w="12700">
            <a:solidFill>
              <a:srgbClr val="3B9CF0"/>
            </a:solidFill>
            <a:prstDash val="solid"/>
          </a:ln>
        </p:spPr>
      </p:sp>
      <p:pic>
        <p:nvPicPr>
          <p:cNvPr id="32" name="Image 5" descr="preencoded.png">    </p:cNvPr>
          <p:cNvPicPr>
            <a:picLocks noChangeAspect="1"/>
          </p:cNvPicPr>
          <p:nvPr/>
        </p:nvPicPr>
        <p:blipFill>
          <a:blip r:embed="rId6"/>
          <a:stretch>
            <a:fillRect/>
          </a:stretch>
        </p:blipFill>
        <p:spPr>
          <a:xfrm>
            <a:off x="6286500" y="3268980"/>
            <a:ext cx="228600" cy="228600"/>
          </a:xfrm>
          <a:prstGeom prst="rect">
            <a:avLst/>
          </a:prstGeom>
        </p:spPr>
      </p:pic>
      <p:sp>
        <p:nvSpPr>
          <p:cNvPr id="33" name="Text 25"/>
          <p:cNvSpPr txBox="1"/>
          <p:nvPr/>
        </p:nvSpPr>
        <p:spPr>
          <a:xfrm>
            <a:off x="6748272" y="3154680"/>
            <a:ext cx="1737360" cy="457200"/>
          </a:xfrm>
          <a:prstGeom prst="rect">
            <a:avLst/>
          </a:prstGeom>
          <a:noFill/>
          <a:ln/>
        </p:spPr>
        <p:txBody>
          <a:bodyPr wrap="square" lIns="0" tIns="0" rIns="0" bIns="0" rtlCol="0" anchor="ctr"/>
          <a:lstStyle/>
          <a:p>
            <a:pPr indent="0" marL="0">
              <a:buNone/>
            </a:pPr>
            <a:r>
              <a:rPr lang="en-US" sz="1350" b="1" dirty="0">
                <a:solidFill>
                  <a:srgbClr val="0B2A5B"/>
                </a:solidFill>
                <a:latin typeface="Cambria" pitchFamily="34" charset="0"/>
                <a:ea typeface="Cambria" pitchFamily="34" charset="-122"/>
                <a:cs typeface="Cambria" pitchFamily="34" charset="-120"/>
              </a:rPr>
              <a:t>My Reports / Browse</a:t>
            </a:r>
            <a:endParaRPr lang="en-US" sz="1350" dirty="0"/>
          </a:p>
        </p:txBody>
      </p:sp>
      <p:sp>
        <p:nvSpPr>
          <p:cNvPr id="34" name="Text 26"/>
          <p:cNvSpPr txBox="1"/>
          <p:nvPr/>
        </p:nvSpPr>
        <p:spPr>
          <a:xfrm>
            <a:off x="6172200" y="3703320"/>
            <a:ext cx="2286000" cy="960120"/>
          </a:xfrm>
          <a:prstGeom prst="rect">
            <a:avLst/>
          </a:prstGeom>
          <a:noFill/>
          <a:ln/>
        </p:spPr>
        <p:txBody>
          <a:bodyPr wrap="square" lIns="0" tIns="0" rIns="0" bIns="0" rtlCol="0" anchor="t"/>
          <a:lstStyle/>
          <a:p>
            <a:pPr indent="0" marL="0">
              <a:buNone/>
            </a:pPr>
            <a:r>
              <a:rPr lang="en-US" sz="1050" dirty="0">
                <a:solidFill>
                  <a:srgbClr val="14213D"/>
                </a:solidFill>
                <a:latin typeface="Calibri" pitchFamily="34" charset="0"/>
                <a:ea typeface="Calibri" pitchFamily="34" charset="-122"/>
                <a:cs typeface="Calibri" pitchFamily="34" charset="-120"/>
              </a:rPr>
              <a:t>Tabbed Lost / Found lists of approved reports; “View all” browses every user's approved reports.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9FF"/>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E6FD9"/>
          </a:solidFill>
          <a:ln w="12700">
            <a:solidFill>
              <a:srgbClr val="1E6FD9"/>
            </a:solidFill>
            <a:prstDash val="solid"/>
          </a:ln>
        </p:spPr>
      </p:sp>
      <p:sp>
        <p:nvSpPr>
          <p:cNvPr id="3" name="Text 1"/>
          <p:cNvSpPr txBox="1"/>
          <p:nvPr/>
        </p:nvSpPr>
        <p:spPr>
          <a:xfrm>
            <a:off x="548640" y="91440"/>
            <a:ext cx="7680960" cy="228600"/>
          </a:xfrm>
          <a:prstGeom prst="rect">
            <a:avLst/>
          </a:prstGeom>
          <a:noFill/>
          <a:ln/>
        </p:spPr>
        <p:txBody>
          <a:bodyPr wrap="square" lIns="0" tIns="0" rIns="0" bIns="0" rtlCol="0" anchor="ctr"/>
          <a:lstStyle/>
          <a:p>
            <a:pPr indent="0" marL="0">
              <a:buNone/>
            </a:pPr>
            <a:r>
              <a:rPr lang="en-US" sz="900" b="1" spc="200" kern="0" dirty="0">
                <a:solidFill>
                  <a:srgbClr val="1E6FD9"/>
                </a:solidFill>
                <a:latin typeface="Calibri" pitchFamily="34" charset="0"/>
                <a:ea typeface="Calibri" pitchFamily="34" charset="-122"/>
                <a:cs typeface="Calibri" pitchFamily="34" charset="-120"/>
              </a:rPr>
              <a:t>SYSTEM OVERVIEW</a:t>
            </a:r>
            <a:endParaRPr lang="en-US" sz="900" dirty="0"/>
          </a:p>
        </p:txBody>
      </p:sp>
      <p:sp>
        <p:nvSpPr>
          <p:cNvPr id="4" name="Text 2"/>
          <p:cNvSpPr txBox="1"/>
          <p:nvPr/>
        </p:nvSpPr>
        <p:spPr>
          <a:xfrm>
            <a:off x="548640" y="320040"/>
            <a:ext cx="8229600" cy="640080"/>
          </a:xfrm>
          <a:prstGeom prst="rect">
            <a:avLst/>
          </a:prstGeom>
          <a:noFill/>
          <a:ln/>
        </p:spPr>
        <p:txBody>
          <a:bodyPr wrap="square" lIns="0" tIns="0" rIns="0" bIns="0" rtlCol="0" anchor="ctr"/>
          <a:lstStyle/>
          <a:p>
            <a:pPr indent="0" marL="0">
              <a:buNone/>
            </a:pPr>
            <a:r>
              <a:rPr lang="en-US" sz="3000" b="1" dirty="0">
                <a:solidFill>
                  <a:srgbClr val="0B2A5B"/>
                </a:solidFill>
                <a:latin typeface="Cambria" pitchFamily="34" charset="0"/>
                <a:ea typeface="Cambria" pitchFamily="34" charset="-122"/>
                <a:cs typeface="Cambria" pitchFamily="34" charset="-120"/>
              </a:rPr>
              <a:t>Main Features (2 of 2)</a:t>
            </a:r>
            <a:endParaRPr lang="en-US" sz="3000" dirty="0"/>
          </a:p>
        </p:txBody>
      </p:sp>
      <p:sp>
        <p:nvSpPr>
          <p:cNvPr id="5" name="Shape 3"/>
          <p:cNvSpPr/>
          <p:nvPr/>
        </p:nvSpPr>
        <p:spPr>
          <a:xfrm>
            <a:off x="548640" y="1188720"/>
            <a:ext cx="2560320" cy="1691640"/>
          </a:xfrm>
          <a:prstGeom prst="roundRect">
            <a:avLst>
              <a:gd name="adj" fmla="val 6486"/>
            </a:avLst>
          </a:prstGeom>
          <a:solidFill>
            <a:srgbClr val="FFFFFF"/>
          </a:solidFill>
          <a:ln w="12700">
            <a:solidFill>
              <a:srgbClr val="D6E4F7"/>
            </a:solidFill>
            <a:prstDash val="solid"/>
          </a:ln>
        </p:spPr>
      </p:sp>
      <p:sp>
        <p:nvSpPr>
          <p:cNvPr id="6" name="Shape 4"/>
          <p:cNvSpPr/>
          <p:nvPr/>
        </p:nvSpPr>
        <p:spPr>
          <a:xfrm>
            <a:off x="685800" y="1325880"/>
            <a:ext cx="457200" cy="457200"/>
          </a:xfrm>
          <a:prstGeom prst="ellipse">
            <a:avLst/>
          </a:prstGeom>
          <a:solidFill>
            <a:srgbClr val="1E6FD9"/>
          </a:solidFill>
          <a:ln w="12700">
            <a:solidFill>
              <a:srgbClr val="1E6FD9"/>
            </a:solidFill>
            <a:prstDash val="solid"/>
          </a:ln>
        </p:spPr>
      </p:sp>
      <p:pic>
        <p:nvPicPr>
          <p:cNvPr id="7" name="Image 0" descr="preencoded.png">    </p:cNvPr>
          <p:cNvPicPr>
            <a:picLocks noChangeAspect="1"/>
          </p:cNvPicPr>
          <p:nvPr/>
        </p:nvPicPr>
        <p:blipFill>
          <a:blip r:embed="rId1"/>
          <a:stretch>
            <a:fillRect/>
          </a:stretch>
        </p:blipFill>
        <p:spPr>
          <a:xfrm>
            <a:off x="800100" y="1440180"/>
            <a:ext cx="228600" cy="228600"/>
          </a:xfrm>
          <a:prstGeom prst="rect">
            <a:avLst/>
          </a:prstGeom>
        </p:spPr>
      </p:pic>
      <p:sp>
        <p:nvSpPr>
          <p:cNvPr id="8" name="Text 5"/>
          <p:cNvSpPr txBox="1"/>
          <p:nvPr/>
        </p:nvSpPr>
        <p:spPr>
          <a:xfrm>
            <a:off x="1261872" y="1325880"/>
            <a:ext cx="1737360" cy="457200"/>
          </a:xfrm>
          <a:prstGeom prst="rect">
            <a:avLst/>
          </a:prstGeom>
          <a:noFill/>
          <a:ln/>
        </p:spPr>
        <p:txBody>
          <a:bodyPr wrap="square" lIns="0" tIns="0" rIns="0" bIns="0" rtlCol="0" anchor="ctr"/>
          <a:lstStyle/>
          <a:p>
            <a:pPr indent="0" marL="0">
              <a:buNone/>
            </a:pPr>
            <a:r>
              <a:rPr lang="en-US" sz="1350" b="1" dirty="0">
                <a:solidFill>
                  <a:srgbClr val="0B2A5B"/>
                </a:solidFill>
                <a:latin typeface="Cambria" pitchFamily="34" charset="0"/>
                <a:ea typeface="Cambria" pitchFamily="34" charset="-122"/>
                <a:cs typeface="Cambria" pitchFamily="34" charset="-120"/>
              </a:rPr>
              <a:t>Item details</a:t>
            </a:r>
            <a:endParaRPr lang="en-US" sz="1350" dirty="0"/>
          </a:p>
        </p:txBody>
      </p:sp>
      <p:sp>
        <p:nvSpPr>
          <p:cNvPr id="9" name="Text 6"/>
          <p:cNvSpPr txBox="1"/>
          <p:nvPr/>
        </p:nvSpPr>
        <p:spPr>
          <a:xfrm>
            <a:off x="685800" y="1874520"/>
            <a:ext cx="2286000" cy="960120"/>
          </a:xfrm>
          <a:prstGeom prst="rect">
            <a:avLst/>
          </a:prstGeom>
          <a:noFill/>
          <a:ln/>
        </p:spPr>
        <p:txBody>
          <a:bodyPr wrap="square" lIns="0" tIns="0" rIns="0" bIns="0" rtlCol="0" anchor="t"/>
          <a:lstStyle/>
          <a:p>
            <a:pPr indent="0" marL="0">
              <a:buNone/>
            </a:pPr>
            <a:r>
              <a:rPr lang="en-US" sz="1050" dirty="0">
                <a:solidFill>
                  <a:srgbClr val="14213D"/>
                </a:solidFill>
                <a:latin typeface="Calibri" pitchFamily="34" charset="0"/>
                <a:ea typeface="Calibri" pitchFamily="34" charset="-122"/>
                <a:cs typeface="Calibri" pitchFamily="34" charset="-120"/>
              </a:rPr>
              <a:t>Details, status badge, Contact button (email) and, for the owner, a Mark as Resolved / Claimed button.</a:t>
            </a:r>
            <a:endParaRPr lang="en-US" sz="1050" dirty="0"/>
          </a:p>
        </p:txBody>
      </p:sp>
      <p:sp>
        <p:nvSpPr>
          <p:cNvPr id="10" name="Shape 7"/>
          <p:cNvSpPr/>
          <p:nvPr/>
        </p:nvSpPr>
        <p:spPr>
          <a:xfrm>
            <a:off x="3291840" y="1188720"/>
            <a:ext cx="2560320" cy="1691640"/>
          </a:xfrm>
          <a:prstGeom prst="roundRect">
            <a:avLst>
              <a:gd name="adj" fmla="val 6486"/>
            </a:avLst>
          </a:prstGeom>
          <a:solidFill>
            <a:srgbClr val="FFFFFF"/>
          </a:solidFill>
          <a:ln w="12700">
            <a:solidFill>
              <a:srgbClr val="D6E4F7"/>
            </a:solidFill>
            <a:prstDash val="solid"/>
          </a:ln>
        </p:spPr>
      </p:sp>
      <p:sp>
        <p:nvSpPr>
          <p:cNvPr id="11" name="Shape 8"/>
          <p:cNvSpPr/>
          <p:nvPr/>
        </p:nvSpPr>
        <p:spPr>
          <a:xfrm>
            <a:off x="3429000" y="1325880"/>
            <a:ext cx="457200" cy="457200"/>
          </a:xfrm>
          <a:prstGeom prst="ellipse">
            <a:avLst/>
          </a:prstGeom>
          <a:solidFill>
            <a:srgbClr val="3B9CF0"/>
          </a:solidFill>
          <a:ln w="12700">
            <a:solidFill>
              <a:srgbClr val="3B9CF0"/>
            </a:solidFill>
            <a:prstDash val="solid"/>
          </a:ln>
        </p:spPr>
      </p:sp>
      <p:pic>
        <p:nvPicPr>
          <p:cNvPr id="12" name="Image 1" descr="preencoded.png">    </p:cNvPr>
          <p:cNvPicPr>
            <a:picLocks noChangeAspect="1"/>
          </p:cNvPicPr>
          <p:nvPr/>
        </p:nvPicPr>
        <p:blipFill>
          <a:blip r:embed="rId2"/>
          <a:stretch>
            <a:fillRect/>
          </a:stretch>
        </p:blipFill>
        <p:spPr>
          <a:xfrm>
            <a:off x="3543300" y="1440180"/>
            <a:ext cx="228600" cy="228600"/>
          </a:xfrm>
          <a:prstGeom prst="rect">
            <a:avLst/>
          </a:prstGeom>
        </p:spPr>
      </p:pic>
      <p:sp>
        <p:nvSpPr>
          <p:cNvPr id="13" name="Text 9"/>
          <p:cNvSpPr txBox="1"/>
          <p:nvPr/>
        </p:nvSpPr>
        <p:spPr>
          <a:xfrm>
            <a:off x="4005072" y="1325880"/>
            <a:ext cx="1737360" cy="457200"/>
          </a:xfrm>
          <a:prstGeom prst="rect">
            <a:avLst/>
          </a:prstGeom>
          <a:noFill/>
          <a:ln/>
        </p:spPr>
        <p:txBody>
          <a:bodyPr wrap="square" lIns="0" tIns="0" rIns="0" bIns="0" rtlCol="0" anchor="ctr"/>
          <a:lstStyle/>
          <a:p>
            <a:pPr indent="0" marL="0">
              <a:buNone/>
            </a:pPr>
            <a:r>
              <a:rPr lang="en-US" sz="1350" b="1" dirty="0">
                <a:solidFill>
                  <a:srgbClr val="0B2A5B"/>
                </a:solidFill>
                <a:latin typeface="Cambria" pitchFamily="34" charset="0"/>
                <a:ea typeface="Cambria" pitchFamily="34" charset="-122"/>
                <a:cs typeface="Cambria" pitchFamily="34" charset="-120"/>
              </a:rPr>
              <a:t>Notifications</a:t>
            </a:r>
            <a:endParaRPr lang="en-US" sz="1350" dirty="0"/>
          </a:p>
        </p:txBody>
      </p:sp>
      <p:sp>
        <p:nvSpPr>
          <p:cNvPr id="14" name="Text 10"/>
          <p:cNvSpPr txBox="1"/>
          <p:nvPr/>
        </p:nvSpPr>
        <p:spPr>
          <a:xfrm>
            <a:off x="3429000" y="1874520"/>
            <a:ext cx="2286000" cy="960120"/>
          </a:xfrm>
          <a:prstGeom prst="rect">
            <a:avLst/>
          </a:prstGeom>
          <a:noFill/>
          <a:ln/>
        </p:spPr>
        <p:txBody>
          <a:bodyPr wrap="square" lIns="0" tIns="0" rIns="0" bIns="0" rtlCol="0" anchor="t"/>
          <a:lstStyle/>
          <a:p>
            <a:pPr indent="0" marL="0">
              <a:buNone/>
            </a:pPr>
            <a:r>
              <a:rPr lang="en-US" sz="1050" dirty="0">
                <a:solidFill>
                  <a:srgbClr val="14213D"/>
                </a:solidFill>
                <a:latin typeface="Calibri" pitchFamily="34" charset="0"/>
                <a:ea typeface="Calibri" pitchFamily="34" charset="-122"/>
                <a:cs typeface="Calibri" pitchFamily="34" charset="-120"/>
              </a:rPr>
              <a:t>List of decisions made by administrators on the student's reports, with unread highlighting.</a:t>
            </a:r>
            <a:endParaRPr lang="en-US" sz="1050" dirty="0"/>
          </a:p>
        </p:txBody>
      </p:sp>
      <p:sp>
        <p:nvSpPr>
          <p:cNvPr id="15" name="Shape 11"/>
          <p:cNvSpPr/>
          <p:nvPr/>
        </p:nvSpPr>
        <p:spPr>
          <a:xfrm>
            <a:off x="6035040" y="1188720"/>
            <a:ext cx="2560320" cy="1691640"/>
          </a:xfrm>
          <a:prstGeom prst="roundRect">
            <a:avLst>
              <a:gd name="adj" fmla="val 6486"/>
            </a:avLst>
          </a:prstGeom>
          <a:solidFill>
            <a:srgbClr val="FFFFFF"/>
          </a:solidFill>
          <a:ln w="12700">
            <a:solidFill>
              <a:srgbClr val="D6E4F7"/>
            </a:solidFill>
            <a:prstDash val="solid"/>
          </a:ln>
        </p:spPr>
      </p:sp>
      <p:sp>
        <p:nvSpPr>
          <p:cNvPr id="16" name="Shape 12"/>
          <p:cNvSpPr/>
          <p:nvPr/>
        </p:nvSpPr>
        <p:spPr>
          <a:xfrm>
            <a:off x="6172200" y="1325880"/>
            <a:ext cx="457200" cy="457200"/>
          </a:xfrm>
          <a:prstGeom prst="ellipse">
            <a:avLst/>
          </a:prstGeom>
          <a:solidFill>
            <a:srgbClr val="1E6FD9"/>
          </a:solidFill>
          <a:ln w="12700">
            <a:solidFill>
              <a:srgbClr val="1E6FD9"/>
            </a:solidFill>
            <a:prstDash val="solid"/>
          </a:ln>
        </p:spPr>
      </p:sp>
      <p:pic>
        <p:nvPicPr>
          <p:cNvPr id="17" name="Image 2" descr="preencoded.png">    </p:cNvPr>
          <p:cNvPicPr>
            <a:picLocks noChangeAspect="1"/>
          </p:cNvPicPr>
          <p:nvPr/>
        </p:nvPicPr>
        <p:blipFill>
          <a:blip r:embed="rId3"/>
          <a:stretch>
            <a:fillRect/>
          </a:stretch>
        </p:blipFill>
        <p:spPr>
          <a:xfrm>
            <a:off x="6286500" y="1440180"/>
            <a:ext cx="228600" cy="228600"/>
          </a:xfrm>
          <a:prstGeom prst="rect">
            <a:avLst/>
          </a:prstGeom>
        </p:spPr>
      </p:pic>
      <p:sp>
        <p:nvSpPr>
          <p:cNvPr id="18" name="Text 13"/>
          <p:cNvSpPr txBox="1"/>
          <p:nvPr/>
        </p:nvSpPr>
        <p:spPr>
          <a:xfrm>
            <a:off x="6748272" y="1325880"/>
            <a:ext cx="1737360" cy="457200"/>
          </a:xfrm>
          <a:prstGeom prst="rect">
            <a:avLst/>
          </a:prstGeom>
          <a:noFill/>
          <a:ln/>
        </p:spPr>
        <p:txBody>
          <a:bodyPr wrap="square" lIns="0" tIns="0" rIns="0" bIns="0" rtlCol="0" anchor="ctr"/>
          <a:lstStyle/>
          <a:p>
            <a:pPr indent="0" marL="0">
              <a:buNone/>
            </a:pPr>
            <a:r>
              <a:rPr lang="en-US" sz="1350" b="1" dirty="0">
                <a:solidFill>
                  <a:srgbClr val="0B2A5B"/>
                </a:solidFill>
                <a:latin typeface="Cambria" pitchFamily="34" charset="0"/>
                <a:ea typeface="Cambria" pitchFamily="34" charset="-122"/>
                <a:cs typeface="Cambria" pitchFamily="34" charset="-120"/>
              </a:rPr>
              <a:t>Messages</a:t>
            </a:r>
            <a:endParaRPr lang="en-US" sz="1350" dirty="0"/>
          </a:p>
        </p:txBody>
      </p:sp>
      <p:sp>
        <p:nvSpPr>
          <p:cNvPr id="19" name="Text 14"/>
          <p:cNvSpPr txBox="1"/>
          <p:nvPr/>
        </p:nvSpPr>
        <p:spPr>
          <a:xfrm>
            <a:off x="6172200" y="1874520"/>
            <a:ext cx="2286000" cy="960120"/>
          </a:xfrm>
          <a:prstGeom prst="rect">
            <a:avLst/>
          </a:prstGeom>
          <a:noFill/>
          <a:ln/>
        </p:spPr>
        <p:txBody>
          <a:bodyPr wrap="square" lIns="0" tIns="0" rIns="0" bIns="0" rtlCol="0" anchor="t"/>
          <a:lstStyle/>
          <a:p>
            <a:pPr indent="0" marL="0">
              <a:buNone/>
            </a:pPr>
            <a:r>
              <a:rPr lang="en-US" sz="1050" dirty="0">
                <a:solidFill>
                  <a:srgbClr val="14213D"/>
                </a:solidFill>
                <a:latin typeface="Calibri" pitchFamily="34" charset="0"/>
                <a:ea typeface="Calibri" pitchFamily="34" charset="-122"/>
                <a:cs typeface="Calibri" pitchFamily="34" charset="-120"/>
              </a:rPr>
              <a:t>Chat-style conversation between a student and the administrators.</a:t>
            </a:r>
            <a:endParaRPr lang="en-US" sz="1050" dirty="0"/>
          </a:p>
        </p:txBody>
      </p:sp>
      <p:sp>
        <p:nvSpPr>
          <p:cNvPr id="20" name="Shape 15"/>
          <p:cNvSpPr/>
          <p:nvPr/>
        </p:nvSpPr>
        <p:spPr>
          <a:xfrm>
            <a:off x="548640" y="3017520"/>
            <a:ext cx="2560320" cy="1691640"/>
          </a:xfrm>
          <a:prstGeom prst="roundRect">
            <a:avLst>
              <a:gd name="adj" fmla="val 6486"/>
            </a:avLst>
          </a:prstGeom>
          <a:solidFill>
            <a:srgbClr val="FFFFFF"/>
          </a:solidFill>
          <a:ln w="12700">
            <a:solidFill>
              <a:srgbClr val="D6E4F7"/>
            </a:solidFill>
            <a:prstDash val="solid"/>
          </a:ln>
        </p:spPr>
      </p:sp>
      <p:sp>
        <p:nvSpPr>
          <p:cNvPr id="21" name="Shape 16"/>
          <p:cNvSpPr/>
          <p:nvPr/>
        </p:nvSpPr>
        <p:spPr>
          <a:xfrm>
            <a:off x="685800" y="3154680"/>
            <a:ext cx="457200" cy="457200"/>
          </a:xfrm>
          <a:prstGeom prst="ellipse">
            <a:avLst/>
          </a:prstGeom>
          <a:solidFill>
            <a:srgbClr val="3B9CF0"/>
          </a:solidFill>
          <a:ln w="12700">
            <a:solidFill>
              <a:srgbClr val="3B9CF0"/>
            </a:solidFill>
            <a:prstDash val="solid"/>
          </a:ln>
        </p:spPr>
      </p:sp>
      <p:pic>
        <p:nvPicPr>
          <p:cNvPr id="22" name="Image 3" descr="preencoded.png">    </p:cNvPr>
          <p:cNvPicPr>
            <a:picLocks noChangeAspect="1"/>
          </p:cNvPicPr>
          <p:nvPr/>
        </p:nvPicPr>
        <p:blipFill>
          <a:blip r:embed="rId4"/>
          <a:stretch>
            <a:fillRect/>
          </a:stretch>
        </p:blipFill>
        <p:spPr>
          <a:xfrm>
            <a:off x="800100" y="3268980"/>
            <a:ext cx="228600" cy="228600"/>
          </a:xfrm>
          <a:prstGeom prst="rect">
            <a:avLst/>
          </a:prstGeom>
        </p:spPr>
      </p:pic>
      <p:sp>
        <p:nvSpPr>
          <p:cNvPr id="23" name="Text 17"/>
          <p:cNvSpPr txBox="1"/>
          <p:nvPr/>
        </p:nvSpPr>
        <p:spPr>
          <a:xfrm>
            <a:off x="1261872" y="3154680"/>
            <a:ext cx="1737360" cy="457200"/>
          </a:xfrm>
          <a:prstGeom prst="rect">
            <a:avLst/>
          </a:prstGeom>
          <a:noFill/>
          <a:ln/>
        </p:spPr>
        <p:txBody>
          <a:bodyPr wrap="square" lIns="0" tIns="0" rIns="0" bIns="0" rtlCol="0" anchor="ctr"/>
          <a:lstStyle/>
          <a:p>
            <a:pPr indent="0" marL="0">
              <a:buNone/>
            </a:pPr>
            <a:r>
              <a:rPr lang="en-US" sz="1350" b="1" dirty="0">
                <a:solidFill>
                  <a:srgbClr val="0B2A5B"/>
                </a:solidFill>
                <a:latin typeface="Cambria" pitchFamily="34" charset="0"/>
                <a:ea typeface="Cambria" pitchFamily="34" charset="-122"/>
                <a:cs typeface="Cambria" pitchFamily="34" charset="-120"/>
              </a:rPr>
              <a:t>Admin dashboard</a:t>
            </a:r>
            <a:endParaRPr lang="en-US" sz="1350" dirty="0"/>
          </a:p>
        </p:txBody>
      </p:sp>
      <p:sp>
        <p:nvSpPr>
          <p:cNvPr id="24" name="Text 18"/>
          <p:cNvSpPr txBox="1"/>
          <p:nvPr/>
        </p:nvSpPr>
        <p:spPr>
          <a:xfrm>
            <a:off x="685800" y="3703320"/>
            <a:ext cx="2286000" cy="960120"/>
          </a:xfrm>
          <a:prstGeom prst="rect">
            <a:avLst/>
          </a:prstGeom>
          <a:noFill/>
          <a:ln/>
        </p:spPr>
        <p:txBody>
          <a:bodyPr wrap="square" lIns="0" tIns="0" rIns="0" bIns="0" rtlCol="0" anchor="t"/>
          <a:lstStyle/>
          <a:p>
            <a:pPr indent="0" marL="0">
              <a:buNone/>
            </a:pPr>
            <a:r>
              <a:rPr lang="en-US" sz="1050" dirty="0">
                <a:solidFill>
                  <a:srgbClr val="14213D"/>
                </a:solidFill>
                <a:latin typeface="Calibri" pitchFamily="34" charset="0"/>
                <a:ea typeface="Calibri" pitchFamily="34" charset="-122"/>
                <a:cs typeface="Calibri" pitchFamily="34" charset="-120"/>
              </a:rPr>
              <a:t>View Reports, Student Messages and Manage Users shortcuts.</a:t>
            </a:r>
            <a:endParaRPr lang="en-US" sz="1050" dirty="0"/>
          </a:p>
        </p:txBody>
      </p:sp>
      <p:sp>
        <p:nvSpPr>
          <p:cNvPr id="25" name="Shape 19"/>
          <p:cNvSpPr/>
          <p:nvPr/>
        </p:nvSpPr>
        <p:spPr>
          <a:xfrm>
            <a:off x="3291840" y="3017520"/>
            <a:ext cx="2560320" cy="1691640"/>
          </a:xfrm>
          <a:prstGeom prst="roundRect">
            <a:avLst>
              <a:gd name="adj" fmla="val 6486"/>
            </a:avLst>
          </a:prstGeom>
          <a:solidFill>
            <a:srgbClr val="FFFFFF"/>
          </a:solidFill>
          <a:ln w="12700">
            <a:solidFill>
              <a:srgbClr val="D6E4F7"/>
            </a:solidFill>
            <a:prstDash val="solid"/>
          </a:ln>
        </p:spPr>
      </p:sp>
      <p:sp>
        <p:nvSpPr>
          <p:cNvPr id="26" name="Shape 20"/>
          <p:cNvSpPr/>
          <p:nvPr/>
        </p:nvSpPr>
        <p:spPr>
          <a:xfrm>
            <a:off x="3429000" y="3154680"/>
            <a:ext cx="457200" cy="457200"/>
          </a:xfrm>
          <a:prstGeom prst="ellipse">
            <a:avLst/>
          </a:prstGeom>
          <a:solidFill>
            <a:srgbClr val="1E6FD9"/>
          </a:solidFill>
          <a:ln w="12700">
            <a:solidFill>
              <a:srgbClr val="1E6FD9"/>
            </a:solidFill>
            <a:prstDash val="solid"/>
          </a:ln>
        </p:spPr>
      </p:sp>
      <p:pic>
        <p:nvPicPr>
          <p:cNvPr id="27" name="Image 4" descr="preencoded.png">    </p:cNvPr>
          <p:cNvPicPr>
            <a:picLocks noChangeAspect="1"/>
          </p:cNvPicPr>
          <p:nvPr/>
        </p:nvPicPr>
        <p:blipFill>
          <a:blip r:embed="rId5"/>
          <a:stretch>
            <a:fillRect/>
          </a:stretch>
        </p:blipFill>
        <p:spPr>
          <a:xfrm>
            <a:off x="3543300" y="3268980"/>
            <a:ext cx="228600" cy="228600"/>
          </a:xfrm>
          <a:prstGeom prst="rect">
            <a:avLst/>
          </a:prstGeom>
        </p:spPr>
      </p:pic>
      <p:sp>
        <p:nvSpPr>
          <p:cNvPr id="28" name="Text 21"/>
          <p:cNvSpPr txBox="1"/>
          <p:nvPr/>
        </p:nvSpPr>
        <p:spPr>
          <a:xfrm>
            <a:off x="4005072" y="3154680"/>
            <a:ext cx="1737360" cy="457200"/>
          </a:xfrm>
          <a:prstGeom prst="rect">
            <a:avLst/>
          </a:prstGeom>
          <a:noFill/>
          <a:ln/>
        </p:spPr>
        <p:txBody>
          <a:bodyPr wrap="square" lIns="0" tIns="0" rIns="0" bIns="0" rtlCol="0" anchor="ctr"/>
          <a:lstStyle/>
          <a:p>
            <a:pPr indent="0" marL="0">
              <a:buNone/>
            </a:pPr>
            <a:r>
              <a:rPr lang="en-US" sz="1350" b="1" dirty="0">
                <a:solidFill>
                  <a:srgbClr val="0B2A5B"/>
                </a:solidFill>
                <a:latin typeface="Cambria" pitchFamily="34" charset="0"/>
                <a:ea typeface="Cambria" pitchFamily="34" charset="-122"/>
                <a:cs typeface="Cambria" pitchFamily="34" charset="-120"/>
              </a:rPr>
              <a:t>Report moderation</a:t>
            </a:r>
            <a:endParaRPr lang="en-US" sz="1350" dirty="0"/>
          </a:p>
        </p:txBody>
      </p:sp>
      <p:sp>
        <p:nvSpPr>
          <p:cNvPr id="29" name="Text 22"/>
          <p:cNvSpPr txBox="1"/>
          <p:nvPr/>
        </p:nvSpPr>
        <p:spPr>
          <a:xfrm>
            <a:off x="3429000" y="3703320"/>
            <a:ext cx="2286000" cy="960120"/>
          </a:xfrm>
          <a:prstGeom prst="rect">
            <a:avLst/>
          </a:prstGeom>
          <a:noFill/>
          <a:ln/>
        </p:spPr>
        <p:txBody>
          <a:bodyPr wrap="square" lIns="0" tIns="0" rIns="0" bIns="0" rtlCol="0" anchor="t"/>
          <a:lstStyle/>
          <a:p>
            <a:pPr indent="0" marL="0">
              <a:buNone/>
            </a:pPr>
            <a:r>
              <a:rPr lang="en-US" sz="1050" dirty="0">
                <a:solidFill>
                  <a:srgbClr val="14213D"/>
                </a:solidFill>
                <a:latin typeface="Calibri" pitchFamily="34" charset="0"/>
                <a:ea typeface="Calibri" pitchFamily="34" charset="-122"/>
                <a:cs typeface="Calibri" pitchFamily="34" charset="-120"/>
              </a:rPr>
              <a:t>Status filter (All, Pending, Approved, Rejected, Resolved, Claimed) and per-report approval actions.</a:t>
            </a:r>
            <a:endParaRPr lang="en-US" sz="1050" dirty="0"/>
          </a:p>
        </p:txBody>
      </p:sp>
      <p:sp>
        <p:nvSpPr>
          <p:cNvPr id="30" name="Shape 23"/>
          <p:cNvSpPr/>
          <p:nvPr/>
        </p:nvSpPr>
        <p:spPr>
          <a:xfrm>
            <a:off x="6035040" y="3017520"/>
            <a:ext cx="2560320" cy="1691640"/>
          </a:xfrm>
          <a:prstGeom prst="roundRect">
            <a:avLst>
              <a:gd name="adj" fmla="val 6486"/>
            </a:avLst>
          </a:prstGeom>
          <a:solidFill>
            <a:srgbClr val="FFFFFF"/>
          </a:solidFill>
          <a:ln w="12700">
            <a:solidFill>
              <a:srgbClr val="D6E4F7"/>
            </a:solidFill>
            <a:prstDash val="solid"/>
          </a:ln>
        </p:spPr>
      </p:sp>
      <p:sp>
        <p:nvSpPr>
          <p:cNvPr id="31" name="Shape 24"/>
          <p:cNvSpPr/>
          <p:nvPr/>
        </p:nvSpPr>
        <p:spPr>
          <a:xfrm>
            <a:off x="6172200" y="3154680"/>
            <a:ext cx="457200" cy="457200"/>
          </a:xfrm>
          <a:prstGeom prst="ellipse">
            <a:avLst/>
          </a:prstGeom>
          <a:solidFill>
            <a:srgbClr val="3B9CF0"/>
          </a:solidFill>
          <a:ln w="12700">
            <a:solidFill>
              <a:srgbClr val="3B9CF0"/>
            </a:solidFill>
            <a:prstDash val="solid"/>
          </a:ln>
        </p:spPr>
      </p:sp>
      <p:pic>
        <p:nvPicPr>
          <p:cNvPr id="32" name="Image 5" descr="preencoded.png">    </p:cNvPr>
          <p:cNvPicPr>
            <a:picLocks noChangeAspect="1"/>
          </p:cNvPicPr>
          <p:nvPr/>
        </p:nvPicPr>
        <p:blipFill>
          <a:blip r:embed="rId6"/>
          <a:stretch>
            <a:fillRect/>
          </a:stretch>
        </p:blipFill>
        <p:spPr>
          <a:xfrm>
            <a:off x="6286500" y="3268980"/>
            <a:ext cx="228600" cy="228600"/>
          </a:xfrm>
          <a:prstGeom prst="rect">
            <a:avLst/>
          </a:prstGeom>
        </p:spPr>
      </p:pic>
      <p:sp>
        <p:nvSpPr>
          <p:cNvPr id="33" name="Text 25"/>
          <p:cNvSpPr txBox="1"/>
          <p:nvPr/>
        </p:nvSpPr>
        <p:spPr>
          <a:xfrm>
            <a:off x="6748272" y="3154680"/>
            <a:ext cx="1737360" cy="457200"/>
          </a:xfrm>
          <a:prstGeom prst="rect">
            <a:avLst/>
          </a:prstGeom>
          <a:noFill/>
          <a:ln/>
        </p:spPr>
        <p:txBody>
          <a:bodyPr wrap="square" lIns="0" tIns="0" rIns="0" bIns="0" rtlCol="0" anchor="ctr"/>
          <a:lstStyle/>
          <a:p>
            <a:pPr indent="0" marL="0">
              <a:buNone/>
            </a:pPr>
            <a:r>
              <a:rPr lang="en-US" sz="1350" b="1" dirty="0">
                <a:solidFill>
                  <a:srgbClr val="0B2A5B"/>
                </a:solidFill>
                <a:latin typeface="Cambria" pitchFamily="34" charset="0"/>
                <a:ea typeface="Cambria" pitchFamily="34" charset="-122"/>
                <a:cs typeface="Cambria" pitchFamily="34" charset="-120"/>
              </a:rPr>
              <a:t>Manage Users</a:t>
            </a:r>
            <a:endParaRPr lang="en-US" sz="1350" dirty="0"/>
          </a:p>
        </p:txBody>
      </p:sp>
      <p:sp>
        <p:nvSpPr>
          <p:cNvPr id="34" name="Text 26"/>
          <p:cNvSpPr txBox="1"/>
          <p:nvPr/>
        </p:nvSpPr>
        <p:spPr>
          <a:xfrm>
            <a:off x="6172200" y="3703320"/>
            <a:ext cx="2286000" cy="960120"/>
          </a:xfrm>
          <a:prstGeom prst="rect">
            <a:avLst/>
          </a:prstGeom>
          <a:noFill/>
          <a:ln/>
        </p:spPr>
        <p:txBody>
          <a:bodyPr wrap="square" lIns="0" tIns="0" rIns="0" bIns="0" rtlCol="0" anchor="t"/>
          <a:lstStyle/>
          <a:p>
            <a:pPr indent="0" marL="0">
              <a:buNone/>
            </a:pPr>
            <a:r>
              <a:rPr lang="en-US" sz="1050" dirty="0">
                <a:solidFill>
                  <a:srgbClr val="14213D"/>
                </a:solidFill>
                <a:latin typeface="Calibri" pitchFamily="34" charset="0"/>
                <a:ea typeface="Calibri" pitchFamily="34" charset="-122"/>
                <a:cs typeface="Calibri" pitchFamily="34" charset="-120"/>
              </a:rPr>
              <a:t>Main administrator approves or revokes administrators.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9FF"/>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E6FD9"/>
          </a:solidFill>
          <a:ln w="12700">
            <a:solidFill>
              <a:srgbClr val="1E6FD9"/>
            </a:solidFill>
            <a:prstDash val="solid"/>
          </a:ln>
        </p:spPr>
      </p:sp>
      <p:sp>
        <p:nvSpPr>
          <p:cNvPr id="3" name="Text 1"/>
          <p:cNvSpPr txBox="1"/>
          <p:nvPr/>
        </p:nvSpPr>
        <p:spPr>
          <a:xfrm>
            <a:off x="548640" y="91440"/>
            <a:ext cx="7680960" cy="228600"/>
          </a:xfrm>
          <a:prstGeom prst="rect">
            <a:avLst/>
          </a:prstGeom>
          <a:noFill/>
          <a:ln/>
        </p:spPr>
        <p:txBody>
          <a:bodyPr wrap="square" lIns="0" tIns="0" rIns="0" bIns="0" rtlCol="0" anchor="ctr"/>
          <a:lstStyle/>
          <a:p>
            <a:pPr indent="0" marL="0">
              <a:buNone/>
            </a:pPr>
            <a:r>
              <a:rPr lang="en-US" sz="900" b="1" spc="200" kern="0" dirty="0">
                <a:solidFill>
                  <a:srgbClr val="1E6FD9"/>
                </a:solidFill>
                <a:latin typeface="Calibri" pitchFamily="34" charset="0"/>
                <a:ea typeface="Calibri" pitchFamily="34" charset="-122"/>
                <a:cs typeface="Calibri" pitchFamily="34" charset="-120"/>
              </a:rPr>
              <a:t>SYSTEM OVERVIEW</a:t>
            </a:r>
            <a:endParaRPr lang="en-US" sz="900" dirty="0"/>
          </a:p>
        </p:txBody>
      </p:sp>
      <p:sp>
        <p:nvSpPr>
          <p:cNvPr id="4" name="Text 2"/>
          <p:cNvSpPr txBox="1"/>
          <p:nvPr/>
        </p:nvSpPr>
        <p:spPr>
          <a:xfrm>
            <a:off x="548640" y="320040"/>
            <a:ext cx="8229600" cy="640080"/>
          </a:xfrm>
          <a:prstGeom prst="rect">
            <a:avLst/>
          </a:prstGeom>
          <a:noFill/>
          <a:ln/>
        </p:spPr>
        <p:txBody>
          <a:bodyPr wrap="square" lIns="0" tIns="0" rIns="0" bIns="0" rtlCol="0" anchor="ctr"/>
          <a:lstStyle/>
          <a:p>
            <a:pPr indent="0" marL="0">
              <a:buNone/>
            </a:pPr>
            <a:r>
              <a:rPr lang="en-US" sz="3000" b="1" dirty="0">
                <a:solidFill>
                  <a:srgbClr val="0B2A5B"/>
                </a:solidFill>
                <a:latin typeface="Cambria" pitchFamily="34" charset="0"/>
                <a:ea typeface="Cambria" pitchFamily="34" charset="-122"/>
                <a:cs typeface="Cambria" pitchFamily="34" charset="-120"/>
              </a:rPr>
              <a:t>Student Screens</a:t>
            </a:r>
            <a:endParaRPr lang="en-US" sz="3000" dirty="0"/>
          </a:p>
        </p:txBody>
      </p:sp>
      <p:pic>
        <p:nvPicPr>
          <p:cNvPr id="5" name="Image 0" descr="pb_welcome.png">    </p:cNvPr>
          <p:cNvPicPr>
            <a:picLocks noChangeAspect="1"/>
          </p:cNvPicPr>
          <p:nvPr/>
        </p:nvPicPr>
        <p:blipFill>
          <a:blip r:embed="rId1"/>
          <a:stretch>
            <a:fillRect/>
          </a:stretch>
        </p:blipFill>
        <p:spPr>
          <a:xfrm>
            <a:off x="685800" y="1051560"/>
            <a:ext cx="1708879" cy="3474720"/>
          </a:xfrm>
          <a:prstGeom prst="rect">
            <a:avLst/>
          </a:prstGeom>
          <a:effectLst>
            <a:outerShdw sx="100000" sy="100000" kx="0" ky="0" algn="bl" rotWithShape="0" blurRad="152400" dist="50800" dir="5400000">
              <a:srgbClr val="000000">
                <a:alpha val="25000"/>
              </a:srgbClr>
            </a:outerShdw>
          </a:effectLst>
        </p:spPr>
      </p:pic>
      <p:sp>
        <p:nvSpPr>
          <p:cNvPr id="6" name="Text 3"/>
          <p:cNvSpPr txBox="1"/>
          <p:nvPr/>
        </p:nvSpPr>
        <p:spPr>
          <a:xfrm>
            <a:off x="685800" y="4572000"/>
            <a:ext cx="1709928" cy="274320"/>
          </a:xfrm>
          <a:prstGeom prst="rect">
            <a:avLst/>
          </a:prstGeom>
          <a:noFill/>
          <a:ln/>
        </p:spPr>
        <p:txBody>
          <a:bodyPr wrap="square" lIns="0" tIns="0" rIns="0" bIns="0" rtlCol="0" anchor="ctr"/>
          <a:lstStyle/>
          <a:p>
            <a:pPr algn="ctr" indent="0" marL="0">
              <a:buNone/>
            </a:pPr>
            <a:r>
              <a:rPr lang="en-US" sz="1200" b="1" dirty="0">
                <a:solidFill>
                  <a:srgbClr val="0B2A5B"/>
                </a:solidFill>
                <a:latin typeface="Calibri" pitchFamily="34" charset="0"/>
                <a:ea typeface="Calibri" pitchFamily="34" charset="-122"/>
                <a:cs typeface="Calibri" pitchFamily="34" charset="-120"/>
              </a:rPr>
              <a:t>Welcome</a:t>
            </a:r>
            <a:endParaRPr lang="en-US" sz="1200" dirty="0"/>
          </a:p>
        </p:txBody>
      </p:sp>
      <p:pic>
        <p:nvPicPr>
          <p:cNvPr id="7" name="Image 1" descr="pb_home.png">    </p:cNvPr>
          <p:cNvPicPr>
            <a:picLocks noChangeAspect="1"/>
          </p:cNvPicPr>
          <p:nvPr/>
        </p:nvPicPr>
        <p:blipFill>
          <a:blip r:embed="rId2"/>
          <a:stretch>
            <a:fillRect/>
          </a:stretch>
        </p:blipFill>
        <p:spPr>
          <a:xfrm>
            <a:off x="2743200" y="1051560"/>
            <a:ext cx="1708879" cy="3474720"/>
          </a:xfrm>
          <a:prstGeom prst="rect">
            <a:avLst/>
          </a:prstGeom>
          <a:effectLst>
            <a:outerShdw sx="100000" sy="100000" kx="0" ky="0" algn="bl" rotWithShape="0" blurRad="152400" dist="50800" dir="5400000">
              <a:srgbClr val="000000">
                <a:alpha val="25000"/>
              </a:srgbClr>
            </a:outerShdw>
          </a:effectLst>
        </p:spPr>
      </p:pic>
      <p:sp>
        <p:nvSpPr>
          <p:cNvPr id="8" name="Text 4"/>
          <p:cNvSpPr txBox="1"/>
          <p:nvPr/>
        </p:nvSpPr>
        <p:spPr>
          <a:xfrm>
            <a:off x="2743200" y="4572000"/>
            <a:ext cx="1709928" cy="274320"/>
          </a:xfrm>
          <a:prstGeom prst="rect">
            <a:avLst/>
          </a:prstGeom>
          <a:noFill/>
          <a:ln/>
        </p:spPr>
        <p:txBody>
          <a:bodyPr wrap="square" lIns="0" tIns="0" rIns="0" bIns="0" rtlCol="0" anchor="ctr"/>
          <a:lstStyle/>
          <a:p>
            <a:pPr algn="ctr" indent="0" marL="0">
              <a:buNone/>
            </a:pPr>
            <a:r>
              <a:rPr lang="en-US" sz="1200" b="1" dirty="0">
                <a:solidFill>
                  <a:srgbClr val="0B2A5B"/>
                </a:solidFill>
                <a:latin typeface="Calibri" pitchFamily="34" charset="0"/>
                <a:ea typeface="Calibri" pitchFamily="34" charset="-122"/>
                <a:cs typeface="Calibri" pitchFamily="34" charset="-120"/>
              </a:rPr>
              <a:t>Home dashboard</a:t>
            </a:r>
            <a:endParaRPr lang="en-US" sz="1200" dirty="0"/>
          </a:p>
        </p:txBody>
      </p:sp>
      <p:pic>
        <p:nvPicPr>
          <p:cNvPr id="9" name="Image 2" descr="pb_report.png">    </p:cNvPr>
          <p:cNvPicPr>
            <a:picLocks noChangeAspect="1"/>
          </p:cNvPicPr>
          <p:nvPr/>
        </p:nvPicPr>
        <p:blipFill>
          <a:blip r:embed="rId3"/>
          <a:stretch>
            <a:fillRect/>
          </a:stretch>
        </p:blipFill>
        <p:spPr>
          <a:xfrm>
            <a:off x="4800600" y="1051560"/>
            <a:ext cx="1708879" cy="3474720"/>
          </a:xfrm>
          <a:prstGeom prst="rect">
            <a:avLst/>
          </a:prstGeom>
          <a:effectLst>
            <a:outerShdw sx="100000" sy="100000" kx="0" ky="0" algn="bl" rotWithShape="0" blurRad="152400" dist="50800" dir="5400000">
              <a:srgbClr val="000000">
                <a:alpha val="25000"/>
              </a:srgbClr>
            </a:outerShdw>
          </a:effectLst>
        </p:spPr>
      </p:pic>
      <p:sp>
        <p:nvSpPr>
          <p:cNvPr id="10" name="Text 5"/>
          <p:cNvSpPr txBox="1"/>
          <p:nvPr/>
        </p:nvSpPr>
        <p:spPr>
          <a:xfrm>
            <a:off x="4800600" y="4572000"/>
            <a:ext cx="1709928" cy="274320"/>
          </a:xfrm>
          <a:prstGeom prst="rect">
            <a:avLst/>
          </a:prstGeom>
          <a:noFill/>
          <a:ln/>
        </p:spPr>
        <p:txBody>
          <a:bodyPr wrap="square" lIns="0" tIns="0" rIns="0" bIns="0" rtlCol="0" anchor="ctr"/>
          <a:lstStyle/>
          <a:p>
            <a:pPr algn="ctr" indent="0" marL="0">
              <a:buNone/>
            </a:pPr>
            <a:r>
              <a:rPr lang="en-US" sz="1200" b="1" dirty="0">
                <a:solidFill>
                  <a:srgbClr val="0B2A5B"/>
                </a:solidFill>
                <a:latin typeface="Calibri" pitchFamily="34" charset="0"/>
                <a:ea typeface="Calibri" pitchFamily="34" charset="-122"/>
                <a:cs typeface="Calibri" pitchFamily="34" charset="-120"/>
              </a:rPr>
              <a:t>Report an item</a:t>
            </a:r>
            <a:endParaRPr lang="en-US" sz="1200" dirty="0"/>
          </a:p>
        </p:txBody>
      </p:sp>
      <p:pic>
        <p:nvPicPr>
          <p:cNvPr id="11" name="Image 3" descr="pb_details.png">    </p:cNvPr>
          <p:cNvPicPr>
            <a:picLocks noChangeAspect="1"/>
          </p:cNvPicPr>
          <p:nvPr/>
        </p:nvPicPr>
        <p:blipFill>
          <a:blip r:embed="rId4"/>
          <a:stretch>
            <a:fillRect/>
          </a:stretch>
        </p:blipFill>
        <p:spPr>
          <a:xfrm>
            <a:off x="6858000" y="1051560"/>
            <a:ext cx="1708879" cy="3474720"/>
          </a:xfrm>
          <a:prstGeom prst="rect">
            <a:avLst/>
          </a:prstGeom>
          <a:effectLst>
            <a:outerShdw sx="100000" sy="100000" kx="0" ky="0" algn="bl" rotWithShape="0" blurRad="152400" dist="50800" dir="5400000">
              <a:srgbClr val="000000">
                <a:alpha val="25000"/>
              </a:srgbClr>
            </a:outerShdw>
          </a:effectLst>
        </p:spPr>
      </p:pic>
      <p:sp>
        <p:nvSpPr>
          <p:cNvPr id="12" name="Text 6"/>
          <p:cNvSpPr txBox="1"/>
          <p:nvPr/>
        </p:nvSpPr>
        <p:spPr>
          <a:xfrm>
            <a:off x="6858000" y="4572000"/>
            <a:ext cx="1709928" cy="274320"/>
          </a:xfrm>
          <a:prstGeom prst="rect">
            <a:avLst/>
          </a:prstGeom>
          <a:noFill/>
          <a:ln/>
        </p:spPr>
        <p:txBody>
          <a:bodyPr wrap="square" lIns="0" tIns="0" rIns="0" bIns="0" rtlCol="0" anchor="ctr"/>
          <a:lstStyle/>
          <a:p>
            <a:pPr algn="ctr" indent="0" marL="0">
              <a:buNone/>
            </a:pPr>
            <a:r>
              <a:rPr lang="en-US" sz="1200" b="1" dirty="0">
                <a:solidFill>
                  <a:srgbClr val="0B2A5B"/>
                </a:solidFill>
                <a:latin typeface="Calibri" pitchFamily="34" charset="0"/>
                <a:ea typeface="Calibri" pitchFamily="34" charset="-122"/>
                <a:cs typeface="Calibri" pitchFamily="34" charset="-120"/>
              </a:rPr>
              <a:t>Item details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9FF"/>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E6FD9"/>
          </a:solidFill>
          <a:ln w="12700">
            <a:solidFill>
              <a:srgbClr val="1E6FD9"/>
            </a:solidFill>
            <a:prstDash val="solid"/>
          </a:ln>
        </p:spPr>
      </p:sp>
      <p:sp>
        <p:nvSpPr>
          <p:cNvPr id="3" name="Text 1"/>
          <p:cNvSpPr txBox="1"/>
          <p:nvPr/>
        </p:nvSpPr>
        <p:spPr>
          <a:xfrm>
            <a:off x="548640" y="91440"/>
            <a:ext cx="7680960" cy="228600"/>
          </a:xfrm>
          <a:prstGeom prst="rect">
            <a:avLst/>
          </a:prstGeom>
          <a:noFill/>
          <a:ln/>
        </p:spPr>
        <p:txBody>
          <a:bodyPr wrap="square" lIns="0" tIns="0" rIns="0" bIns="0" rtlCol="0" anchor="ctr"/>
          <a:lstStyle/>
          <a:p>
            <a:pPr indent="0" marL="0">
              <a:buNone/>
            </a:pPr>
            <a:r>
              <a:rPr lang="en-US" sz="900" b="1" spc="200" kern="0" dirty="0">
                <a:solidFill>
                  <a:srgbClr val="1E6FD9"/>
                </a:solidFill>
                <a:latin typeface="Calibri" pitchFamily="34" charset="0"/>
                <a:ea typeface="Calibri" pitchFamily="34" charset="-122"/>
                <a:cs typeface="Calibri" pitchFamily="34" charset="-120"/>
              </a:rPr>
              <a:t>SYSTEM OVERVIEW</a:t>
            </a:r>
            <a:endParaRPr lang="en-US" sz="900" dirty="0"/>
          </a:p>
        </p:txBody>
      </p:sp>
      <p:sp>
        <p:nvSpPr>
          <p:cNvPr id="4" name="Text 2"/>
          <p:cNvSpPr txBox="1"/>
          <p:nvPr/>
        </p:nvSpPr>
        <p:spPr>
          <a:xfrm>
            <a:off x="548640" y="320040"/>
            <a:ext cx="8229600" cy="640080"/>
          </a:xfrm>
          <a:prstGeom prst="rect">
            <a:avLst/>
          </a:prstGeom>
          <a:noFill/>
          <a:ln/>
        </p:spPr>
        <p:txBody>
          <a:bodyPr wrap="square" lIns="0" tIns="0" rIns="0" bIns="0" rtlCol="0" anchor="ctr"/>
          <a:lstStyle/>
          <a:p>
            <a:pPr indent="0" marL="0">
              <a:buNone/>
            </a:pPr>
            <a:r>
              <a:rPr lang="en-US" sz="3000" b="1" dirty="0">
                <a:solidFill>
                  <a:srgbClr val="0B2A5B"/>
                </a:solidFill>
                <a:latin typeface="Cambria" pitchFamily="34" charset="0"/>
                <a:ea typeface="Cambria" pitchFamily="34" charset="-122"/>
                <a:cs typeface="Cambria" pitchFamily="34" charset="-120"/>
              </a:rPr>
              <a:t>Administrator Screens</a:t>
            </a:r>
            <a:endParaRPr lang="en-US" sz="3000" dirty="0"/>
          </a:p>
        </p:txBody>
      </p:sp>
      <p:pic>
        <p:nvPicPr>
          <p:cNvPr id="5" name="Image 0" descr="pb_admin.png">    </p:cNvPr>
          <p:cNvPicPr>
            <a:picLocks noChangeAspect="1"/>
          </p:cNvPicPr>
          <p:nvPr/>
        </p:nvPicPr>
        <p:blipFill>
          <a:blip r:embed="rId1"/>
          <a:stretch>
            <a:fillRect/>
          </a:stretch>
        </p:blipFill>
        <p:spPr>
          <a:xfrm>
            <a:off x="685800" y="1051560"/>
            <a:ext cx="1708879" cy="3474720"/>
          </a:xfrm>
          <a:prstGeom prst="rect">
            <a:avLst/>
          </a:prstGeom>
          <a:effectLst>
            <a:outerShdw sx="100000" sy="100000" kx="0" ky="0" algn="bl" rotWithShape="0" blurRad="152400" dist="50800" dir="5400000">
              <a:srgbClr val="000000">
                <a:alpha val="25000"/>
              </a:srgbClr>
            </a:outerShdw>
          </a:effectLst>
        </p:spPr>
      </p:pic>
      <p:sp>
        <p:nvSpPr>
          <p:cNvPr id="6" name="Text 3"/>
          <p:cNvSpPr txBox="1"/>
          <p:nvPr/>
        </p:nvSpPr>
        <p:spPr>
          <a:xfrm>
            <a:off x="685800" y="4572000"/>
            <a:ext cx="1709928" cy="274320"/>
          </a:xfrm>
          <a:prstGeom prst="rect">
            <a:avLst/>
          </a:prstGeom>
          <a:noFill/>
          <a:ln/>
        </p:spPr>
        <p:txBody>
          <a:bodyPr wrap="square" lIns="0" tIns="0" rIns="0" bIns="0" rtlCol="0" anchor="ctr"/>
          <a:lstStyle/>
          <a:p>
            <a:pPr algn="ctr" indent="0" marL="0">
              <a:buNone/>
            </a:pPr>
            <a:r>
              <a:rPr lang="en-US" sz="1200" b="1" dirty="0">
                <a:solidFill>
                  <a:srgbClr val="0B2A5B"/>
                </a:solidFill>
                <a:latin typeface="Calibri" pitchFamily="34" charset="0"/>
                <a:ea typeface="Calibri" pitchFamily="34" charset="-122"/>
                <a:cs typeface="Calibri" pitchFamily="34" charset="-120"/>
              </a:rPr>
              <a:t>Admin dashboard</a:t>
            </a:r>
            <a:endParaRPr lang="en-US" sz="1200" dirty="0"/>
          </a:p>
        </p:txBody>
      </p:sp>
      <p:pic>
        <p:nvPicPr>
          <p:cNvPr id="7" name="Image 1" descr="pb_moderation.png">    </p:cNvPr>
          <p:cNvPicPr>
            <a:picLocks noChangeAspect="1"/>
          </p:cNvPicPr>
          <p:nvPr/>
        </p:nvPicPr>
        <p:blipFill>
          <a:blip r:embed="rId2"/>
          <a:stretch>
            <a:fillRect/>
          </a:stretch>
        </p:blipFill>
        <p:spPr>
          <a:xfrm>
            <a:off x="2743200" y="1051560"/>
            <a:ext cx="1708879" cy="3474720"/>
          </a:xfrm>
          <a:prstGeom prst="rect">
            <a:avLst/>
          </a:prstGeom>
          <a:effectLst>
            <a:outerShdw sx="100000" sy="100000" kx="0" ky="0" algn="bl" rotWithShape="0" blurRad="152400" dist="50800" dir="5400000">
              <a:srgbClr val="000000">
                <a:alpha val="25000"/>
              </a:srgbClr>
            </a:outerShdw>
          </a:effectLst>
        </p:spPr>
      </p:pic>
      <p:sp>
        <p:nvSpPr>
          <p:cNvPr id="8" name="Text 4"/>
          <p:cNvSpPr txBox="1"/>
          <p:nvPr/>
        </p:nvSpPr>
        <p:spPr>
          <a:xfrm>
            <a:off x="2743200" y="4572000"/>
            <a:ext cx="1709928" cy="274320"/>
          </a:xfrm>
          <a:prstGeom prst="rect">
            <a:avLst/>
          </a:prstGeom>
          <a:noFill/>
          <a:ln/>
        </p:spPr>
        <p:txBody>
          <a:bodyPr wrap="square" lIns="0" tIns="0" rIns="0" bIns="0" rtlCol="0" anchor="ctr"/>
          <a:lstStyle/>
          <a:p>
            <a:pPr algn="ctr" indent="0" marL="0">
              <a:buNone/>
            </a:pPr>
            <a:r>
              <a:rPr lang="en-US" sz="1200" b="1" dirty="0">
                <a:solidFill>
                  <a:srgbClr val="0B2A5B"/>
                </a:solidFill>
                <a:latin typeface="Calibri" pitchFamily="34" charset="0"/>
                <a:ea typeface="Calibri" pitchFamily="34" charset="-122"/>
                <a:cs typeface="Calibri" pitchFamily="34" charset="-120"/>
              </a:rPr>
              <a:t>Report moderation</a:t>
            </a:r>
            <a:endParaRPr lang="en-US" sz="1200" dirty="0"/>
          </a:p>
        </p:txBody>
      </p:sp>
      <p:pic>
        <p:nvPicPr>
          <p:cNvPr id="9" name="Image 2" descr="pb_manage.png">    </p:cNvPr>
          <p:cNvPicPr>
            <a:picLocks noChangeAspect="1"/>
          </p:cNvPicPr>
          <p:nvPr/>
        </p:nvPicPr>
        <p:blipFill>
          <a:blip r:embed="rId3"/>
          <a:stretch>
            <a:fillRect/>
          </a:stretch>
        </p:blipFill>
        <p:spPr>
          <a:xfrm>
            <a:off x="4800600" y="1051560"/>
            <a:ext cx="1708879" cy="3474720"/>
          </a:xfrm>
          <a:prstGeom prst="rect">
            <a:avLst/>
          </a:prstGeom>
          <a:effectLst>
            <a:outerShdw sx="100000" sy="100000" kx="0" ky="0" algn="bl" rotWithShape="0" blurRad="152400" dist="50800" dir="5400000">
              <a:srgbClr val="000000">
                <a:alpha val="25000"/>
              </a:srgbClr>
            </a:outerShdw>
          </a:effectLst>
        </p:spPr>
      </p:pic>
      <p:sp>
        <p:nvSpPr>
          <p:cNvPr id="10" name="Text 5"/>
          <p:cNvSpPr txBox="1"/>
          <p:nvPr/>
        </p:nvSpPr>
        <p:spPr>
          <a:xfrm>
            <a:off x="4800600" y="4572000"/>
            <a:ext cx="1709928" cy="274320"/>
          </a:xfrm>
          <a:prstGeom prst="rect">
            <a:avLst/>
          </a:prstGeom>
          <a:noFill/>
          <a:ln/>
        </p:spPr>
        <p:txBody>
          <a:bodyPr wrap="square" lIns="0" tIns="0" rIns="0" bIns="0" rtlCol="0" anchor="ctr"/>
          <a:lstStyle/>
          <a:p>
            <a:pPr algn="ctr" indent="0" marL="0">
              <a:buNone/>
            </a:pPr>
            <a:r>
              <a:rPr lang="en-US" sz="1200" b="1" dirty="0">
                <a:solidFill>
                  <a:srgbClr val="0B2A5B"/>
                </a:solidFill>
                <a:latin typeface="Calibri" pitchFamily="34" charset="0"/>
                <a:ea typeface="Calibri" pitchFamily="34" charset="-122"/>
                <a:cs typeface="Calibri" pitchFamily="34" charset="-120"/>
              </a:rPr>
              <a:t>Manage Users</a:t>
            </a:r>
            <a:endParaRPr lang="en-US" sz="1200" dirty="0"/>
          </a:p>
        </p:txBody>
      </p:sp>
      <p:pic>
        <p:nvPicPr>
          <p:cNvPr id="11" name="Image 3" descr="pb_messages.png">    </p:cNvPr>
          <p:cNvPicPr>
            <a:picLocks noChangeAspect="1"/>
          </p:cNvPicPr>
          <p:nvPr/>
        </p:nvPicPr>
        <p:blipFill>
          <a:blip r:embed="rId4"/>
          <a:stretch>
            <a:fillRect/>
          </a:stretch>
        </p:blipFill>
        <p:spPr>
          <a:xfrm>
            <a:off x="6858000" y="1051560"/>
            <a:ext cx="1708879" cy="3474720"/>
          </a:xfrm>
          <a:prstGeom prst="rect">
            <a:avLst/>
          </a:prstGeom>
          <a:effectLst>
            <a:outerShdw sx="100000" sy="100000" kx="0" ky="0" algn="bl" rotWithShape="0" blurRad="152400" dist="50800" dir="5400000">
              <a:srgbClr val="000000">
                <a:alpha val="25000"/>
              </a:srgbClr>
            </a:outerShdw>
          </a:effectLst>
        </p:spPr>
      </p:pic>
      <p:sp>
        <p:nvSpPr>
          <p:cNvPr id="12" name="Text 6"/>
          <p:cNvSpPr txBox="1"/>
          <p:nvPr/>
        </p:nvSpPr>
        <p:spPr>
          <a:xfrm>
            <a:off x="6858000" y="4572000"/>
            <a:ext cx="1709928" cy="274320"/>
          </a:xfrm>
          <a:prstGeom prst="rect">
            <a:avLst/>
          </a:prstGeom>
          <a:noFill/>
          <a:ln/>
        </p:spPr>
        <p:txBody>
          <a:bodyPr wrap="square" lIns="0" tIns="0" rIns="0" bIns="0" rtlCol="0" anchor="ctr"/>
          <a:lstStyle/>
          <a:p>
            <a:pPr algn="ctr" indent="0" marL="0">
              <a:buNone/>
            </a:pPr>
            <a:r>
              <a:rPr lang="en-US" sz="1200" b="1" dirty="0">
                <a:solidFill>
                  <a:srgbClr val="0B2A5B"/>
                </a:solidFill>
                <a:latin typeface="Calibri" pitchFamily="34" charset="0"/>
                <a:ea typeface="Calibri" pitchFamily="34" charset="-122"/>
                <a:cs typeface="Calibri" pitchFamily="34" charset="-120"/>
              </a:rPr>
              <a:t>Messages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9FF"/>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E6FD9"/>
          </a:solidFill>
          <a:ln w="12700">
            <a:solidFill>
              <a:srgbClr val="1E6FD9"/>
            </a:solidFill>
            <a:prstDash val="solid"/>
          </a:ln>
        </p:spPr>
      </p:sp>
      <p:sp>
        <p:nvSpPr>
          <p:cNvPr id="3" name="Text 1"/>
          <p:cNvSpPr txBox="1"/>
          <p:nvPr/>
        </p:nvSpPr>
        <p:spPr>
          <a:xfrm>
            <a:off x="548640" y="91440"/>
            <a:ext cx="7680960" cy="228600"/>
          </a:xfrm>
          <a:prstGeom prst="rect">
            <a:avLst/>
          </a:prstGeom>
          <a:noFill/>
          <a:ln/>
        </p:spPr>
        <p:txBody>
          <a:bodyPr wrap="square" lIns="0" tIns="0" rIns="0" bIns="0" rtlCol="0" anchor="ctr"/>
          <a:lstStyle/>
          <a:p>
            <a:pPr indent="0" marL="0">
              <a:buNone/>
            </a:pPr>
            <a:r>
              <a:rPr lang="en-US" sz="900" b="1" spc="200" kern="0" dirty="0">
                <a:solidFill>
                  <a:srgbClr val="1E6FD9"/>
                </a:solidFill>
                <a:latin typeface="Calibri" pitchFamily="34" charset="0"/>
                <a:ea typeface="Calibri" pitchFamily="34" charset="-122"/>
                <a:cs typeface="Calibri" pitchFamily="34" charset="-120"/>
              </a:rPr>
              <a:t>TECHNOLOGY AND TOOLS</a:t>
            </a:r>
            <a:endParaRPr lang="en-US" sz="900" dirty="0"/>
          </a:p>
        </p:txBody>
      </p:sp>
      <p:sp>
        <p:nvSpPr>
          <p:cNvPr id="4" name="Text 2"/>
          <p:cNvSpPr txBox="1"/>
          <p:nvPr/>
        </p:nvSpPr>
        <p:spPr>
          <a:xfrm>
            <a:off x="548640" y="320040"/>
            <a:ext cx="8229600" cy="640080"/>
          </a:xfrm>
          <a:prstGeom prst="rect">
            <a:avLst/>
          </a:prstGeom>
          <a:noFill/>
          <a:ln/>
        </p:spPr>
        <p:txBody>
          <a:bodyPr wrap="square" lIns="0" tIns="0" rIns="0" bIns="0" rtlCol="0" anchor="ctr"/>
          <a:lstStyle/>
          <a:p>
            <a:pPr indent="0" marL="0">
              <a:buNone/>
            </a:pPr>
            <a:r>
              <a:rPr lang="en-US" sz="3000" b="1" dirty="0">
                <a:solidFill>
                  <a:srgbClr val="0B2A5B"/>
                </a:solidFill>
                <a:latin typeface="Cambria" pitchFamily="34" charset="0"/>
                <a:ea typeface="Cambria" pitchFamily="34" charset="-122"/>
                <a:cs typeface="Cambria" pitchFamily="34" charset="-120"/>
              </a:rPr>
              <a:t>Technology and Tools</a:t>
            </a:r>
            <a:endParaRPr lang="en-US" sz="3000" dirty="0"/>
          </a:p>
        </p:txBody>
      </p:sp>
      <p:sp>
        <p:nvSpPr>
          <p:cNvPr id="5" name="Shape 3"/>
          <p:cNvSpPr/>
          <p:nvPr/>
        </p:nvSpPr>
        <p:spPr>
          <a:xfrm>
            <a:off x="548640" y="1143000"/>
            <a:ext cx="1920240" cy="1097280"/>
          </a:xfrm>
          <a:prstGeom prst="roundRect">
            <a:avLst>
              <a:gd name="adj" fmla="val 10000"/>
            </a:avLst>
          </a:prstGeom>
          <a:solidFill>
            <a:srgbClr val="FFFFFF"/>
          </a:solidFill>
          <a:ln w="12700">
            <a:solidFill>
              <a:srgbClr val="D6E4F7"/>
            </a:solidFill>
            <a:prstDash val="solid"/>
          </a:ln>
        </p:spPr>
      </p:sp>
      <p:sp>
        <p:nvSpPr>
          <p:cNvPr id="6" name="Shape 4"/>
          <p:cNvSpPr/>
          <p:nvPr/>
        </p:nvSpPr>
        <p:spPr>
          <a:xfrm>
            <a:off x="658368" y="1234440"/>
            <a:ext cx="347472" cy="347472"/>
          </a:xfrm>
          <a:prstGeom prst="ellipse">
            <a:avLst/>
          </a:prstGeom>
          <a:solidFill>
            <a:srgbClr val="1E6FD9"/>
          </a:solidFill>
          <a:ln w="12700">
            <a:solidFill>
              <a:srgbClr val="1E6FD9"/>
            </a:solidFill>
            <a:prstDash val="solid"/>
          </a:ln>
        </p:spPr>
      </p:sp>
      <p:pic>
        <p:nvPicPr>
          <p:cNvPr id="7" name="Image 0" descr="preencoded.png">    </p:cNvPr>
          <p:cNvPicPr>
            <a:picLocks noChangeAspect="1"/>
          </p:cNvPicPr>
          <p:nvPr/>
        </p:nvPicPr>
        <p:blipFill>
          <a:blip r:embed="rId1"/>
          <a:stretch>
            <a:fillRect/>
          </a:stretch>
        </p:blipFill>
        <p:spPr>
          <a:xfrm>
            <a:off x="745236" y="1321308"/>
            <a:ext cx="173736" cy="173736"/>
          </a:xfrm>
          <a:prstGeom prst="rect">
            <a:avLst/>
          </a:prstGeom>
        </p:spPr>
      </p:pic>
      <p:sp>
        <p:nvSpPr>
          <p:cNvPr id="8" name="Text 5"/>
          <p:cNvSpPr txBox="1"/>
          <p:nvPr/>
        </p:nvSpPr>
        <p:spPr>
          <a:xfrm>
            <a:off x="1078992" y="1234440"/>
            <a:ext cx="1325880" cy="347472"/>
          </a:xfrm>
          <a:prstGeom prst="rect">
            <a:avLst/>
          </a:prstGeom>
          <a:noFill/>
          <a:ln/>
        </p:spPr>
        <p:txBody>
          <a:bodyPr wrap="square" lIns="0" tIns="0" rIns="0" bIns="0" rtlCol="0" anchor="ctr"/>
          <a:lstStyle/>
          <a:p>
            <a:pPr indent="0" marL="0">
              <a:buNone/>
            </a:pPr>
            <a:r>
              <a:rPr lang="en-US" sz="1100" b="1" dirty="0">
                <a:solidFill>
                  <a:srgbClr val="0B2A5B"/>
                </a:solidFill>
                <a:latin typeface="Calibri" pitchFamily="34" charset="0"/>
                <a:ea typeface="Calibri" pitchFamily="34" charset="-122"/>
                <a:cs typeface="Calibri" pitchFamily="34" charset="-120"/>
              </a:rPr>
              <a:t>Language</a:t>
            </a:r>
            <a:endParaRPr lang="en-US" sz="1100" dirty="0"/>
          </a:p>
        </p:txBody>
      </p:sp>
      <p:sp>
        <p:nvSpPr>
          <p:cNvPr id="9" name="Text 6"/>
          <p:cNvSpPr txBox="1"/>
          <p:nvPr/>
        </p:nvSpPr>
        <p:spPr>
          <a:xfrm>
            <a:off x="658368" y="1636776"/>
            <a:ext cx="1719072" cy="566928"/>
          </a:xfrm>
          <a:prstGeom prst="rect">
            <a:avLst/>
          </a:prstGeom>
          <a:noFill/>
          <a:ln/>
        </p:spPr>
        <p:txBody>
          <a:bodyPr wrap="square" lIns="0" tIns="0" rIns="0" bIns="0" rtlCol="0" anchor="t"/>
          <a:lstStyle/>
          <a:p>
            <a:pPr indent="0" marL="0">
              <a:buNone/>
            </a:pPr>
            <a:r>
              <a:rPr lang="en-US" sz="900" dirty="0">
                <a:solidFill>
                  <a:srgbClr val="5B6B85"/>
                </a:solidFill>
                <a:latin typeface="Calibri" pitchFamily="34" charset="0"/>
                <a:ea typeface="Calibri" pitchFamily="34" charset="-122"/>
                <a:cs typeface="Calibri" pitchFamily="34" charset="-120"/>
              </a:rPr>
              <a:t>Java (Android SDK)</a:t>
            </a:r>
            <a:endParaRPr lang="en-US" sz="900" dirty="0"/>
          </a:p>
        </p:txBody>
      </p:sp>
      <p:sp>
        <p:nvSpPr>
          <p:cNvPr id="10" name="Shape 7"/>
          <p:cNvSpPr/>
          <p:nvPr/>
        </p:nvSpPr>
        <p:spPr>
          <a:xfrm>
            <a:off x="2633472" y="1143000"/>
            <a:ext cx="1920240" cy="1097280"/>
          </a:xfrm>
          <a:prstGeom prst="roundRect">
            <a:avLst>
              <a:gd name="adj" fmla="val 10000"/>
            </a:avLst>
          </a:prstGeom>
          <a:solidFill>
            <a:srgbClr val="FFFFFF"/>
          </a:solidFill>
          <a:ln w="12700">
            <a:solidFill>
              <a:srgbClr val="D6E4F7"/>
            </a:solidFill>
            <a:prstDash val="solid"/>
          </a:ln>
        </p:spPr>
      </p:sp>
      <p:sp>
        <p:nvSpPr>
          <p:cNvPr id="11" name="Shape 8"/>
          <p:cNvSpPr/>
          <p:nvPr/>
        </p:nvSpPr>
        <p:spPr>
          <a:xfrm>
            <a:off x="2743200" y="1234440"/>
            <a:ext cx="347472" cy="347472"/>
          </a:xfrm>
          <a:prstGeom prst="ellipse">
            <a:avLst/>
          </a:prstGeom>
          <a:solidFill>
            <a:srgbClr val="3B9CF0"/>
          </a:solidFill>
          <a:ln w="12700">
            <a:solidFill>
              <a:srgbClr val="3B9CF0"/>
            </a:solidFill>
            <a:prstDash val="solid"/>
          </a:ln>
        </p:spPr>
      </p:sp>
      <p:pic>
        <p:nvPicPr>
          <p:cNvPr id="12" name="Image 1" descr="preencoded.png">    </p:cNvPr>
          <p:cNvPicPr>
            <a:picLocks noChangeAspect="1"/>
          </p:cNvPicPr>
          <p:nvPr/>
        </p:nvPicPr>
        <p:blipFill>
          <a:blip r:embed="rId2"/>
          <a:stretch>
            <a:fillRect/>
          </a:stretch>
        </p:blipFill>
        <p:spPr>
          <a:xfrm>
            <a:off x="2830068" y="1321308"/>
            <a:ext cx="173736" cy="173736"/>
          </a:xfrm>
          <a:prstGeom prst="rect">
            <a:avLst/>
          </a:prstGeom>
        </p:spPr>
      </p:pic>
      <p:sp>
        <p:nvSpPr>
          <p:cNvPr id="13" name="Text 9"/>
          <p:cNvSpPr txBox="1"/>
          <p:nvPr/>
        </p:nvSpPr>
        <p:spPr>
          <a:xfrm>
            <a:off x="3163824" y="1234440"/>
            <a:ext cx="1325880" cy="347472"/>
          </a:xfrm>
          <a:prstGeom prst="rect">
            <a:avLst/>
          </a:prstGeom>
          <a:noFill/>
          <a:ln/>
        </p:spPr>
        <p:txBody>
          <a:bodyPr wrap="square" lIns="0" tIns="0" rIns="0" bIns="0" rtlCol="0" anchor="ctr"/>
          <a:lstStyle/>
          <a:p>
            <a:pPr indent="0" marL="0">
              <a:buNone/>
            </a:pPr>
            <a:r>
              <a:rPr lang="en-US" sz="1100" b="1" dirty="0">
                <a:solidFill>
                  <a:srgbClr val="0B2A5B"/>
                </a:solidFill>
                <a:latin typeface="Calibri" pitchFamily="34" charset="0"/>
                <a:ea typeface="Calibri" pitchFamily="34" charset="-122"/>
                <a:cs typeface="Calibri" pitchFamily="34" charset="-120"/>
              </a:rPr>
              <a:t>IDE / build system</a:t>
            </a:r>
            <a:endParaRPr lang="en-US" sz="1100" dirty="0"/>
          </a:p>
        </p:txBody>
      </p:sp>
      <p:sp>
        <p:nvSpPr>
          <p:cNvPr id="14" name="Text 10"/>
          <p:cNvSpPr txBox="1"/>
          <p:nvPr/>
        </p:nvSpPr>
        <p:spPr>
          <a:xfrm>
            <a:off x="2743200" y="1636776"/>
            <a:ext cx="1719072" cy="566928"/>
          </a:xfrm>
          <a:prstGeom prst="rect">
            <a:avLst/>
          </a:prstGeom>
          <a:noFill/>
          <a:ln/>
        </p:spPr>
        <p:txBody>
          <a:bodyPr wrap="square" lIns="0" tIns="0" rIns="0" bIns="0" rtlCol="0" anchor="t"/>
          <a:lstStyle/>
          <a:p>
            <a:pPr indent="0" marL="0">
              <a:buNone/>
            </a:pPr>
            <a:r>
              <a:rPr lang="en-US" sz="900" dirty="0">
                <a:solidFill>
                  <a:srgbClr val="5B6B85"/>
                </a:solidFill>
                <a:latin typeface="Calibri" pitchFamily="34" charset="0"/>
                <a:ea typeface="Calibri" pitchFamily="34" charset="-122"/>
                <a:cs typeface="Calibri" pitchFamily="34" charset="-120"/>
              </a:rPr>
              <a:t>Android Studio with Gradle; Android Gradle Plugin 8.6.1; Google Services plugin 4.4.2</a:t>
            </a:r>
            <a:endParaRPr lang="en-US" sz="900" dirty="0"/>
          </a:p>
        </p:txBody>
      </p:sp>
      <p:sp>
        <p:nvSpPr>
          <p:cNvPr id="15" name="Shape 11"/>
          <p:cNvSpPr/>
          <p:nvPr/>
        </p:nvSpPr>
        <p:spPr>
          <a:xfrm>
            <a:off x="4718304" y="1143000"/>
            <a:ext cx="1920240" cy="1097280"/>
          </a:xfrm>
          <a:prstGeom prst="roundRect">
            <a:avLst>
              <a:gd name="adj" fmla="val 10000"/>
            </a:avLst>
          </a:prstGeom>
          <a:solidFill>
            <a:srgbClr val="FFFFFF"/>
          </a:solidFill>
          <a:ln w="12700">
            <a:solidFill>
              <a:srgbClr val="D6E4F7"/>
            </a:solidFill>
            <a:prstDash val="solid"/>
          </a:ln>
        </p:spPr>
      </p:sp>
      <p:sp>
        <p:nvSpPr>
          <p:cNvPr id="16" name="Shape 12"/>
          <p:cNvSpPr/>
          <p:nvPr/>
        </p:nvSpPr>
        <p:spPr>
          <a:xfrm>
            <a:off x="4828032" y="1234440"/>
            <a:ext cx="347472" cy="347472"/>
          </a:xfrm>
          <a:prstGeom prst="ellipse">
            <a:avLst/>
          </a:prstGeom>
          <a:solidFill>
            <a:srgbClr val="1E6FD9"/>
          </a:solidFill>
          <a:ln w="12700">
            <a:solidFill>
              <a:srgbClr val="1E6FD9"/>
            </a:solidFill>
            <a:prstDash val="solid"/>
          </a:ln>
        </p:spPr>
      </p:sp>
      <p:pic>
        <p:nvPicPr>
          <p:cNvPr id="17" name="Image 2" descr="preencoded.png">    </p:cNvPr>
          <p:cNvPicPr>
            <a:picLocks noChangeAspect="1"/>
          </p:cNvPicPr>
          <p:nvPr/>
        </p:nvPicPr>
        <p:blipFill>
          <a:blip r:embed="rId3"/>
          <a:stretch>
            <a:fillRect/>
          </a:stretch>
        </p:blipFill>
        <p:spPr>
          <a:xfrm>
            <a:off x="4914900" y="1321308"/>
            <a:ext cx="173736" cy="173736"/>
          </a:xfrm>
          <a:prstGeom prst="rect">
            <a:avLst/>
          </a:prstGeom>
        </p:spPr>
      </p:pic>
      <p:sp>
        <p:nvSpPr>
          <p:cNvPr id="18" name="Text 13"/>
          <p:cNvSpPr txBox="1"/>
          <p:nvPr/>
        </p:nvSpPr>
        <p:spPr>
          <a:xfrm>
            <a:off x="5248656" y="1234440"/>
            <a:ext cx="1325880" cy="347472"/>
          </a:xfrm>
          <a:prstGeom prst="rect">
            <a:avLst/>
          </a:prstGeom>
          <a:noFill/>
          <a:ln/>
        </p:spPr>
        <p:txBody>
          <a:bodyPr wrap="square" lIns="0" tIns="0" rIns="0" bIns="0" rtlCol="0" anchor="ctr"/>
          <a:lstStyle/>
          <a:p>
            <a:pPr indent="0" marL="0">
              <a:buNone/>
            </a:pPr>
            <a:r>
              <a:rPr lang="en-US" sz="1100" b="1" dirty="0">
                <a:solidFill>
                  <a:srgbClr val="0B2A5B"/>
                </a:solidFill>
                <a:latin typeface="Calibri" pitchFamily="34" charset="0"/>
                <a:ea typeface="Calibri" pitchFamily="34" charset="-122"/>
                <a:cs typeface="Calibri" pitchFamily="34" charset="-120"/>
              </a:rPr>
              <a:t>SDK levels</a:t>
            </a:r>
            <a:endParaRPr lang="en-US" sz="1100" dirty="0"/>
          </a:p>
        </p:txBody>
      </p:sp>
      <p:sp>
        <p:nvSpPr>
          <p:cNvPr id="19" name="Text 14"/>
          <p:cNvSpPr txBox="1"/>
          <p:nvPr/>
        </p:nvSpPr>
        <p:spPr>
          <a:xfrm>
            <a:off x="4828032" y="1636776"/>
            <a:ext cx="1719072" cy="566928"/>
          </a:xfrm>
          <a:prstGeom prst="rect">
            <a:avLst/>
          </a:prstGeom>
          <a:noFill/>
          <a:ln/>
        </p:spPr>
        <p:txBody>
          <a:bodyPr wrap="square" lIns="0" tIns="0" rIns="0" bIns="0" rtlCol="0" anchor="t"/>
          <a:lstStyle/>
          <a:p>
            <a:pPr indent="0" marL="0">
              <a:buNone/>
            </a:pPr>
            <a:r>
              <a:rPr lang="en-US" sz="900" dirty="0">
                <a:solidFill>
                  <a:srgbClr val="5B6B85"/>
                </a:solidFill>
                <a:latin typeface="Calibri" pitchFamily="34" charset="0"/>
                <a:ea typeface="Calibri" pitchFamily="34" charset="-122"/>
                <a:cs typeface="Calibri" pitchFamily="34" charset="-120"/>
              </a:rPr>
              <a:t>minSdk 23 (Android 6.0), compileSdk 35, targetSdk 35</a:t>
            </a:r>
            <a:endParaRPr lang="en-US" sz="900" dirty="0"/>
          </a:p>
        </p:txBody>
      </p:sp>
      <p:sp>
        <p:nvSpPr>
          <p:cNvPr id="20" name="Shape 15"/>
          <p:cNvSpPr/>
          <p:nvPr/>
        </p:nvSpPr>
        <p:spPr>
          <a:xfrm>
            <a:off x="6803136" y="1143000"/>
            <a:ext cx="1920240" cy="1097280"/>
          </a:xfrm>
          <a:prstGeom prst="roundRect">
            <a:avLst>
              <a:gd name="adj" fmla="val 10000"/>
            </a:avLst>
          </a:prstGeom>
          <a:solidFill>
            <a:srgbClr val="FFFFFF"/>
          </a:solidFill>
          <a:ln w="12700">
            <a:solidFill>
              <a:srgbClr val="D6E4F7"/>
            </a:solidFill>
            <a:prstDash val="solid"/>
          </a:ln>
        </p:spPr>
      </p:sp>
      <p:sp>
        <p:nvSpPr>
          <p:cNvPr id="21" name="Shape 16"/>
          <p:cNvSpPr/>
          <p:nvPr/>
        </p:nvSpPr>
        <p:spPr>
          <a:xfrm>
            <a:off x="6912864" y="1234440"/>
            <a:ext cx="347472" cy="347472"/>
          </a:xfrm>
          <a:prstGeom prst="ellipse">
            <a:avLst/>
          </a:prstGeom>
          <a:solidFill>
            <a:srgbClr val="3B9CF0"/>
          </a:solidFill>
          <a:ln w="12700">
            <a:solidFill>
              <a:srgbClr val="3B9CF0"/>
            </a:solidFill>
            <a:prstDash val="solid"/>
          </a:ln>
        </p:spPr>
      </p:sp>
      <p:pic>
        <p:nvPicPr>
          <p:cNvPr id="22" name="Image 3" descr="preencoded.png">    </p:cNvPr>
          <p:cNvPicPr>
            <a:picLocks noChangeAspect="1"/>
          </p:cNvPicPr>
          <p:nvPr/>
        </p:nvPicPr>
        <p:blipFill>
          <a:blip r:embed="rId4"/>
          <a:stretch>
            <a:fillRect/>
          </a:stretch>
        </p:blipFill>
        <p:spPr>
          <a:xfrm>
            <a:off x="6999732" y="1321308"/>
            <a:ext cx="173736" cy="173736"/>
          </a:xfrm>
          <a:prstGeom prst="rect">
            <a:avLst/>
          </a:prstGeom>
        </p:spPr>
      </p:pic>
      <p:sp>
        <p:nvSpPr>
          <p:cNvPr id="23" name="Text 17"/>
          <p:cNvSpPr txBox="1"/>
          <p:nvPr/>
        </p:nvSpPr>
        <p:spPr>
          <a:xfrm>
            <a:off x="7333488" y="1234440"/>
            <a:ext cx="1325880" cy="347472"/>
          </a:xfrm>
          <a:prstGeom prst="rect">
            <a:avLst/>
          </a:prstGeom>
          <a:noFill/>
          <a:ln/>
        </p:spPr>
        <p:txBody>
          <a:bodyPr wrap="square" lIns="0" tIns="0" rIns="0" bIns="0" rtlCol="0" anchor="ctr"/>
          <a:lstStyle/>
          <a:p>
            <a:pPr indent="0" marL="0">
              <a:buNone/>
            </a:pPr>
            <a:r>
              <a:rPr lang="en-US" sz="1100" b="1" dirty="0">
                <a:solidFill>
                  <a:srgbClr val="0B2A5B"/>
                </a:solidFill>
                <a:latin typeface="Calibri" pitchFamily="34" charset="0"/>
                <a:ea typeface="Calibri" pitchFamily="34" charset="-122"/>
                <a:cs typeface="Calibri" pitchFamily="34" charset="-120"/>
              </a:rPr>
              <a:t>UI libraries</a:t>
            </a:r>
            <a:endParaRPr lang="en-US" sz="1100" dirty="0"/>
          </a:p>
        </p:txBody>
      </p:sp>
      <p:sp>
        <p:nvSpPr>
          <p:cNvPr id="24" name="Text 18"/>
          <p:cNvSpPr txBox="1"/>
          <p:nvPr/>
        </p:nvSpPr>
        <p:spPr>
          <a:xfrm>
            <a:off x="6912864" y="1636776"/>
            <a:ext cx="1719072" cy="566928"/>
          </a:xfrm>
          <a:prstGeom prst="rect">
            <a:avLst/>
          </a:prstGeom>
          <a:noFill/>
          <a:ln/>
        </p:spPr>
        <p:txBody>
          <a:bodyPr wrap="square" lIns="0" tIns="0" rIns="0" bIns="0" rtlCol="0" anchor="t"/>
          <a:lstStyle/>
          <a:p>
            <a:pPr indent="0" marL="0">
              <a:buNone/>
            </a:pPr>
            <a:r>
              <a:rPr lang="en-US" sz="900" dirty="0">
                <a:solidFill>
                  <a:srgbClr val="5B6B85"/>
                </a:solidFill>
                <a:latin typeface="Calibri" pitchFamily="34" charset="0"/>
                <a:ea typeface="Calibri" pitchFamily="34" charset="-122"/>
                <a:cs typeface="Calibri" pitchFamily="34" charset="-120"/>
              </a:rPr>
              <a:t>AndroidX AppCompat 1.7.0, Material Components 1.12.0, RecyclerView 1.3.2</a:t>
            </a:r>
            <a:endParaRPr lang="en-US" sz="900" dirty="0"/>
          </a:p>
        </p:txBody>
      </p:sp>
      <p:sp>
        <p:nvSpPr>
          <p:cNvPr id="25" name="Shape 19"/>
          <p:cNvSpPr/>
          <p:nvPr/>
        </p:nvSpPr>
        <p:spPr>
          <a:xfrm>
            <a:off x="548640" y="2359152"/>
            <a:ext cx="1920240" cy="1097280"/>
          </a:xfrm>
          <a:prstGeom prst="roundRect">
            <a:avLst>
              <a:gd name="adj" fmla="val 10000"/>
            </a:avLst>
          </a:prstGeom>
          <a:solidFill>
            <a:srgbClr val="FFFFFF"/>
          </a:solidFill>
          <a:ln w="12700">
            <a:solidFill>
              <a:srgbClr val="D6E4F7"/>
            </a:solidFill>
            <a:prstDash val="solid"/>
          </a:ln>
        </p:spPr>
      </p:sp>
      <p:sp>
        <p:nvSpPr>
          <p:cNvPr id="26" name="Shape 20"/>
          <p:cNvSpPr/>
          <p:nvPr/>
        </p:nvSpPr>
        <p:spPr>
          <a:xfrm>
            <a:off x="658368" y="2450592"/>
            <a:ext cx="347472" cy="347472"/>
          </a:xfrm>
          <a:prstGeom prst="ellipse">
            <a:avLst/>
          </a:prstGeom>
          <a:solidFill>
            <a:srgbClr val="1E6FD9"/>
          </a:solidFill>
          <a:ln w="12700">
            <a:solidFill>
              <a:srgbClr val="1E6FD9"/>
            </a:solidFill>
            <a:prstDash val="solid"/>
          </a:ln>
        </p:spPr>
      </p:sp>
      <p:pic>
        <p:nvPicPr>
          <p:cNvPr id="27" name="Image 4" descr="preencoded.png">    </p:cNvPr>
          <p:cNvPicPr>
            <a:picLocks noChangeAspect="1"/>
          </p:cNvPicPr>
          <p:nvPr/>
        </p:nvPicPr>
        <p:blipFill>
          <a:blip r:embed="rId5"/>
          <a:stretch>
            <a:fillRect/>
          </a:stretch>
        </p:blipFill>
        <p:spPr>
          <a:xfrm>
            <a:off x="745236" y="2537460"/>
            <a:ext cx="173736" cy="173736"/>
          </a:xfrm>
          <a:prstGeom prst="rect">
            <a:avLst/>
          </a:prstGeom>
        </p:spPr>
      </p:pic>
      <p:sp>
        <p:nvSpPr>
          <p:cNvPr id="28" name="Text 21"/>
          <p:cNvSpPr txBox="1"/>
          <p:nvPr/>
        </p:nvSpPr>
        <p:spPr>
          <a:xfrm>
            <a:off x="1078992" y="2450592"/>
            <a:ext cx="1325880" cy="347472"/>
          </a:xfrm>
          <a:prstGeom prst="rect">
            <a:avLst/>
          </a:prstGeom>
          <a:noFill/>
          <a:ln/>
        </p:spPr>
        <p:txBody>
          <a:bodyPr wrap="square" lIns="0" tIns="0" rIns="0" bIns="0" rtlCol="0" anchor="ctr"/>
          <a:lstStyle/>
          <a:p>
            <a:pPr indent="0" marL="0">
              <a:buNone/>
            </a:pPr>
            <a:r>
              <a:rPr lang="en-US" sz="1100" b="1" dirty="0">
                <a:solidFill>
                  <a:srgbClr val="0B2A5B"/>
                </a:solidFill>
                <a:latin typeface="Calibri" pitchFamily="34" charset="0"/>
                <a:ea typeface="Calibri" pitchFamily="34" charset="-122"/>
                <a:cs typeface="Calibri" pitchFamily="34" charset="-120"/>
              </a:rPr>
              <a:t>Theme</a:t>
            </a:r>
            <a:endParaRPr lang="en-US" sz="1100" dirty="0"/>
          </a:p>
        </p:txBody>
      </p:sp>
      <p:sp>
        <p:nvSpPr>
          <p:cNvPr id="29" name="Text 22"/>
          <p:cNvSpPr txBox="1"/>
          <p:nvPr/>
        </p:nvSpPr>
        <p:spPr>
          <a:xfrm>
            <a:off x="658368" y="2852928"/>
            <a:ext cx="1719072" cy="566928"/>
          </a:xfrm>
          <a:prstGeom prst="rect">
            <a:avLst/>
          </a:prstGeom>
          <a:noFill/>
          <a:ln/>
        </p:spPr>
        <p:txBody>
          <a:bodyPr wrap="square" lIns="0" tIns="0" rIns="0" bIns="0" rtlCol="0" anchor="t"/>
          <a:lstStyle/>
          <a:p>
            <a:pPr indent="0" marL="0">
              <a:buNone/>
            </a:pPr>
            <a:r>
              <a:rPr lang="en-US" sz="900" dirty="0">
                <a:solidFill>
                  <a:srgbClr val="5B6B85"/>
                </a:solidFill>
                <a:latin typeface="Calibri" pitchFamily="34" charset="0"/>
                <a:ea typeface="Calibri" pitchFamily="34" charset="-122"/>
                <a:cs typeface="Calibri" pitchFamily="34" charset="-120"/>
              </a:rPr>
              <a:t>Theme.Material3.DayNight.NoActionBar with a custom blue palette</a:t>
            </a:r>
            <a:endParaRPr lang="en-US" sz="900" dirty="0"/>
          </a:p>
        </p:txBody>
      </p:sp>
      <p:sp>
        <p:nvSpPr>
          <p:cNvPr id="30" name="Shape 23"/>
          <p:cNvSpPr/>
          <p:nvPr/>
        </p:nvSpPr>
        <p:spPr>
          <a:xfrm>
            <a:off x="2633472" y="2359152"/>
            <a:ext cx="1920240" cy="1097280"/>
          </a:xfrm>
          <a:prstGeom prst="roundRect">
            <a:avLst>
              <a:gd name="adj" fmla="val 10000"/>
            </a:avLst>
          </a:prstGeom>
          <a:solidFill>
            <a:srgbClr val="FFFFFF"/>
          </a:solidFill>
          <a:ln w="12700">
            <a:solidFill>
              <a:srgbClr val="D6E4F7"/>
            </a:solidFill>
            <a:prstDash val="solid"/>
          </a:ln>
        </p:spPr>
      </p:sp>
      <p:sp>
        <p:nvSpPr>
          <p:cNvPr id="31" name="Shape 24"/>
          <p:cNvSpPr/>
          <p:nvPr/>
        </p:nvSpPr>
        <p:spPr>
          <a:xfrm>
            <a:off x="2743200" y="2450592"/>
            <a:ext cx="347472" cy="347472"/>
          </a:xfrm>
          <a:prstGeom prst="ellipse">
            <a:avLst/>
          </a:prstGeom>
          <a:solidFill>
            <a:srgbClr val="3B9CF0"/>
          </a:solidFill>
          <a:ln w="12700">
            <a:solidFill>
              <a:srgbClr val="3B9CF0"/>
            </a:solidFill>
            <a:prstDash val="solid"/>
          </a:ln>
        </p:spPr>
      </p:sp>
      <p:pic>
        <p:nvPicPr>
          <p:cNvPr id="32" name="Image 5" descr="preencoded.png">    </p:cNvPr>
          <p:cNvPicPr>
            <a:picLocks noChangeAspect="1"/>
          </p:cNvPicPr>
          <p:nvPr/>
        </p:nvPicPr>
        <p:blipFill>
          <a:blip r:embed="rId6"/>
          <a:stretch>
            <a:fillRect/>
          </a:stretch>
        </p:blipFill>
        <p:spPr>
          <a:xfrm>
            <a:off x="2830068" y="2537460"/>
            <a:ext cx="173736" cy="173736"/>
          </a:xfrm>
          <a:prstGeom prst="rect">
            <a:avLst/>
          </a:prstGeom>
        </p:spPr>
      </p:pic>
      <p:sp>
        <p:nvSpPr>
          <p:cNvPr id="33" name="Text 25"/>
          <p:cNvSpPr txBox="1"/>
          <p:nvPr/>
        </p:nvSpPr>
        <p:spPr>
          <a:xfrm>
            <a:off x="3163824" y="2450592"/>
            <a:ext cx="1325880" cy="347472"/>
          </a:xfrm>
          <a:prstGeom prst="rect">
            <a:avLst/>
          </a:prstGeom>
          <a:noFill/>
          <a:ln/>
        </p:spPr>
        <p:txBody>
          <a:bodyPr wrap="square" lIns="0" tIns="0" rIns="0" bIns="0" rtlCol="0" anchor="ctr"/>
          <a:lstStyle/>
          <a:p>
            <a:pPr indent="0" marL="0">
              <a:buNone/>
            </a:pPr>
            <a:r>
              <a:rPr lang="en-US" sz="1100" b="1" dirty="0">
                <a:solidFill>
                  <a:srgbClr val="0B2A5B"/>
                </a:solidFill>
                <a:latin typeface="Calibri" pitchFamily="34" charset="0"/>
                <a:ea typeface="Calibri" pitchFamily="34" charset="-122"/>
                <a:cs typeface="Calibri" pitchFamily="34" charset="-120"/>
              </a:rPr>
              <a:t>Authentication</a:t>
            </a:r>
            <a:endParaRPr lang="en-US" sz="1100" dirty="0"/>
          </a:p>
        </p:txBody>
      </p:sp>
      <p:sp>
        <p:nvSpPr>
          <p:cNvPr id="34" name="Text 26"/>
          <p:cNvSpPr txBox="1"/>
          <p:nvPr/>
        </p:nvSpPr>
        <p:spPr>
          <a:xfrm>
            <a:off x="2743200" y="2852928"/>
            <a:ext cx="1719072" cy="566928"/>
          </a:xfrm>
          <a:prstGeom prst="rect">
            <a:avLst/>
          </a:prstGeom>
          <a:noFill/>
          <a:ln/>
        </p:spPr>
        <p:txBody>
          <a:bodyPr wrap="square" lIns="0" tIns="0" rIns="0" bIns="0" rtlCol="0" anchor="t"/>
          <a:lstStyle/>
          <a:p>
            <a:pPr indent="0" marL="0">
              <a:buNone/>
            </a:pPr>
            <a:r>
              <a:rPr lang="en-US" sz="900" dirty="0">
                <a:solidFill>
                  <a:srgbClr val="5B6B85"/>
                </a:solidFill>
                <a:latin typeface="Calibri" pitchFamily="34" charset="0"/>
                <a:ea typeface="Calibri" pitchFamily="34" charset="-122"/>
                <a:cs typeface="Calibri" pitchFamily="34" charset="-120"/>
              </a:rPr>
              <a:t>Firebase Authentication (email and password, password-reset email)</a:t>
            </a:r>
            <a:endParaRPr lang="en-US" sz="900" dirty="0"/>
          </a:p>
        </p:txBody>
      </p:sp>
      <p:sp>
        <p:nvSpPr>
          <p:cNvPr id="35" name="Shape 27"/>
          <p:cNvSpPr/>
          <p:nvPr/>
        </p:nvSpPr>
        <p:spPr>
          <a:xfrm>
            <a:off x="4718304" y="2359152"/>
            <a:ext cx="1920240" cy="1097280"/>
          </a:xfrm>
          <a:prstGeom prst="roundRect">
            <a:avLst>
              <a:gd name="adj" fmla="val 10000"/>
            </a:avLst>
          </a:prstGeom>
          <a:solidFill>
            <a:srgbClr val="FFFFFF"/>
          </a:solidFill>
          <a:ln w="12700">
            <a:solidFill>
              <a:srgbClr val="D6E4F7"/>
            </a:solidFill>
            <a:prstDash val="solid"/>
          </a:ln>
        </p:spPr>
      </p:sp>
      <p:sp>
        <p:nvSpPr>
          <p:cNvPr id="36" name="Shape 28"/>
          <p:cNvSpPr/>
          <p:nvPr/>
        </p:nvSpPr>
        <p:spPr>
          <a:xfrm>
            <a:off x="4828032" y="2450592"/>
            <a:ext cx="347472" cy="347472"/>
          </a:xfrm>
          <a:prstGeom prst="ellipse">
            <a:avLst/>
          </a:prstGeom>
          <a:solidFill>
            <a:srgbClr val="1E6FD9"/>
          </a:solidFill>
          <a:ln w="12700">
            <a:solidFill>
              <a:srgbClr val="1E6FD9"/>
            </a:solidFill>
            <a:prstDash val="solid"/>
          </a:ln>
        </p:spPr>
      </p:sp>
      <p:pic>
        <p:nvPicPr>
          <p:cNvPr id="37" name="Image 6" descr="preencoded.png">    </p:cNvPr>
          <p:cNvPicPr>
            <a:picLocks noChangeAspect="1"/>
          </p:cNvPicPr>
          <p:nvPr/>
        </p:nvPicPr>
        <p:blipFill>
          <a:blip r:embed="rId7"/>
          <a:stretch>
            <a:fillRect/>
          </a:stretch>
        </p:blipFill>
        <p:spPr>
          <a:xfrm>
            <a:off x="4914900" y="2537460"/>
            <a:ext cx="173736" cy="173736"/>
          </a:xfrm>
          <a:prstGeom prst="rect">
            <a:avLst/>
          </a:prstGeom>
        </p:spPr>
      </p:pic>
      <p:sp>
        <p:nvSpPr>
          <p:cNvPr id="38" name="Text 29"/>
          <p:cNvSpPr txBox="1"/>
          <p:nvPr/>
        </p:nvSpPr>
        <p:spPr>
          <a:xfrm>
            <a:off x="5248656" y="2450592"/>
            <a:ext cx="1325880" cy="347472"/>
          </a:xfrm>
          <a:prstGeom prst="rect">
            <a:avLst/>
          </a:prstGeom>
          <a:noFill/>
          <a:ln/>
        </p:spPr>
        <p:txBody>
          <a:bodyPr wrap="square" lIns="0" tIns="0" rIns="0" bIns="0" rtlCol="0" anchor="ctr"/>
          <a:lstStyle/>
          <a:p>
            <a:pPr indent="0" marL="0">
              <a:buNone/>
            </a:pPr>
            <a:r>
              <a:rPr lang="en-US" sz="1100" b="1" dirty="0">
                <a:solidFill>
                  <a:srgbClr val="0B2A5B"/>
                </a:solidFill>
                <a:latin typeface="Calibri" pitchFamily="34" charset="0"/>
                <a:ea typeface="Calibri" pitchFamily="34" charset="-122"/>
                <a:cs typeface="Calibri" pitchFamily="34" charset="-120"/>
              </a:rPr>
              <a:t>Database</a:t>
            </a:r>
            <a:endParaRPr lang="en-US" sz="1100" dirty="0"/>
          </a:p>
        </p:txBody>
      </p:sp>
      <p:sp>
        <p:nvSpPr>
          <p:cNvPr id="39" name="Text 30"/>
          <p:cNvSpPr txBox="1"/>
          <p:nvPr/>
        </p:nvSpPr>
        <p:spPr>
          <a:xfrm>
            <a:off x="4828032" y="2852928"/>
            <a:ext cx="1719072" cy="566928"/>
          </a:xfrm>
          <a:prstGeom prst="rect">
            <a:avLst/>
          </a:prstGeom>
          <a:noFill/>
          <a:ln/>
        </p:spPr>
        <p:txBody>
          <a:bodyPr wrap="square" lIns="0" tIns="0" rIns="0" bIns="0" rtlCol="0" anchor="t"/>
          <a:lstStyle/>
          <a:p>
            <a:pPr indent="0" marL="0">
              <a:buNone/>
            </a:pPr>
            <a:r>
              <a:rPr lang="en-US" sz="900" dirty="0">
                <a:solidFill>
                  <a:srgbClr val="5B6B85"/>
                </a:solidFill>
                <a:latin typeface="Calibri" pitchFamily="34" charset="0"/>
                <a:ea typeface="Calibri" pitchFamily="34" charset="-122"/>
                <a:cs typeface="Calibri" pitchFamily="34" charset="-120"/>
              </a:rPr>
              <a:t>Cloud Firestore with real-time snapshot listeners; collections users, reports and messages</a:t>
            </a:r>
            <a:endParaRPr lang="en-US" sz="900" dirty="0"/>
          </a:p>
        </p:txBody>
      </p:sp>
      <p:sp>
        <p:nvSpPr>
          <p:cNvPr id="40" name="Shape 31"/>
          <p:cNvSpPr/>
          <p:nvPr/>
        </p:nvSpPr>
        <p:spPr>
          <a:xfrm>
            <a:off x="6803136" y="2359152"/>
            <a:ext cx="1920240" cy="1097280"/>
          </a:xfrm>
          <a:prstGeom prst="roundRect">
            <a:avLst>
              <a:gd name="adj" fmla="val 10000"/>
            </a:avLst>
          </a:prstGeom>
          <a:solidFill>
            <a:srgbClr val="FFFFFF"/>
          </a:solidFill>
          <a:ln w="12700">
            <a:solidFill>
              <a:srgbClr val="D6E4F7"/>
            </a:solidFill>
            <a:prstDash val="solid"/>
          </a:ln>
        </p:spPr>
      </p:sp>
      <p:sp>
        <p:nvSpPr>
          <p:cNvPr id="41" name="Shape 32"/>
          <p:cNvSpPr/>
          <p:nvPr/>
        </p:nvSpPr>
        <p:spPr>
          <a:xfrm>
            <a:off x="6912864" y="2450592"/>
            <a:ext cx="347472" cy="347472"/>
          </a:xfrm>
          <a:prstGeom prst="ellipse">
            <a:avLst/>
          </a:prstGeom>
          <a:solidFill>
            <a:srgbClr val="3B9CF0"/>
          </a:solidFill>
          <a:ln w="12700">
            <a:solidFill>
              <a:srgbClr val="3B9CF0"/>
            </a:solidFill>
            <a:prstDash val="solid"/>
          </a:ln>
        </p:spPr>
      </p:sp>
      <p:pic>
        <p:nvPicPr>
          <p:cNvPr id="42" name="Image 7" descr="preencoded.png">    </p:cNvPr>
          <p:cNvPicPr>
            <a:picLocks noChangeAspect="1"/>
          </p:cNvPicPr>
          <p:nvPr/>
        </p:nvPicPr>
        <p:blipFill>
          <a:blip r:embed="rId8"/>
          <a:stretch>
            <a:fillRect/>
          </a:stretch>
        </p:blipFill>
        <p:spPr>
          <a:xfrm>
            <a:off x="6999732" y="2537460"/>
            <a:ext cx="173736" cy="173736"/>
          </a:xfrm>
          <a:prstGeom prst="rect">
            <a:avLst/>
          </a:prstGeom>
        </p:spPr>
      </p:pic>
      <p:sp>
        <p:nvSpPr>
          <p:cNvPr id="43" name="Text 33"/>
          <p:cNvSpPr txBox="1"/>
          <p:nvPr/>
        </p:nvSpPr>
        <p:spPr>
          <a:xfrm>
            <a:off x="7333488" y="2450592"/>
            <a:ext cx="1325880" cy="347472"/>
          </a:xfrm>
          <a:prstGeom prst="rect">
            <a:avLst/>
          </a:prstGeom>
          <a:noFill/>
          <a:ln/>
        </p:spPr>
        <p:txBody>
          <a:bodyPr wrap="square" lIns="0" tIns="0" rIns="0" bIns="0" rtlCol="0" anchor="ctr"/>
          <a:lstStyle/>
          <a:p>
            <a:pPr indent="0" marL="0">
              <a:buNone/>
            </a:pPr>
            <a:r>
              <a:rPr lang="en-US" sz="1100" b="1" dirty="0">
                <a:solidFill>
                  <a:srgbClr val="0B2A5B"/>
                </a:solidFill>
                <a:latin typeface="Calibri" pitchFamily="34" charset="0"/>
                <a:ea typeface="Calibri" pitchFamily="34" charset="-122"/>
                <a:cs typeface="Calibri" pitchFamily="34" charset="-120"/>
              </a:rPr>
              <a:t>Session cache</a:t>
            </a:r>
            <a:endParaRPr lang="en-US" sz="1100" dirty="0"/>
          </a:p>
        </p:txBody>
      </p:sp>
      <p:sp>
        <p:nvSpPr>
          <p:cNvPr id="44" name="Text 34"/>
          <p:cNvSpPr txBox="1"/>
          <p:nvPr/>
        </p:nvSpPr>
        <p:spPr>
          <a:xfrm>
            <a:off x="6912864" y="2852928"/>
            <a:ext cx="1719072" cy="566928"/>
          </a:xfrm>
          <a:prstGeom prst="rect">
            <a:avLst/>
          </a:prstGeom>
          <a:noFill/>
          <a:ln/>
        </p:spPr>
        <p:txBody>
          <a:bodyPr wrap="square" lIns="0" tIns="0" rIns="0" bIns="0" rtlCol="0" anchor="t"/>
          <a:lstStyle/>
          <a:p>
            <a:pPr indent="0" marL="0">
              <a:buNone/>
            </a:pPr>
            <a:r>
              <a:rPr lang="en-US" sz="900" dirty="0">
                <a:solidFill>
                  <a:srgbClr val="5B6B85"/>
                </a:solidFill>
                <a:latin typeface="Calibri" pitchFamily="34" charset="0"/>
                <a:ea typeface="Calibri" pitchFamily="34" charset="-122"/>
                <a:cs typeface="Calibri" pitchFamily="34" charset="-120"/>
              </a:rPr>
              <a:t>SharedPreferences file “CampusPrefs”</a:t>
            </a:r>
            <a:endParaRPr lang="en-US" sz="900" dirty="0"/>
          </a:p>
        </p:txBody>
      </p:sp>
      <p:sp>
        <p:nvSpPr>
          <p:cNvPr id="45" name="Shape 35"/>
          <p:cNvSpPr/>
          <p:nvPr/>
        </p:nvSpPr>
        <p:spPr>
          <a:xfrm>
            <a:off x="548640" y="3575304"/>
            <a:ext cx="1920240" cy="1097280"/>
          </a:xfrm>
          <a:prstGeom prst="roundRect">
            <a:avLst>
              <a:gd name="adj" fmla="val 10000"/>
            </a:avLst>
          </a:prstGeom>
          <a:solidFill>
            <a:srgbClr val="FFFFFF"/>
          </a:solidFill>
          <a:ln w="12700">
            <a:solidFill>
              <a:srgbClr val="D6E4F7"/>
            </a:solidFill>
            <a:prstDash val="solid"/>
          </a:ln>
        </p:spPr>
      </p:sp>
      <p:sp>
        <p:nvSpPr>
          <p:cNvPr id="46" name="Shape 36"/>
          <p:cNvSpPr/>
          <p:nvPr/>
        </p:nvSpPr>
        <p:spPr>
          <a:xfrm>
            <a:off x="658368" y="3666744"/>
            <a:ext cx="347472" cy="347472"/>
          </a:xfrm>
          <a:prstGeom prst="ellipse">
            <a:avLst/>
          </a:prstGeom>
          <a:solidFill>
            <a:srgbClr val="1E6FD9"/>
          </a:solidFill>
          <a:ln w="12700">
            <a:solidFill>
              <a:srgbClr val="1E6FD9"/>
            </a:solidFill>
            <a:prstDash val="solid"/>
          </a:ln>
        </p:spPr>
      </p:sp>
      <p:pic>
        <p:nvPicPr>
          <p:cNvPr id="47" name="Image 8" descr="preencoded.png">    </p:cNvPr>
          <p:cNvPicPr>
            <a:picLocks noChangeAspect="1"/>
          </p:cNvPicPr>
          <p:nvPr/>
        </p:nvPicPr>
        <p:blipFill>
          <a:blip r:embed="rId9"/>
          <a:stretch>
            <a:fillRect/>
          </a:stretch>
        </p:blipFill>
        <p:spPr>
          <a:xfrm>
            <a:off x="745236" y="3753612"/>
            <a:ext cx="173736" cy="173736"/>
          </a:xfrm>
          <a:prstGeom prst="rect">
            <a:avLst/>
          </a:prstGeom>
        </p:spPr>
      </p:pic>
      <p:sp>
        <p:nvSpPr>
          <p:cNvPr id="48" name="Text 37"/>
          <p:cNvSpPr txBox="1"/>
          <p:nvPr/>
        </p:nvSpPr>
        <p:spPr>
          <a:xfrm>
            <a:off x="1078992" y="3666744"/>
            <a:ext cx="1325880" cy="347472"/>
          </a:xfrm>
          <a:prstGeom prst="rect">
            <a:avLst/>
          </a:prstGeom>
          <a:noFill/>
          <a:ln/>
        </p:spPr>
        <p:txBody>
          <a:bodyPr wrap="square" lIns="0" tIns="0" rIns="0" bIns="0" rtlCol="0" anchor="ctr"/>
          <a:lstStyle/>
          <a:p>
            <a:pPr indent="0" marL="0">
              <a:buNone/>
            </a:pPr>
            <a:r>
              <a:rPr lang="en-US" sz="1100" b="1" dirty="0">
                <a:solidFill>
                  <a:srgbClr val="0B2A5B"/>
                </a:solidFill>
                <a:latin typeface="Calibri" pitchFamily="34" charset="0"/>
                <a:ea typeface="Calibri" pitchFamily="34" charset="-122"/>
                <a:cs typeface="Calibri" pitchFamily="34" charset="-120"/>
              </a:rPr>
              <a:t>Other Firebase libraries</a:t>
            </a:r>
            <a:endParaRPr lang="en-US" sz="1100" dirty="0"/>
          </a:p>
        </p:txBody>
      </p:sp>
      <p:sp>
        <p:nvSpPr>
          <p:cNvPr id="49" name="Text 38"/>
          <p:cNvSpPr txBox="1"/>
          <p:nvPr/>
        </p:nvSpPr>
        <p:spPr>
          <a:xfrm>
            <a:off x="658368" y="4069080"/>
            <a:ext cx="1719072" cy="566928"/>
          </a:xfrm>
          <a:prstGeom prst="rect">
            <a:avLst/>
          </a:prstGeom>
          <a:noFill/>
          <a:ln/>
        </p:spPr>
        <p:txBody>
          <a:bodyPr wrap="square" lIns="0" tIns="0" rIns="0" bIns="0" rtlCol="0" anchor="t"/>
          <a:lstStyle/>
          <a:p>
            <a:pPr indent="0" marL="0">
              <a:buNone/>
            </a:pPr>
            <a:r>
              <a:rPr lang="en-US" sz="900" dirty="0">
                <a:solidFill>
                  <a:srgbClr val="5B6B85"/>
                </a:solidFill>
                <a:latin typeface="Calibri" pitchFamily="34" charset="0"/>
                <a:ea typeface="Calibri" pitchFamily="34" charset="-122"/>
                <a:cs typeface="Calibri" pitchFamily="34" charset="-120"/>
              </a:rPr>
              <a:t>Firebase Storage and Cloud Messaging are included as dependencies for planned features</a:t>
            </a:r>
            <a:endParaRPr lang="en-US" sz="900" dirty="0"/>
          </a:p>
        </p:txBody>
      </p:sp>
      <p:sp>
        <p:nvSpPr>
          <p:cNvPr id="50" name="Shape 39"/>
          <p:cNvSpPr/>
          <p:nvPr/>
        </p:nvSpPr>
        <p:spPr>
          <a:xfrm>
            <a:off x="2633472" y="3575304"/>
            <a:ext cx="1920240" cy="1097280"/>
          </a:xfrm>
          <a:prstGeom prst="roundRect">
            <a:avLst>
              <a:gd name="adj" fmla="val 10000"/>
            </a:avLst>
          </a:prstGeom>
          <a:solidFill>
            <a:srgbClr val="FFFFFF"/>
          </a:solidFill>
          <a:ln w="12700">
            <a:solidFill>
              <a:srgbClr val="D6E4F7"/>
            </a:solidFill>
            <a:prstDash val="solid"/>
          </a:ln>
        </p:spPr>
      </p:sp>
      <p:sp>
        <p:nvSpPr>
          <p:cNvPr id="51" name="Shape 40"/>
          <p:cNvSpPr/>
          <p:nvPr/>
        </p:nvSpPr>
        <p:spPr>
          <a:xfrm>
            <a:off x="2743200" y="3666744"/>
            <a:ext cx="347472" cy="347472"/>
          </a:xfrm>
          <a:prstGeom prst="ellipse">
            <a:avLst/>
          </a:prstGeom>
          <a:solidFill>
            <a:srgbClr val="3B9CF0"/>
          </a:solidFill>
          <a:ln w="12700">
            <a:solidFill>
              <a:srgbClr val="3B9CF0"/>
            </a:solidFill>
            <a:prstDash val="solid"/>
          </a:ln>
        </p:spPr>
      </p:sp>
      <p:pic>
        <p:nvPicPr>
          <p:cNvPr id="52" name="Image 9" descr="preencoded.png">    </p:cNvPr>
          <p:cNvPicPr>
            <a:picLocks noChangeAspect="1"/>
          </p:cNvPicPr>
          <p:nvPr/>
        </p:nvPicPr>
        <p:blipFill>
          <a:blip r:embed="rId10"/>
          <a:stretch>
            <a:fillRect/>
          </a:stretch>
        </p:blipFill>
        <p:spPr>
          <a:xfrm>
            <a:off x="2830068" y="3753612"/>
            <a:ext cx="173736" cy="173736"/>
          </a:xfrm>
          <a:prstGeom prst="rect">
            <a:avLst/>
          </a:prstGeom>
        </p:spPr>
      </p:pic>
      <p:sp>
        <p:nvSpPr>
          <p:cNvPr id="53" name="Text 41"/>
          <p:cNvSpPr txBox="1"/>
          <p:nvPr/>
        </p:nvSpPr>
        <p:spPr>
          <a:xfrm>
            <a:off x="3163824" y="3666744"/>
            <a:ext cx="1325880" cy="347472"/>
          </a:xfrm>
          <a:prstGeom prst="rect">
            <a:avLst/>
          </a:prstGeom>
          <a:noFill/>
          <a:ln/>
        </p:spPr>
        <p:txBody>
          <a:bodyPr wrap="square" lIns="0" tIns="0" rIns="0" bIns="0" rtlCol="0" anchor="ctr"/>
          <a:lstStyle/>
          <a:p>
            <a:pPr indent="0" marL="0">
              <a:buNone/>
            </a:pPr>
            <a:r>
              <a:rPr lang="en-US" sz="1100" b="1" dirty="0">
                <a:solidFill>
                  <a:srgbClr val="0B2A5B"/>
                </a:solidFill>
                <a:latin typeface="Calibri" pitchFamily="34" charset="0"/>
                <a:ea typeface="Calibri" pitchFamily="34" charset="-122"/>
                <a:cs typeface="Calibri" pitchFamily="34" charset="-120"/>
              </a:rPr>
              <a:t>Permissions</a:t>
            </a:r>
            <a:endParaRPr lang="en-US" sz="1100" dirty="0"/>
          </a:p>
        </p:txBody>
      </p:sp>
      <p:sp>
        <p:nvSpPr>
          <p:cNvPr id="54" name="Text 42"/>
          <p:cNvSpPr txBox="1"/>
          <p:nvPr/>
        </p:nvSpPr>
        <p:spPr>
          <a:xfrm>
            <a:off x="2743200" y="4069080"/>
            <a:ext cx="1719072" cy="566928"/>
          </a:xfrm>
          <a:prstGeom prst="rect">
            <a:avLst/>
          </a:prstGeom>
          <a:noFill/>
          <a:ln/>
        </p:spPr>
        <p:txBody>
          <a:bodyPr wrap="square" lIns="0" tIns="0" rIns="0" bIns="0" rtlCol="0" anchor="t"/>
          <a:lstStyle/>
          <a:p>
            <a:pPr indent="0" marL="0">
              <a:buNone/>
            </a:pPr>
            <a:r>
              <a:rPr lang="en-US" sz="900" dirty="0">
                <a:solidFill>
                  <a:srgbClr val="5B6B85"/>
                </a:solidFill>
                <a:latin typeface="Calibri" pitchFamily="34" charset="0"/>
                <a:ea typeface="Calibri" pitchFamily="34" charset="-122"/>
                <a:cs typeface="Calibri" pitchFamily="34" charset="-120"/>
              </a:rPr>
              <a:t>INTERNET and POST_NOTIFICATIONS</a:t>
            </a:r>
            <a:endParaRPr lang="en-US" sz="900" dirty="0"/>
          </a:p>
        </p:txBody>
      </p:sp>
      <p:sp>
        <p:nvSpPr>
          <p:cNvPr id="55" name="Shape 43"/>
          <p:cNvSpPr/>
          <p:nvPr/>
        </p:nvSpPr>
        <p:spPr>
          <a:xfrm>
            <a:off x="4718304" y="3575304"/>
            <a:ext cx="1920240" cy="1097280"/>
          </a:xfrm>
          <a:prstGeom prst="roundRect">
            <a:avLst>
              <a:gd name="adj" fmla="val 10000"/>
            </a:avLst>
          </a:prstGeom>
          <a:solidFill>
            <a:srgbClr val="FFFFFF"/>
          </a:solidFill>
          <a:ln w="12700">
            <a:solidFill>
              <a:srgbClr val="D6E4F7"/>
            </a:solidFill>
            <a:prstDash val="solid"/>
          </a:ln>
        </p:spPr>
      </p:sp>
      <p:sp>
        <p:nvSpPr>
          <p:cNvPr id="56" name="Shape 44"/>
          <p:cNvSpPr/>
          <p:nvPr/>
        </p:nvSpPr>
        <p:spPr>
          <a:xfrm>
            <a:off x="4828032" y="3666744"/>
            <a:ext cx="347472" cy="347472"/>
          </a:xfrm>
          <a:prstGeom prst="ellipse">
            <a:avLst/>
          </a:prstGeom>
          <a:solidFill>
            <a:srgbClr val="1E6FD9"/>
          </a:solidFill>
          <a:ln w="12700">
            <a:solidFill>
              <a:srgbClr val="1E6FD9"/>
            </a:solidFill>
            <a:prstDash val="solid"/>
          </a:ln>
        </p:spPr>
      </p:sp>
      <p:pic>
        <p:nvPicPr>
          <p:cNvPr id="57" name="Image 10" descr="preencoded.png">    </p:cNvPr>
          <p:cNvPicPr>
            <a:picLocks noChangeAspect="1"/>
          </p:cNvPicPr>
          <p:nvPr/>
        </p:nvPicPr>
        <p:blipFill>
          <a:blip r:embed="rId11"/>
          <a:stretch>
            <a:fillRect/>
          </a:stretch>
        </p:blipFill>
        <p:spPr>
          <a:xfrm>
            <a:off x="4914900" y="3753612"/>
            <a:ext cx="173736" cy="173736"/>
          </a:xfrm>
          <a:prstGeom prst="rect">
            <a:avLst/>
          </a:prstGeom>
        </p:spPr>
      </p:pic>
      <p:sp>
        <p:nvSpPr>
          <p:cNvPr id="58" name="Text 45"/>
          <p:cNvSpPr txBox="1"/>
          <p:nvPr/>
        </p:nvSpPr>
        <p:spPr>
          <a:xfrm>
            <a:off x="5248656" y="3666744"/>
            <a:ext cx="1325880" cy="347472"/>
          </a:xfrm>
          <a:prstGeom prst="rect">
            <a:avLst/>
          </a:prstGeom>
          <a:noFill/>
          <a:ln/>
        </p:spPr>
        <p:txBody>
          <a:bodyPr wrap="square" lIns="0" tIns="0" rIns="0" bIns="0" rtlCol="0" anchor="ctr"/>
          <a:lstStyle/>
          <a:p>
            <a:pPr indent="0" marL="0">
              <a:buNone/>
            </a:pPr>
            <a:r>
              <a:rPr lang="en-US" sz="1100" b="1" dirty="0">
                <a:solidFill>
                  <a:srgbClr val="0B2A5B"/>
                </a:solidFill>
                <a:latin typeface="Calibri" pitchFamily="34" charset="0"/>
                <a:ea typeface="Calibri" pitchFamily="34" charset="-122"/>
                <a:cs typeface="Calibri" pitchFamily="34" charset="-120"/>
              </a:rPr>
              <a:t>Email contact</a:t>
            </a:r>
            <a:endParaRPr lang="en-US" sz="1100" dirty="0"/>
          </a:p>
        </p:txBody>
      </p:sp>
      <p:sp>
        <p:nvSpPr>
          <p:cNvPr id="59" name="Text 46"/>
          <p:cNvSpPr txBox="1"/>
          <p:nvPr/>
        </p:nvSpPr>
        <p:spPr>
          <a:xfrm>
            <a:off x="4828032" y="4069080"/>
            <a:ext cx="1719072" cy="566928"/>
          </a:xfrm>
          <a:prstGeom prst="rect">
            <a:avLst/>
          </a:prstGeom>
          <a:noFill/>
          <a:ln/>
        </p:spPr>
        <p:txBody>
          <a:bodyPr wrap="square" lIns="0" tIns="0" rIns="0" bIns="0" rtlCol="0" anchor="t"/>
          <a:lstStyle/>
          <a:p>
            <a:pPr indent="0" marL="0">
              <a:buNone/>
            </a:pPr>
            <a:r>
              <a:rPr lang="en-US" sz="900" dirty="0">
                <a:solidFill>
                  <a:srgbClr val="5B6B85"/>
                </a:solidFill>
                <a:latin typeface="Calibri" pitchFamily="34" charset="0"/>
                <a:ea typeface="Calibri" pitchFamily="34" charset="-122"/>
                <a:cs typeface="Calibri" pitchFamily="34" charset="-120"/>
              </a:rPr>
              <a:t>Implicit intent: Intent.ACTION_SENDTO with a mailto: URI</a:t>
            </a:r>
            <a:endParaRPr lang="en-US" sz="900" dirty="0"/>
          </a:p>
        </p:txBody>
      </p:sp>
      <p:sp>
        <p:nvSpPr>
          <p:cNvPr id="60" name="Shape 47"/>
          <p:cNvSpPr/>
          <p:nvPr/>
        </p:nvSpPr>
        <p:spPr>
          <a:xfrm>
            <a:off x="6803136" y="3575304"/>
            <a:ext cx="1920240" cy="1097280"/>
          </a:xfrm>
          <a:prstGeom prst="roundRect">
            <a:avLst>
              <a:gd name="adj" fmla="val 10000"/>
            </a:avLst>
          </a:prstGeom>
          <a:solidFill>
            <a:srgbClr val="1E6FD9"/>
          </a:solidFill>
          <a:ln w="12700">
            <a:solidFill>
              <a:srgbClr val="1E6FD9"/>
            </a:solidFill>
            <a:prstDash val="solid"/>
          </a:ln>
        </p:spPr>
      </p:sp>
      <p:sp>
        <p:nvSpPr>
          <p:cNvPr id="61" name="Text 48"/>
          <p:cNvSpPr txBox="1"/>
          <p:nvPr/>
        </p:nvSpPr>
        <p:spPr>
          <a:xfrm>
            <a:off x="6912864" y="3575304"/>
            <a:ext cx="1700784" cy="109728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Native Android + Java + Firebase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9FF"/>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E6FD9"/>
          </a:solidFill>
          <a:ln w="12700">
            <a:solidFill>
              <a:srgbClr val="1E6FD9"/>
            </a:solidFill>
            <a:prstDash val="solid"/>
          </a:ln>
        </p:spPr>
      </p:sp>
      <p:sp>
        <p:nvSpPr>
          <p:cNvPr id="3" name="Text 1"/>
          <p:cNvSpPr txBox="1"/>
          <p:nvPr/>
        </p:nvSpPr>
        <p:spPr>
          <a:xfrm>
            <a:off x="548640" y="91440"/>
            <a:ext cx="7680960" cy="228600"/>
          </a:xfrm>
          <a:prstGeom prst="rect">
            <a:avLst/>
          </a:prstGeom>
          <a:noFill/>
          <a:ln/>
        </p:spPr>
        <p:txBody>
          <a:bodyPr wrap="square" lIns="0" tIns="0" rIns="0" bIns="0" rtlCol="0" anchor="ctr"/>
          <a:lstStyle/>
          <a:p>
            <a:pPr indent="0" marL="0">
              <a:buNone/>
            </a:pPr>
            <a:r>
              <a:rPr lang="en-US" sz="900" b="1" spc="200" kern="0" dirty="0">
                <a:solidFill>
                  <a:srgbClr val="1E6FD9"/>
                </a:solidFill>
                <a:latin typeface="Calibri" pitchFamily="34" charset="0"/>
                <a:ea typeface="Calibri" pitchFamily="34" charset="-122"/>
                <a:cs typeface="Calibri" pitchFamily="34" charset="-120"/>
              </a:rPr>
              <a:t>TECHNOLOGY AND TOOLS</a:t>
            </a:r>
            <a:endParaRPr lang="en-US" sz="900" dirty="0"/>
          </a:p>
        </p:txBody>
      </p:sp>
      <p:sp>
        <p:nvSpPr>
          <p:cNvPr id="4" name="Text 2"/>
          <p:cNvSpPr txBox="1"/>
          <p:nvPr/>
        </p:nvSpPr>
        <p:spPr>
          <a:xfrm>
            <a:off x="548640" y="320040"/>
            <a:ext cx="8229600" cy="640080"/>
          </a:xfrm>
          <a:prstGeom prst="rect">
            <a:avLst/>
          </a:prstGeom>
          <a:noFill/>
          <a:ln/>
        </p:spPr>
        <p:txBody>
          <a:bodyPr wrap="square" lIns="0" tIns="0" rIns="0" bIns="0" rtlCol="0" anchor="ctr"/>
          <a:lstStyle/>
          <a:p>
            <a:pPr indent="0" marL="0">
              <a:buNone/>
            </a:pPr>
            <a:r>
              <a:rPr lang="en-US" sz="3000" b="1" dirty="0">
                <a:solidFill>
                  <a:srgbClr val="0B2A5B"/>
                </a:solidFill>
                <a:latin typeface="Cambria" pitchFamily="34" charset="0"/>
                <a:ea typeface="Cambria" pitchFamily="34" charset="-122"/>
                <a:cs typeface="Cambria" pitchFamily="34" charset="-120"/>
              </a:rPr>
              <a:t>How It Fits Together</a:t>
            </a:r>
            <a:endParaRPr lang="en-US" sz="3000" dirty="0"/>
          </a:p>
        </p:txBody>
      </p:sp>
      <p:sp>
        <p:nvSpPr>
          <p:cNvPr id="5" name="Shape 3"/>
          <p:cNvSpPr/>
          <p:nvPr/>
        </p:nvSpPr>
        <p:spPr>
          <a:xfrm>
            <a:off x="2834640" y="1097280"/>
            <a:ext cx="3474720" cy="594360"/>
          </a:xfrm>
          <a:prstGeom prst="roundRect">
            <a:avLst>
              <a:gd name="adj" fmla="val 46154"/>
            </a:avLst>
          </a:prstGeom>
          <a:solidFill>
            <a:srgbClr val="0B2A5B"/>
          </a:solidFill>
          <a:ln w="12700">
            <a:solidFill>
              <a:srgbClr val="0B2A5B"/>
            </a:solidFill>
            <a:prstDash val="solid"/>
          </a:ln>
        </p:spPr>
      </p:sp>
      <p:sp>
        <p:nvSpPr>
          <p:cNvPr id="6" name="Text 4"/>
          <p:cNvSpPr txBox="1"/>
          <p:nvPr/>
        </p:nvSpPr>
        <p:spPr>
          <a:xfrm>
            <a:off x="2834640" y="1097280"/>
            <a:ext cx="3474720" cy="5943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Campus Lost &amp; Found app (Java)</a:t>
            </a:r>
            <a:endParaRPr lang="en-US" sz="1400" dirty="0"/>
          </a:p>
        </p:txBody>
      </p:sp>
      <p:sp>
        <p:nvSpPr>
          <p:cNvPr id="7" name="Shape 5"/>
          <p:cNvSpPr/>
          <p:nvPr/>
        </p:nvSpPr>
        <p:spPr>
          <a:xfrm>
            <a:off x="4572000" y="1691640"/>
            <a:ext cx="0" cy="274320"/>
          </a:xfrm>
          <a:prstGeom prst="line">
            <a:avLst/>
          </a:prstGeom>
          <a:noFill/>
          <a:ln w="25400">
            <a:solidFill>
              <a:srgbClr val="1E6FD9"/>
            </a:solidFill>
            <a:prstDash val="solid"/>
          </a:ln>
        </p:spPr>
      </p:sp>
      <p:sp>
        <p:nvSpPr>
          <p:cNvPr id="8" name="Shape 6"/>
          <p:cNvSpPr/>
          <p:nvPr/>
        </p:nvSpPr>
        <p:spPr>
          <a:xfrm>
            <a:off x="1463040" y="1965960"/>
            <a:ext cx="6217920" cy="0"/>
          </a:xfrm>
          <a:prstGeom prst="line">
            <a:avLst/>
          </a:prstGeom>
          <a:noFill/>
          <a:ln w="25400">
            <a:solidFill>
              <a:srgbClr val="1E6FD9"/>
            </a:solidFill>
            <a:prstDash val="solid"/>
          </a:ln>
        </p:spPr>
      </p:sp>
      <p:sp>
        <p:nvSpPr>
          <p:cNvPr id="9" name="Shape 7"/>
          <p:cNvSpPr/>
          <p:nvPr/>
        </p:nvSpPr>
        <p:spPr>
          <a:xfrm>
            <a:off x="1463040" y="1965960"/>
            <a:ext cx="0" cy="228600"/>
          </a:xfrm>
          <a:prstGeom prst="line">
            <a:avLst/>
          </a:prstGeom>
          <a:noFill/>
          <a:ln w="25400">
            <a:solidFill>
              <a:srgbClr val="1E6FD9"/>
            </a:solidFill>
            <a:prstDash val="solid"/>
            <a:tailEnd type="triangle"/>
          </a:ln>
        </p:spPr>
      </p:sp>
      <p:sp>
        <p:nvSpPr>
          <p:cNvPr id="10" name="Shape 8"/>
          <p:cNvSpPr/>
          <p:nvPr/>
        </p:nvSpPr>
        <p:spPr>
          <a:xfrm>
            <a:off x="548640" y="2194560"/>
            <a:ext cx="1874520" cy="1051560"/>
          </a:xfrm>
          <a:prstGeom prst="roundRect">
            <a:avLst>
              <a:gd name="adj" fmla="val 10435"/>
            </a:avLst>
          </a:prstGeom>
          <a:solidFill>
            <a:srgbClr val="FFFFFF"/>
          </a:solidFill>
          <a:ln w="12700">
            <a:solidFill>
              <a:srgbClr val="1E6FD9"/>
            </a:solidFill>
            <a:prstDash val="solid"/>
          </a:ln>
        </p:spPr>
      </p:sp>
      <p:sp>
        <p:nvSpPr>
          <p:cNvPr id="11" name="Shape 9"/>
          <p:cNvSpPr/>
          <p:nvPr/>
        </p:nvSpPr>
        <p:spPr>
          <a:xfrm>
            <a:off x="658368" y="2286000"/>
            <a:ext cx="384048" cy="384048"/>
          </a:xfrm>
          <a:prstGeom prst="ellipse">
            <a:avLst/>
          </a:prstGeom>
          <a:solidFill>
            <a:srgbClr val="1E6FD9"/>
          </a:solidFill>
          <a:ln w="12700">
            <a:solidFill>
              <a:srgbClr val="1E6FD9"/>
            </a:solidFill>
            <a:prstDash val="solid"/>
          </a:ln>
        </p:spPr>
      </p:sp>
      <p:pic>
        <p:nvPicPr>
          <p:cNvPr id="12" name="Image 0" descr="preencoded.png">    </p:cNvPr>
          <p:cNvPicPr>
            <a:picLocks noChangeAspect="1"/>
          </p:cNvPicPr>
          <p:nvPr/>
        </p:nvPicPr>
        <p:blipFill>
          <a:blip r:embed="rId1"/>
          <a:stretch>
            <a:fillRect/>
          </a:stretch>
        </p:blipFill>
        <p:spPr>
          <a:xfrm>
            <a:off x="754380" y="2382012"/>
            <a:ext cx="192024" cy="192024"/>
          </a:xfrm>
          <a:prstGeom prst="rect">
            <a:avLst/>
          </a:prstGeom>
        </p:spPr>
      </p:pic>
      <p:sp>
        <p:nvSpPr>
          <p:cNvPr id="13" name="Text 10"/>
          <p:cNvSpPr txBox="1"/>
          <p:nvPr/>
        </p:nvSpPr>
        <p:spPr>
          <a:xfrm>
            <a:off x="1115568" y="2286000"/>
            <a:ext cx="1280160" cy="384048"/>
          </a:xfrm>
          <a:prstGeom prst="rect">
            <a:avLst/>
          </a:prstGeom>
          <a:noFill/>
          <a:ln/>
        </p:spPr>
        <p:txBody>
          <a:bodyPr wrap="square" lIns="0" tIns="0" rIns="0" bIns="0" rtlCol="0" anchor="ctr"/>
          <a:lstStyle/>
          <a:p>
            <a:pPr indent="0" marL="0">
              <a:buNone/>
            </a:pPr>
            <a:r>
              <a:rPr lang="en-US" sz="1100" b="1" dirty="0">
                <a:solidFill>
                  <a:srgbClr val="0B2A5B"/>
                </a:solidFill>
                <a:latin typeface="Calibri" pitchFamily="34" charset="0"/>
                <a:ea typeface="Calibri" pitchFamily="34" charset="-122"/>
                <a:cs typeface="Calibri" pitchFamily="34" charset="-120"/>
              </a:rPr>
              <a:t>SharedPreferences</a:t>
            </a:r>
            <a:endParaRPr lang="en-US" sz="1100" dirty="0"/>
          </a:p>
        </p:txBody>
      </p:sp>
      <p:sp>
        <p:nvSpPr>
          <p:cNvPr id="14" name="Text 11"/>
          <p:cNvSpPr txBox="1"/>
          <p:nvPr/>
        </p:nvSpPr>
        <p:spPr>
          <a:xfrm>
            <a:off x="658368" y="2743200"/>
            <a:ext cx="1691640" cy="457200"/>
          </a:xfrm>
          <a:prstGeom prst="rect">
            <a:avLst/>
          </a:prstGeom>
          <a:noFill/>
          <a:ln/>
        </p:spPr>
        <p:txBody>
          <a:bodyPr wrap="square" lIns="0" tIns="0" rIns="0" bIns="0" rtlCol="0" anchor="t"/>
          <a:lstStyle/>
          <a:p>
            <a:pPr indent="0" marL="0">
              <a:buNone/>
            </a:pPr>
            <a:r>
              <a:rPr lang="en-US" sz="1000" dirty="0">
                <a:solidFill>
                  <a:srgbClr val="5B6B85"/>
                </a:solidFill>
                <a:latin typeface="Calibri" pitchFamily="34" charset="0"/>
                <a:ea typeface="Calibri" pitchFamily="34" charset="-122"/>
                <a:cs typeface="Calibri" pitchFamily="34" charset="-120"/>
              </a:rPr>
              <a:t>“CampusPrefs” session cache</a:t>
            </a:r>
            <a:endParaRPr lang="en-US" sz="1000" dirty="0"/>
          </a:p>
        </p:txBody>
      </p:sp>
      <p:sp>
        <p:nvSpPr>
          <p:cNvPr id="15" name="Shape 12"/>
          <p:cNvSpPr/>
          <p:nvPr/>
        </p:nvSpPr>
        <p:spPr>
          <a:xfrm>
            <a:off x="3520440" y="1965960"/>
            <a:ext cx="0" cy="228600"/>
          </a:xfrm>
          <a:prstGeom prst="line">
            <a:avLst/>
          </a:prstGeom>
          <a:noFill/>
          <a:ln w="25400">
            <a:solidFill>
              <a:srgbClr val="1E6FD9"/>
            </a:solidFill>
            <a:prstDash val="solid"/>
            <a:tailEnd type="triangle"/>
          </a:ln>
        </p:spPr>
      </p:sp>
      <p:sp>
        <p:nvSpPr>
          <p:cNvPr id="16" name="Shape 13"/>
          <p:cNvSpPr/>
          <p:nvPr/>
        </p:nvSpPr>
        <p:spPr>
          <a:xfrm>
            <a:off x="2606040" y="2194560"/>
            <a:ext cx="1874520" cy="1051560"/>
          </a:xfrm>
          <a:prstGeom prst="roundRect">
            <a:avLst>
              <a:gd name="adj" fmla="val 10435"/>
            </a:avLst>
          </a:prstGeom>
          <a:solidFill>
            <a:srgbClr val="FFFFFF"/>
          </a:solidFill>
          <a:ln w="12700">
            <a:solidFill>
              <a:srgbClr val="1E6FD9"/>
            </a:solidFill>
            <a:prstDash val="solid"/>
          </a:ln>
        </p:spPr>
      </p:sp>
      <p:sp>
        <p:nvSpPr>
          <p:cNvPr id="17" name="Shape 14"/>
          <p:cNvSpPr/>
          <p:nvPr/>
        </p:nvSpPr>
        <p:spPr>
          <a:xfrm>
            <a:off x="2715768" y="2286000"/>
            <a:ext cx="384048" cy="384048"/>
          </a:xfrm>
          <a:prstGeom prst="ellipse">
            <a:avLst/>
          </a:prstGeom>
          <a:solidFill>
            <a:srgbClr val="3B9CF0"/>
          </a:solidFill>
          <a:ln w="12700">
            <a:solidFill>
              <a:srgbClr val="3B9CF0"/>
            </a:solidFill>
            <a:prstDash val="solid"/>
          </a:ln>
        </p:spPr>
      </p:sp>
      <p:pic>
        <p:nvPicPr>
          <p:cNvPr id="18" name="Image 1" descr="preencoded.png">    </p:cNvPr>
          <p:cNvPicPr>
            <a:picLocks noChangeAspect="1"/>
          </p:cNvPicPr>
          <p:nvPr/>
        </p:nvPicPr>
        <p:blipFill>
          <a:blip r:embed="rId2"/>
          <a:stretch>
            <a:fillRect/>
          </a:stretch>
        </p:blipFill>
        <p:spPr>
          <a:xfrm>
            <a:off x="2811780" y="2382012"/>
            <a:ext cx="192024" cy="192024"/>
          </a:xfrm>
          <a:prstGeom prst="rect">
            <a:avLst/>
          </a:prstGeom>
        </p:spPr>
      </p:pic>
      <p:sp>
        <p:nvSpPr>
          <p:cNvPr id="19" name="Text 15"/>
          <p:cNvSpPr txBox="1"/>
          <p:nvPr/>
        </p:nvSpPr>
        <p:spPr>
          <a:xfrm>
            <a:off x="3172968" y="2286000"/>
            <a:ext cx="1280160" cy="384048"/>
          </a:xfrm>
          <a:prstGeom prst="rect">
            <a:avLst/>
          </a:prstGeom>
          <a:noFill/>
          <a:ln/>
        </p:spPr>
        <p:txBody>
          <a:bodyPr wrap="square" lIns="0" tIns="0" rIns="0" bIns="0" rtlCol="0" anchor="ctr"/>
          <a:lstStyle/>
          <a:p>
            <a:pPr indent="0" marL="0">
              <a:buNone/>
            </a:pPr>
            <a:r>
              <a:rPr lang="en-US" sz="1100" b="1" dirty="0">
                <a:solidFill>
                  <a:srgbClr val="0B2A5B"/>
                </a:solidFill>
                <a:latin typeface="Calibri" pitchFamily="34" charset="0"/>
                <a:ea typeface="Calibri" pitchFamily="34" charset="-122"/>
                <a:cs typeface="Calibri" pitchFamily="34" charset="-120"/>
              </a:rPr>
              <a:t>Firebase Authentication</a:t>
            </a:r>
            <a:endParaRPr lang="en-US" sz="1100" dirty="0"/>
          </a:p>
        </p:txBody>
      </p:sp>
      <p:sp>
        <p:nvSpPr>
          <p:cNvPr id="20" name="Text 16"/>
          <p:cNvSpPr txBox="1"/>
          <p:nvPr/>
        </p:nvSpPr>
        <p:spPr>
          <a:xfrm>
            <a:off x="2715768" y="2743200"/>
            <a:ext cx="1691640" cy="457200"/>
          </a:xfrm>
          <a:prstGeom prst="rect">
            <a:avLst/>
          </a:prstGeom>
          <a:noFill/>
          <a:ln/>
        </p:spPr>
        <p:txBody>
          <a:bodyPr wrap="square" lIns="0" tIns="0" rIns="0" bIns="0" rtlCol="0" anchor="t"/>
          <a:lstStyle/>
          <a:p>
            <a:pPr indent="0" marL="0">
              <a:buNone/>
            </a:pPr>
            <a:r>
              <a:rPr lang="en-US" sz="1000" dirty="0">
                <a:solidFill>
                  <a:srgbClr val="5B6B85"/>
                </a:solidFill>
                <a:latin typeface="Calibri" pitchFamily="34" charset="0"/>
                <a:ea typeface="Calibri" pitchFamily="34" charset="-122"/>
                <a:cs typeface="Calibri" pitchFamily="34" charset="-120"/>
              </a:rPr>
              <a:t>Email and password, password-reset email</a:t>
            </a:r>
            <a:endParaRPr lang="en-US" sz="1000" dirty="0"/>
          </a:p>
        </p:txBody>
      </p:sp>
      <p:sp>
        <p:nvSpPr>
          <p:cNvPr id="21" name="Shape 17"/>
          <p:cNvSpPr/>
          <p:nvPr/>
        </p:nvSpPr>
        <p:spPr>
          <a:xfrm>
            <a:off x="5577840" y="1965960"/>
            <a:ext cx="0" cy="228600"/>
          </a:xfrm>
          <a:prstGeom prst="line">
            <a:avLst/>
          </a:prstGeom>
          <a:noFill/>
          <a:ln w="25400">
            <a:solidFill>
              <a:srgbClr val="1E6FD9"/>
            </a:solidFill>
            <a:prstDash val="solid"/>
            <a:tailEnd type="triangle"/>
          </a:ln>
        </p:spPr>
      </p:sp>
      <p:sp>
        <p:nvSpPr>
          <p:cNvPr id="22" name="Shape 18"/>
          <p:cNvSpPr/>
          <p:nvPr/>
        </p:nvSpPr>
        <p:spPr>
          <a:xfrm>
            <a:off x="4663440" y="2194560"/>
            <a:ext cx="1874520" cy="1051560"/>
          </a:xfrm>
          <a:prstGeom prst="roundRect">
            <a:avLst>
              <a:gd name="adj" fmla="val 10435"/>
            </a:avLst>
          </a:prstGeom>
          <a:solidFill>
            <a:srgbClr val="FFFFFF"/>
          </a:solidFill>
          <a:ln w="12700">
            <a:solidFill>
              <a:srgbClr val="1E6FD9"/>
            </a:solidFill>
            <a:prstDash val="solid"/>
          </a:ln>
        </p:spPr>
      </p:sp>
      <p:sp>
        <p:nvSpPr>
          <p:cNvPr id="23" name="Shape 19"/>
          <p:cNvSpPr/>
          <p:nvPr/>
        </p:nvSpPr>
        <p:spPr>
          <a:xfrm>
            <a:off x="4773168" y="2286000"/>
            <a:ext cx="384048" cy="384048"/>
          </a:xfrm>
          <a:prstGeom prst="ellipse">
            <a:avLst/>
          </a:prstGeom>
          <a:solidFill>
            <a:srgbClr val="1E6FD9"/>
          </a:solidFill>
          <a:ln w="12700">
            <a:solidFill>
              <a:srgbClr val="1E6FD9"/>
            </a:solidFill>
            <a:prstDash val="solid"/>
          </a:ln>
        </p:spPr>
      </p:sp>
      <p:pic>
        <p:nvPicPr>
          <p:cNvPr id="24" name="Image 2" descr="preencoded.png">    </p:cNvPr>
          <p:cNvPicPr>
            <a:picLocks noChangeAspect="1"/>
          </p:cNvPicPr>
          <p:nvPr/>
        </p:nvPicPr>
        <p:blipFill>
          <a:blip r:embed="rId3"/>
          <a:stretch>
            <a:fillRect/>
          </a:stretch>
        </p:blipFill>
        <p:spPr>
          <a:xfrm>
            <a:off x="4869180" y="2382012"/>
            <a:ext cx="192024" cy="192024"/>
          </a:xfrm>
          <a:prstGeom prst="rect">
            <a:avLst/>
          </a:prstGeom>
        </p:spPr>
      </p:pic>
      <p:sp>
        <p:nvSpPr>
          <p:cNvPr id="25" name="Text 20"/>
          <p:cNvSpPr txBox="1"/>
          <p:nvPr/>
        </p:nvSpPr>
        <p:spPr>
          <a:xfrm>
            <a:off x="5230368" y="2286000"/>
            <a:ext cx="1280160" cy="384048"/>
          </a:xfrm>
          <a:prstGeom prst="rect">
            <a:avLst/>
          </a:prstGeom>
          <a:noFill/>
          <a:ln/>
        </p:spPr>
        <p:txBody>
          <a:bodyPr wrap="square" lIns="0" tIns="0" rIns="0" bIns="0" rtlCol="0" anchor="ctr"/>
          <a:lstStyle/>
          <a:p>
            <a:pPr indent="0" marL="0">
              <a:buNone/>
            </a:pPr>
            <a:r>
              <a:rPr lang="en-US" sz="1100" b="1" dirty="0">
                <a:solidFill>
                  <a:srgbClr val="0B2A5B"/>
                </a:solidFill>
                <a:latin typeface="Calibri" pitchFamily="34" charset="0"/>
                <a:ea typeface="Calibri" pitchFamily="34" charset="-122"/>
                <a:cs typeface="Calibri" pitchFamily="34" charset="-120"/>
              </a:rPr>
              <a:t>Cloud Firestore</a:t>
            </a:r>
            <a:endParaRPr lang="en-US" sz="1100" dirty="0"/>
          </a:p>
        </p:txBody>
      </p:sp>
      <p:sp>
        <p:nvSpPr>
          <p:cNvPr id="26" name="Text 21"/>
          <p:cNvSpPr txBox="1"/>
          <p:nvPr/>
        </p:nvSpPr>
        <p:spPr>
          <a:xfrm>
            <a:off x="4773168" y="2743200"/>
            <a:ext cx="1691640" cy="457200"/>
          </a:xfrm>
          <a:prstGeom prst="rect">
            <a:avLst/>
          </a:prstGeom>
          <a:noFill/>
          <a:ln/>
        </p:spPr>
        <p:txBody>
          <a:bodyPr wrap="square" lIns="0" tIns="0" rIns="0" bIns="0" rtlCol="0" anchor="t"/>
          <a:lstStyle/>
          <a:p>
            <a:pPr indent="0" marL="0">
              <a:buNone/>
            </a:pPr>
            <a:r>
              <a:rPr lang="en-US" sz="1000" dirty="0">
                <a:solidFill>
                  <a:srgbClr val="5B6B85"/>
                </a:solidFill>
                <a:latin typeface="Calibri" pitchFamily="34" charset="0"/>
                <a:ea typeface="Calibri" pitchFamily="34" charset="-122"/>
                <a:cs typeface="Calibri" pitchFamily="34" charset="-120"/>
              </a:rPr>
              <a:t>Real-time snapshot listeners</a:t>
            </a:r>
            <a:endParaRPr lang="en-US" sz="1000" dirty="0"/>
          </a:p>
        </p:txBody>
      </p:sp>
      <p:sp>
        <p:nvSpPr>
          <p:cNvPr id="27" name="Shape 22"/>
          <p:cNvSpPr/>
          <p:nvPr/>
        </p:nvSpPr>
        <p:spPr>
          <a:xfrm>
            <a:off x="7635240" y="1965960"/>
            <a:ext cx="0" cy="228600"/>
          </a:xfrm>
          <a:prstGeom prst="line">
            <a:avLst/>
          </a:prstGeom>
          <a:noFill/>
          <a:ln w="25400">
            <a:solidFill>
              <a:srgbClr val="1E6FD9"/>
            </a:solidFill>
            <a:prstDash val="solid"/>
            <a:tailEnd type="triangle"/>
          </a:ln>
        </p:spPr>
      </p:sp>
      <p:sp>
        <p:nvSpPr>
          <p:cNvPr id="28" name="Shape 23"/>
          <p:cNvSpPr/>
          <p:nvPr/>
        </p:nvSpPr>
        <p:spPr>
          <a:xfrm>
            <a:off x="6720840" y="2194560"/>
            <a:ext cx="1874520" cy="1051560"/>
          </a:xfrm>
          <a:prstGeom prst="roundRect">
            <a:avLst>
              <a:gd name="adj" fmla="val 10435"/>
            </a:avLst>
          </a:prstGeom>
          <a:solidFill>
            <a:srgbClr val="FFFFFF"/>
          </a:solidFill>
          <a:ln w="12700">
            <a:solidFill>
              <a:srgbClr val="1E6FD9"/>
            </a:solidFill>
            <a:prstDash val="solid"/>
          </a:ln>
        </p:spPr>
      </p:sp>
      <p:sp>
        <p:nvSpPr>
          <p:cNvPr id="29" name="Shape 24"/>
          <p:cNvSpPr/>
          <p:nvPr/>
        </p:nvSpPr>
        <p:spPr>
          <a:xfrm>
            <a:off x="6830568" y="2286000"/>
            <a:ext cx="384048" cy="384048"/>
          </a:xfrm>
          <a:prstGeom prst="ellipse">
            <a:avLst/>
          </a:prstGeom>
          <a:solidFill>
            <a:srgbClr val="3B9CF0"/>
          </a:solidFill>
          <a:ln w="12700">
            <a:solidFill>
              <a:srgbClr val="3B9CF0"/>
            </a:solidFill>
            <a:prstDash val="solid"/>
          </a:ln>
        </p:spPr>
      </p:sp>
      <p:pic>
        <p:nvPicPr>
          <p:cNvPr id="30" name="Image 3" descr="preencoded.png">    </p:cNvPr>
          <p:cNvPicPr>
            <a:picLocks noChangeAspect="1"/>
          </p:cNvPicPr>
          <p:nvPr/>
        </p:nvPicPr>
        <p:blipFill>
          <a:blip r:embed="rId4"/>
          <a:stretch>
            <a:fillRect/>
          </a:stretch>
        </p:blipFill>
        <p:spPr>
          <a:xfrm>
            <a:off x="6926580" y="2382012"/>
            <a:ext cx="192024" cy="192024"/>
          </a:xfrm>
          <a:prstGeom prst="rect">
            <a:avLst/>
          </a:prstGeom>
        </p:spPr>
      </p:pic>
      <p:sp>
        <p:nvSpPr>
          <p:cNvPr id="31" name="Text 25"/>
          <p:cNvSpPr txBox="1"/>
          <p:nvPr/>
        </p:nvSpPr>
        <p:spPr>
          <a:xfrm>
            <a:off x="7287768" y="2286000"/>
            <a:ext cx="1280160" cy="384048"/>
          </a:xfrm>
          <a:prstGeom prst="rect">
            <a:avLst/>
          </a:prstGeom>
          <a:noFill/>
          <a:ln/>
        </p:spPr>
        <p:txBody>
          <a:bodyPr wrap="square" lIns="0" tIns="0" rIns="0" bIns="0" rtlCol="0" anchor="ctr"/>
          <a:lstStyle/>
          <a:p>
            <a:pPr indent="0" marL="0">
              <a:buNone/>
            </a:pPr>
            <a:r>
              <a:rPr lang="en-US" sz="1100" b="1" dirty="0">
                <a:solidFill>
                  <a:srgbClr val="0B2A5B"/>
                </a:solidFill>
                <a:latin typeface="Calibri" pitchFamily="34" charset="0"/>
                <a:ea typeface="Calibri" pitchFamily="34" charset="-122"/>
                <a:cs typeface="Calibri" pitchFamily="34" charset="-120"/>
              </a:rPr>
              <a:t>Email app</a:t>
            </a:r>
            <a:endParaRPr lang="en-US" sz="1100" dirty="0"/>
          </a:p>
        </p:txBody>
      </p:sp>
      <p:sp>
        <p:nvSpPr>
          <p:cNvPr id="32" name="Text 26"/>
          <p:cNvSpPr txBox="1"/>
          <p:nvPr/>
        </p:nvSpPr>
        <p:spPr>
          <a:xfrm>
            <a:off x="6830568" y="2743200"/>
            <a:ext cx="1691640" cy="457200"/>
          </a:xfrm>
          <a:prstGeom prst="rect">
            <a:avLst/>
          </a:prstGeom>
          <a:noFill/>
          <a:ln/>
        </p:spPr>
        <p:txBody>
          <a:bodyPr wrap="square" lIns="0" tIns="0" rIns="0" bIns="0" rtlCol="0" anchor="t"/>
          <a:lstStyle/>
          <a:p>
            <a:pPr indent="0" marL="0">
              <a:buNone/>
            </a:pPr>
            <a:r>
              <a:rPr lang="en-US" sz="1000" dirty="0">
                <a:solidFill>
                  <a:srgbClr val="5B6B85"/>
                </a:solidFill>
                <a:latin typeface="Calibri" pitchFamily="34" charset="0"/>
                <a:ea typeface="Calibri" pitchFamily="34" charset="-122"/>
                <a:cs typeface="Calibri" pitchFamily="34" charset="-120"/>
              </a:rPr>
              <a:t>Implicit intent (mailto:) to contact a reporter</a:t>
            </a:r>
            <a:endParaRPr lang="en-US" sz="1000" dirty="0"/>
          </a:p>
        </p:txBody>
      </p:sp>
      <p:sp>
        <p:nvSpPr>
          <p:cNvPr id="33" name="Shape 27"/>
          <p:cNvSpPr/>
          <p:nvPr/>
        </p:nvSpPr>
        <p:spPr>
          <a:xfrm>
            <a:off x="4663440" y="3383280"/>
            <a:ext cx="1874520" cy="457200"/>
          </a:xfrm>
          <a:prstGeom prst="roundRect">
            <a:avLst>
              <a:gd name="adj" fmla="val 24000"/>
            </a:avLst>
          </a:prstGeom>
          <a:solidFill>
            <a:srgbClr val="EAF3FF"/>
          </a:solidFill>
          <a:ln w="12700">
            <a:solidFill>
              <a:srgbClr val="BBD6F7"/>
            </a:solidFill>
            <a:prstDash val="solid"/>
          </a:ln>
        </p:spPr>
      </p:sp>
      <p:sp>
        <p:nvSpPr>
          <p:cNvPr id="34" name="Text 28"/>
          <p:cNvSpPr txBox="1"/>
          <p:nvPr/>
        </p:nvSpPr>
        <p:spPr>
          <a:xfrm>
            <a:off x="4663440" y="3383280"/>
            <a:ext cx="1874520" cy="457200"/>
          </a:xfrm>
          <a:prstGeom prst="rect">
            <a:avLst/>
          </a:prstGeom>
          <a:noFill/>
          <a:ln/>
        </p:spPr>
        <p:txBody>
          <a:bodyPr wrap="square" lIns="0" tIns="0" rIns="0" bIns="0" rtlCol="0" anchor="ctr"/>
          <a:lstStyle/>
          <a:p>
            <a:pPr algn="ctr" indent="0" marL="0">
              <a:buNone/>
            </a:pPr>
            <a:r>
              <a:rPr lang="en-US" sz="1100" b="1" dirty="0">
                <a:solidFill>
                  <a:srgbClr val="1E6FD9"/>
                </a:solidFill>
                <a:latin typeface="Calibri" pitchFamily="34" charset="0"/>
                <a:ea typeface="Calibri" pitchFamily="34" charset="-122"/>
                <a:cs typeface="Calibri" pitchFamily="34" charset="-120"/>
              </a:rPr>
              <a:t>users  ·  reports  ·  messages</a:t>
            </a:r>
            <a:endParaRPr lang="en-US" sz="1100" dirty="0"/>
          </a:p>
        </p:txBody>
      </p:sp>
      <p:sp>
        <p:nvSpPr>
          <p:cNvPr id="35" name="Shape 29"/>
          <p:cNvSpPr/>
          <p:nvPr/>
        </p:nvSpPr>
        <p:spPr>
          <a:xfrm>
            <a:off x="548640" y="4069080"/>
            <a:ext cx="8046720" cy="685800"/>
          </a:xfrm>
          <a:prstGeom prst="roundRect">
            <a:avLst>
              <a:gd name="adj" fmla="val 16000"/>
            </a:avLst>
          </a:prstGeom>
          <a:solidFill>
            <a:srgbClr val="FFFFFF"/>
          </a:solidFill>
          <a:ln w="19050">
            <a:solidFill>
              <a:srgbClr val="3B9CF0"/>
            </a:solidFill>
            <a:prstDash val="dash"/>
          </a:ln>
        </p:spPr>
      </p:sp>
      <p:sp>
        <p:nvSpPr>
          <p:cNvPr id="36" name="Shape 30"/>
          <p:cNvSpPr/>
          <p:nvPr/>
        </p:nvSpPr>
        <p:spPr>
          <a:xfrm>
            <a:off x="685800" y="4187952"/>
            <a:ext cx="438912" cy="438912"/>
          </a:xfrm>
          <a:prstGeom prst="ellipse">
            <a:avLst/>
          </a:prstGeom>
          <a:solidFill>
            <a:srgbClr val="3B9CF0"/>
          </a:solidFill>
          <a:ln w="12700">
            <a:solidFill>
              <a:srgbClr val="3B9CF0"/>
            </a:solidFill>
            <a:prstDash val="solid"/>
          </a:ln>
        </p:spPr>
      </p:sp>
      <p:pic>
        <p:nvPicPr>
          <p:cNvPr id="37" name="Image 4" descr="preencoded.png">    </p:cNvPr>
          <p:cNvPicPr>
            <a:picLocks noChangeAspect="1"/>
          </p:cNvPicPr>
          <p:nvPr/>
        </p:nvPicPr>
        <p:blipFill>
          <a:blip r:embed="rId5"/>
          <a:stretch>
            <a:fillRect/>
          </a:stretch>
        </p:blipFill>
        <p:spPr>
          <a:xfrm>
            <a:off x="795528" y="4297680"/>
            <a:ext cx="219456" cy="219456"/>
          </a:xfrm>
          <a:prstGeom prst="rect">
            <a:avLst/>
          </a:prstGeom>
        </p:spPr>
      </p:pic>
      <p:sp>
        <p:nvSpPr>
          <p:cNvPr id="38" name="Text 31"/>
          <p:cNvSpPr txBox="1"/>
          <p:nvPr/>
        </p:nvSpPr>
        <p:spPr>
          <a:xfrm>
            <a:off x="1280160" y="4069080"/>
            <a:ext cx="7223760" cy="685800"/>
          </a:xfrm>
          <a:prstGeom prst="rect">
            <a:avLst/>
          </a:prstGeom>
          <a:noFill/>
          <a:ln/>
        </p:spPr>
        <p:txBody>
          <a:bodyPr wrap="square" lIns="0" tIns="0" rIns="0" bIns="0" rtlCol="0" anchor="ctr"/>
          <a:lstStyle/>
          <a:p>
            <a:pPr indent="0" marL="0">
              <a:buNone/>
            </a:pPr>
            <a:r>
              <a:rPr lang="en-US" sz="1200" dirty="0">
                <a:solidFill>
                  <a:srgbClr val="0B2A5B"/>
                </a:solidFill>
                <a:latin typeface="Calibri" pitchFamily="34" charset="0"/>
                <a:ea typeface="Calibri" pitchFamily="34" charset="-122"/>
                <a:cs typeface="Calibri" pitchFamily="34" charset="-120"/>
              </a:rPr>
              <a:t>Planned: Firebase Storage (photos) and Firebase Cloud Messaging (push notifications) are already included as dependencies.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9FF"/>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E6FD9"/>
          </a:solidFill>
          <a:ln w="12700">
            <a:solidFill>
              <a:srgbClr val="1E6FD9"/>
            </a:solidFill>
            <a:prstDash val="solid"/>
          </a:ln>
        </p:spPr>
      </p:sp>
      <p:sp>
        <p:nvSpPr>
          <p:cNvPr id="3" name="Text 1"/>
          <p:cNvSpPr txBox="1"/>
          <p:nvPr/>
        </p:nvSpPr>
        <p:spPr>
          <a:xfrm>
            <a:off x="548640" y="91440"/>
            <a:ext cx="7680960" cy="228600"/>
          </a:xfrm>
          <a:prstGeom prst="rect">
            <a:avLst/>
          </a:prstGeom>
          <a:noFill/>
          <a:ln/>
        </p:spPr>
        <p:txBody>
          <a:bodyPr wrap="square" lIns="0" tIns="0" rIns="0" bIns="0" rtlCol="0" anchor="ctr"/>
          <a:lstStyle/>
          <a:p>
            <a:pPr indent="0" marL="0">
              <a:buNone/>
            </a:pPr>
            <a:r>
              <a:rPr lang="en-US" sz="900" b="1" spc="200" kern="0" dirty="0">
                <a:solidFill>
                  <a:srgbClr val="1E6FD9"/>
                </a:solidFill>
                <a:latin typeface="Calibri" pitchFamily="34" charset="0"/>
                <a:ea typeface="Calibri" pitchFamily="34" charset="-122"/>
                <a:cs typeface="Calibri" pitchFamily="34" charset="-120"/>
              </a:rPr>
              <a:t>IMPLEMENTATION</a:t>
            </a:r>
            <a:endParaRPr lang="en-US" sz="900" dirty="0"/>
          </a:p>
        </p:txBody>
      </p:sp>
      <p:sp>
        <p:nvSpPr>
          <p:cNvPr id="4" name="Text 2"/>
          <p:cNvSpPr txBox="1"/>
          <p:nvPr/>
        </p:nvSpPr>
        <p:spPr>
          <a:xfrm>
            <a:off x="548640" y="320040"/>
            <a:ext cx="8229600" cy="640080"/>
          </a:xfrm>
          <a:prstGeom prst="rect">
            <a:avLst/>
          </a:prstGeom>
          <a:noFill/>
          <a:ln/>
        </p:spPr>
        <p:txBody>
          <a:bodyPr wrap="square" lIns="0" tIns="0" rIns="0" bIns="0" rtlCol="0" anchor="ctr"/>
          <a:lstStyle/>
          <a:p>
            <a:pPr indent="0" marL="0">
              <a:buNone/>
            </a:pPr>
            <a:r>
              <a:rPr lang="en-US" sz="3000" b="1" dirty="0">
                <a:solidFill>
                  <a:srgbClr val="0B2A5B"/>
                </a:solidFill>
                <a:latin typeface="Cambria" pitchFamily="34" charset="0"/>
                <a:ea typeface="Cambria" pitchFamily="34" charset="-122"/>
                <a:cs typeface="Cambria" pitchFamily="34" charset="-120"/>
              </a:rPr>
              <a:t>Registration and Login</a:t>
            </a:r>
            <a:endParaRPr lang="en-US" sz="3000" dirty="0"/>
          </a:p>
        </p:txBody>
      </p:sp>
      <p:sp>
        <p:nvSpPr>
          <p:cNvPr id="5" name="Text 3"/>
          <p:cNvSpPr txBox="1"/>
          <p:nvPr/>
        </p:nvSpPr>
        <p:spPr>
          <a:xfrm>
            <a:off x="548640" y="1051560"/>
            <a:ext cx="8046720" cy="274320"/>
          </a:xfrm>
          <a:prstGeom prst="rect">
            <a:avLst/>
          </a:prstGeom>
          <a:noFill/>
          <a:ln/>
        </p:spPr>
        <p:txBody>
          <a:bodyPr wrap="square" lIns="0" tIns="0" rIns="0" bIns="0" rtlCol="0" anchor="ctr"/>
          <a:lstStyle/>
          <a:p>
            <a:pPr indent="0" marL="0">
              <a:buNone/>
            </a:pPr>
            <a:r>
              <a:rPr lang="en-US" sz="1250" b="1" dirty="0">
                <a:solidFill>
                  <a:srgbClr val="0B2A5B"/>
                </a:solidFill>
                <a:latin typeface="Calibri" pitchFamily="34" charset="0"/>
                <a:ea typeface="Calibri" pitchFamily="34" charset="-122"/>
                <a:cs typeface="Calibri" pitchFamily="34" charset="-120"/>
              </a:rPr>
              <a:t>Registration  ·  RegisterActivity</a:t>
            </a:r>
            <a:endParaRPr lang="en-US" sz="1250" dirty="0"/>
          </a:p>
        </p:txBody>
      </p:sp>
      <p:sp>
        <p:nvSpPr>
          <p:cNvPr id="6" name="Shape 4"/>
          <p:cNvSpPr/>
          <p:nvPr/>
        </p:nvSpPr>
        <p:spPr>
          <a:xfrm>
            <a:off x="548640" y="1353312"/>
            <a:ext cx="1325880" cy="640080"/>
          </a:xfrm>
          <a:prstGeom prst="roundRect">
            <a:avLst>
              <a:gd name="adj" fmla="val 14286"/>
            </a:avLst>
          </a:prstGeom>
          <a:solidFill>
            <a:srgbClr val="FFFFFF"/>
          </a:solidFill>
          <a:ln w="15240">
            <a:solidFill>
              <a:srgbClr val="1E6FD9"/>
            </a:solidFill>
            <a:prstDash val="solid"/>
          </a:ln>
        </p:spPr>
      </p:sp>
      <p:sp>
        <p:nvSpPr>
          <p:cNvPr id="7" name="Text 5"/>
          <p:cNvSpPr txBox="1"/>
          <p:nvPr/>
        </p:nvSpPr>
        <p:spPr>
          <a:xfrm>
            <a:off x="603504" y="1353312"/>
            <a:ext cx="1216152" cy="640080"/>
          </a:xfrm>
          <a:prstGeom prst="rect">
            <a:avLst/>
          </a:prstGeom>
          <a:noFill/>
          <a:ln/>
        </p:spPr>
        <p:txBody>
          <a:bodyPr wrap="square" lIns="0" tIns="0" rIns="0" bIns="0" rtlCol="0" anchor="ctr"/>
          <a:lstStyle/>
          <a:p>
            <a:pPr algn="ctr" indent="0" marL="0">
              <a:buNone/>
            </a:pPr>
            <a:r>
              <a:rPr lang="en-US" sz="1000" dirty="0">
                <a:solidFill>
                  <a:srgbClr val="14213D"/>
                </a:solidFill>
                <a:latin typeface="Calibri" pitchFamily="34" charset="0"/>
                <a:ea typeface="Calibri" pitchFamily="34" charset="-122"/>
                <a:cs typeface="Calibri" pitchFamily="34" charset="-120"/>
              </a:rPr>
              <a:t>Validates every field with a clear message</a:t>
            </a:r>
            <a:endParaRPr lang="en-US" sz="1000" dirty="0"/>
          </a:p>
        </p:txBody>
      </p:sp>
      <p:pic>
        <p:nvPicPr>
          <p:cNvPr id="8" name="Image 0" descr="preencoded.png">    </p:cNvPr>
          <p:cNvPicPr>
            <a:picLocks noChangeAspect="1"/>
          </p:cNvPicPr>
          <p:nvPr/>
        </p:nvPicPr>
        <p:blipFill>
          <a:blip r:embed="rId1"/>
          <a:stretch>
            <a:fillRect/>
          </a:stretch>
        </p:blipFill>
        <p:spPr>
          <a:xfrm>
            <a:off x="1913382" y="1609344"/>
            <a:ext cx="128016" cy="128016"/>
          </a:xfrm>
          <a:prstGeom prst="rect">
            <a:avLst/>
          </a:prstGeom>
        </p:spPr>
      </p:pic>
      <p:sp>
        <p:nvSpPr>
          <p:cNvPr id="9" name="Shape 6"/>
          <p:cNvSpPr/>
          <p:nvPr/>
        </p:nvSpPr>
        <p:spPr>
          <a:xfrm>
            <a:off x="2080260" y="1353312"/>
            <a:ext cx="2194560" cy="640080"/>
          </a:xfrm>
          <a:prstGeom prst="roundRect">
            <a:avLst>
              <a:gd name="adj" fmla="val 14286"/>
            </a:avLst>
          </a:prstGeom>
          <a:solidFill>
            <a:srgbClr val="FFFFFF"/>
          </a:solidFill>
          <a:ln w="15240">
            <a:solidFill>
              <a:srgbClr val="1E6FD9"/>
            </a:solidFill>
            <a:prstDash val="solid"/>
          </a:ln>
        </p:spPr>
      </p:sp>
      <p:sp>
        <p:nvSpPr>
          <p:cNvPr id="10" name="Text 7"/>
          <p:cNvSpPr txBox="1"/>
          <p:nvPr/>
        </p:nvSpPr>
        <p:spPr>
          <a:xfrm>
            <a:off x="2135124" y="1353312"/>
            <a:ext cx="2084832" cy="640080"/>
          </a:xfrm>
          <a:prstGeom prst="rect">
            <a:avLst/>
          </a:prstGeom>
          <a:noFill/>
          <a:ln/>
        </p:spPr>
        <p:txBody>
          <a:bodyPr wrap="square" lIns="0" tIns="0" rIns="0" bIns="0" rtlCol="0" anchor="ctr"/>
          <a:lstStyle/>
          <a:p>
            <a:pPr algn="ctr" indent="0" marL="0">
              <a:buNone/>
            </a:pPr>
            <a:r>
              <a:rPr lang="en-US" sz="1000" dirty="0">
                <a:solidFill>
                  <a:srgbClr val="14213D"/>
                </a:solidFill>
                <a:latin typeface="Calibri" pitchFamily="34" charset="0"/>
                <a:ea typeface="Calibri" pitchFamily="34" charset="-122"/>
                <a:cs typeface="Calibri" pitchFamily="34" charset="-120"/>
              </a:rPr>
              <a:t>createUserWithEmailAndPassword()</a:t>
            </a:r>
            <a:endParaRPr lang="en-US" sz="1000" dirty="0"/>
          </a:p>
        </p:txBody>
      </p:sp>
      <p:pic>
        <p:nvPicPr>
          <p:cNvPr id="11" name="Image 1" descr="preencoded.png">    </p:cNvPr>
          <p:cNvPicPr>
            <a:picLocks noChangeAspect="1"/>
          </p:cNvPicPr>
          <p:nvPr/>
        </p:nvPicPr>
        <p:blipFill>
          <a:blip r:embed="rId2"/>
          <a:stretch>
            <a:fillRect/>
          </a:stretch>
        </p:blipFill>
        <p:spPr>
          <a:xfrm>
            <a:off x="4313682" y="1609344"/>
            <a:ext cx="128016" cy="128016"/>
          </a:xfrm>
          <a:prstGeom prst="rect">
            <a:avLst/>
          </a:prstGeom>
        </p:spPr>
      </p:pic>
      <p:sp>
        <p:nvSpPr>
          <p:cNvPr id="12" name="Shape 8"/>
          <p:cNvSpPr/>
          <p:nvPr/>
        </p:nvSpPr>
        <p:spPr>
          <a:xfrm>
            <a:off x="4480560" y="1353312"/>
            <a:ext cx="1417320" cy="640080"/>
          </a:xfrm>
          <a:prstGeom prst="roundRect">
            <a:avLst>
              <a:gd name="adj" fmla="val 14286"/>
            </a:avLst>
          </a:prstGeom>
          <a:solidFill>
            <a:srgbClr val="FFFFFF"/>
          </a:solidFill>
          <a:ln w="15240">
            <a:solidFill>
              <a:srgbClr val="1E6FD9"/>
            </a:solidFill>
            <a:prstDash val="solid"/>
          </a:ln>
        </p:spPr>
      </p:sp>
      <p:sp>
        <p:nvSpPr>
          <p:cNvPr id="13" name="Text 9"/>
          <p:cNvSpPr txBox="1"/>
          <p:nvPr/>
        </p:nvSpPr>
        <p:spPr>
          <a:xfrm>
            <a:off x="4535424" y="1353312"/>
            <a:ext cx="1307592" cy="640080"/>
          </a:xfrm>
          <a:prstGeom prst="rect">
            <a:avLst/>
          </a:prstGeom>
          <a:noFill/>
          <a:ln/>
        </p:spPr>
        <p:txBody>
          <a:bodyPr wrap="square" lIns="0" tIns="0" rIns="0" bIns="0" rtlCol="0" anchor="ctr"/>
          <a:lstStyle/>
          <a:p>
            <a:pPr algn="ctr" indent="0" marL="0">
              <a:buNone/>
            </a:pPr>
            <a:r>
              <a:rPr lang="en-US" sz="1000" dirty="0">
                <a:solidFill>
                  <a:srgbClr val="14213D"/>
                </a:solidFill>
                <a:latin typeface="Calibri" pitchFamily="34" charset="0"/>
                <a:ea typeface="Calibri" pitchFamily="34" charset="-122"/>
                <a:cs typeface="Calibri" pitchFamily="34" charset="-120"/>
              </a:rPr>
              <a:t>Writes users/{uid}: profile and role “user”</a:t>
            </a:r>
            <a:endParaRPr lang="en-US" sz="1000" dirty="0"/>
          </a:p>
        </p:txBody>
      </p:sp>
      <p:pic>
        <p:nvPicPr>
          <p:cNvPr id="14" name="Image 2" descr="preencoded.png">    </p:cNvPr>
          <p:cNvPicPr>
            <a:picLocks noChangeAspect="1"/>
          </p:cNvPicPr>
          <p:nvPr/>
        </p:nvPicPr>
        <p:blipFill>
          <a:blip r:embed="rId3"/>
          <a:stretch>
            <a:fillRect/>
          </a:stretch>
        </p:blipFill>
        <p:spPr>
          <a:xfrm>
            <a:off x="5936742" y="1609344"/>
            <a:ext cx="128016" cy="128016"/>
          </a:xfrm>
          <a:prstGeom prst="rect">
            <a:avLst/>
          </a:prstGeom>
        </p:spPr>
      </p:pic>
      <p:sp>
        <p:nvSpPr>
          <p:cNvPr id="15" name="Shape 10"/>
          <p:cNvSpPr/>
          <p:nvPr/>
        </p:nvSpPr>
        <p:spPr>
          <a:xfrm>
            <a:off x="6103620" y="1353312"/>
            <a:ext cx="1280160" cy="640080"/>
          </a:xfrm>
          <a:prstGeom prst="roundRect">
            <a:avLst>
              <a:gd name="adj" fmla="val 14286"/>
            </a:avLst>
          </a:prstGeom>
          <a:solidFill>
            <a:srgbClr val="FFFFFF"/>
          </a:solidFill>
          <a:ln w="15240">
            <a:solidFill>
              <a:srgbClr val="1E6FD9"/>
            </a:solidFill>
            <a:prstDash val="solid"/>
          </a:ln>
        </p:spPr>
      </p:sp>
      <p:sp>
        <p:nvSpPr>
          <p:cNvPr id="16" name="Text 11"/>
          <p:cNvSpPr txBox="1"/>
          <p:nvPr/>
        </p:nvSpPr>
        <p:spPr>
          <a:xfrm>
            <a:off x="6158484" y="1353312"/>
            <a:ext cx="1170432" cy="640080"/>
          </a:xfrm>
          <a:prstGeom prst="rect">
            <a:avLst/>
          </a:prstGeom>
          <a:noFill/>
          <a:ln/>
        </p:spPr>
        <p:txBody>
          <a:bodyPr wrap="square" lIns="0" tIns="0" rIns="0" bIns="0" rtlCol="0" anchor="ctr"/>
          <a:lstStyle/>
          <a:p>
            <a:pPr algn="ctr" indent="0" marL="0">
              <a:buNone/>
            </a:pPr>
            <a:r>
              <a:rPr lang="en-US" sz="1000" dirty="0">
                <a:solidFill>
                  <a:srgbClr val="14213D"/>
                </a:solidFill>
                <a:latin typeface="Calibri" pitchFamily="34" charset="0"/>
                <a:ea typeface="Calibri" pitchFamily="34" charset="-122"/>
                <a:cs typeface="Calibri" pitchFamily="34" charset="-120"/>
              </a:rPr>
              <a:t>Caches the basics in SharedPreferences</a:t>
            </a:r>
            <a:endParaRPr lang="en-US" sz="1000" dirty="0"/>
          </a:p>
        </p:txBody>
      </p:sp>
      <p:pic>
        <p:nvPicPr>
          <p:cNvPr id="17" name="Image 3" descr="preencoded.png">    </p:cNvPr>
          <p:cNvPicPr>
            <a:picLocks noChangeAspect="1"/>
          </p:cNvPicPr>
          <p:nvPr/>
        </p:nvPicPr>
        <p:blipFill>
          <a:blip r:embed="rId4"/>
          <a:stretch>
            <a:fillRect/>
          </a:stretch>
        </p:blipFill>
        <p:spPr>
          <a:xfrm>
            <a:off x="7422642" y="1609344"/>
            <a:ext cx="128016" cy="128016"/>
          </a:xfrm>
          <a:prstGeom prst="rect">
            <a:avLst/>
          </a:prstGeom>
        </p:spPr>
      </p:pic>
      <p:sp>
        <p:nvSpPr>
          <p:cNvPr id="18" name="Shape 12"/>
          <p:cNvSpPr/>
          <p:nvPr/>
        </p:nvSpPr>
        <p:spPr>
          <a:xfrm>
            <a:off x="7589520" y="1353312"/>
            <a:ext cx="1005840" cy="640080"/>
          </a:xfrm>
          <a:prstGeom prst="roundRect">
            <a:avLst>
              <a:gd name="adj" fmla="val 14286"/>
            </a:avLst>
          </a:prstGeom>
          <a:solidFill>
            <a:srgbClr val="1E6FD9"/>
          </a:solidFill>
          <a:ln w="15240">
            <a:solidFill>
              <a:srgbClr val="1E6FD9"/>
            </a:solidFill>
            <a:prstDash val="solid"/>
          </a:ln>
        </p:spPr>
      </p:sp>
      <p:sp>
        <p:nvSpPr>
          <p:cNvPr id="19" name="Text 13"/>
          <p:cNvSpPr txBox="1"/>
          <p:nvPr/>
        </p:nvSpPr>
        <p:spPr>
          <a:xfrm>
            <a:off x="7644384" y="1353312"/>
            <a:ext cx="896112" cy="6400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Opens Home, back stack cleared</a:t>
            </a:r>
            <a:endParaRPr lang="en-US" sz="1000" dirty="0"/>
          </a:p>
        </p:txBody>
      </p:sp>
      <p:sp>
        <p:nvSpPr>
          <p:cNvPr id="20" name="Text 14"/>
          <p:cNvSpPr txBox="1"/>
          <p:nvPr/>
        </p:nvSpPr>
        <p:spPr>
          <a:xfrm>
            <a:off x="548640" y="2194560"/>
            <a:ext cx="8046720" cy="274320"/>
          </a:xfrm>
          <a:prstGeom prst="rect">
            <a:avLst/>
          </a:prstGeom>
          <a:noFill/>
          <a:ln/>
        </p:spPr>
        <p:txBody>
          <a:bodyPr wrap="square" lIns="0" tIns="0" rIns="0" bIns="0" rtlCol="0" anchor="ctr"/>
          <a:lstStyle/>
          <a:p>
            <a:pPr indent="0" marL="0">
              <a:buNone/>
            </a:pPr>
            <a:r>
              <a:rPr lang="en-US" sz="1250" b="1" dirty="0">
                <a:solidFill>
                  <a:srgbClr val="0B2A5B"/>
                </a:solidFill>
                <a:latin typeface="Calibri" pitchFamily="34" charset="0"/>
                <a:ea typeface="Calibri" pitchFamily="34" charset="-122"/>
                <a:cs typeface="Calibri" pitchFamily="34" charset="-120"/>
              </a:rPr>
              <a:t>Login  ·  LoginFormActivity</a:t>
            </a:r>
            <a:endParaRPr lang="en-US" sz="1250" dirty="0"/>
          </a:p>
        </p:txBody>
      </p:sp>
      <p:sp>
        <p:nvSpPr>
          <p:cNvPr id="21" name="Shape 15"/>
          <p:cNvSpPr/>
          <p:nvPr/>
        </p:nvSpPr>
        <p:spPr>
          <a:xfrm>
            <a:off x="548640" y="2496312"/>
            <a:ext cx="2011680" cy="640080"/>
          </a:xfrm>
          <a:prstGeom prst="roundRect">
            <a:avLst>
              <a:gd name="adj" fmla="val 14286"/>
            </a:avLst>
          </a:prstGeom>
          <a:solidFill>
            <a:srgbClr val="FFFFFF"/>
          </a:solidFill>
          <a:ln w="15240">
            <a:solidFill>
              <a:srgbClr val="1E6FD9"/>
            </a:solidFill>
            <a:prstDash val="solid"/>
          </a:ln>
        </p:spPr>
      </p:sp>
      <p:sp>
        <p:nvSpPr>
          <p:cNvPr id="22" name="Text 16"/>
          <p:cNvSpPr txBox="1"/>
          <p:nvPr/>
        </p:nvSpPr>
        <p:spPr>
          <a:xfrm>
            <a:off x="603504" y="2496312"/>
            <a:ext cx="1901952" cy="640080"/>
          </a:xfrm>
          <a:prstGeom prst="rect">
            <a:avLst/>
          </a:prstGeom>
          <a:noFill/>
          <a:ln/>
        </p:spPr>
        <p:txBody>
          <a:bodyPr wrap="square" lIns="0" tIns="0" rIns="0" bIns="0" rtlCol="0" anchor="ctr"/>
          <a:lstStyle/>
          <a:p>
            <a:pPr algn="ctr" indent="0" marL="0">
              <a:buNone/>
            </a:pPr>
            <a:r>
              <a:rPr lang="en-US" sz="1000" dirty="0">
                <a:solidFill>
                  <a:srgbClr val="14213D"/>
                </a:solidFill>
                <a:latin typeface="Calibri" pitchFamily="34" charset="0"/>
                <a:ea typeface="Calibri" pitchFamily="34" charset="-122"/>
                <a:cs typeface="Calibri" pitchFamily="34" charset="-120"/>
              </a:rPr>
              <a:t>signInWithEmailAndPassword()</a:t>
            </a:r>
            <a:endParaRPr lang="en-US" sz="1000" dirty="0"/>
          </a:p>
        </p:txBody>
      </p:sp>
      <p:pic>
        <p:nvPicPr>
          <p:cNvPr id="23" name="Image 4" descr="preencoded.png">    </p:cNvPr>
          <p:cNvPicPr>
            <a:picLocks noChangeAspect="1"/>
          </p:cNvPicPr>
          <p:nvPr/>
        </p:nvPicPr>
        <p:blipFill>
          <a:blip r:embed="rId5"/>
          <a:stretch>
            <a:fillRect/>
          </a:stretch>
        </p:blipFill>
        <p:spPr>
          <a:xfrm>
            <a:off x="2633472" y="2752344"/>
            <a:ext cx="128016" cy="128016"/>
          </a:xfrm>
          <a:prstGeom prst="rect">
            <a:avLst/>
          </a:prstGeom>
        </p:spPr>
      </p:pic>
      <p:sp>
        <p:nvSpPr>
          <p:cNvPr id="24" name="Shape 17"/>
          <p:cNvSpPr/>
          <p:nvPr/>
        </p:nvSpPr>
        <p:spPr>
          <a:xfrm>
            <a:off x="2834640" y="2496312"/>
            <a:ext cx="1920240" cy="640080"/>
          </a:xfrm>
          <a:prstGeom prst="roundRect">
            <a:avLst>
              <a:gd name="adj" fmla="val 14286"/>
            </a:avLst>
          </a:prstGeom>
          <a:solidFill>
            <a:srgbClr val="FFFFFF"/>
          </a:solidFill>
          <a:ln w="15240">
            <a:solidFill>
              <a:srgbClr val="1E6FD9"/>
            </a:solidFill>
            <a:prstDash val="solid"/>
          </a:ln>
        </p:spPr>
      </p:sp>
      <p:sp>
        <p:nvSpPr>
          <p:cNvPr id="25" name="Text 18"/>
          <p:cNvSpPr txBox="1"/>
          <p:nvPr/>
        </p:nvSpPr>
        <p:spPr>
          <a:xfrm>
            <a:off x="2889504" y="2496312"/>
            <a:ext cx="1810512" cy="640080"/>
          </a:xfrm>
          <a:prstGeom prst="rect">
            <a:avLst/>
          </a:prstGeom>
          <a:noFill/>
          <a:ln/>
        </p:spPr>
        <p:txBody>
          <a:bodyPr wrap="square" lIns="0" tIns="0" rIns="0" bIns="0" rtlCol="0" anchor="ctr"/>
          <a:lstStyle/>
          <a:p>
            <a:pPr algn="ctr" indent="0" marL="0">
              <a:buNone/>
            </a:pPr>
            <a:r>
              <a:rPr lang="en-US" sz="1000" dirty="0">
                <a:solidFill>
                  <a:srgbClr val="14213D"/>
                </a:solidFill>
                <a:latin typeface="Calibri" pitchFamily="34" charset="0"/>
                <a:ea typeface="Calibri" pitchFamily="34" charset="-122"/>
                <a:cs typeface="Calibri" pitchFamily="34" charset="-120"/>
              </a:rPr>
              <a:t>Reads users/{uid} for name and role</a:t>
            </a:r>
            <a:endParaRPr lang="en-US" sz="1000" dirty="0"/>
          </a:p>
        </p:txBody>
      </p:sp>
      <p:pic>
        <p:nvPicPr>
          <p:cNvPr id="26" name="Image 5" descr="preencoded.png">    </p:cNvPr>
          <p:cNvPicPr>
            <a:picLocks noChangeAspect="1"/>
          </p:cNvPicPr>
          <p:nvPr/>
        </p:nvPicPr>
        <p:blipFill>
          <a:blip r:embed="rId6"/>
          <a:stretch>
            <a:fillRect/>
          </a:stretch>
        </p:blipFill>
        <p:spPr>
          <a:xfrm>
            <a:off x="4828032" y="2752344"/>
            <a:ext cx="128016" cy="128016"/>
          </a:xfrm>
          <a:prstGeom prst="rect">
            <a:avLst/>
          </a:prstGeom>
        </p:spPr>
      </p:pic>
      <p:sp>
        <p:nvSpPr>
          <p:cNvPr id="27" name="Shape 19"/>
          <p:cNvSpPr/>
          <p:nvPr/>
        </p:nvSpPr>
        <p:spPr>
          <a:xfrm>
            <a:off x="5029200" y="2496312"/>
            <a:ext cx="1828800" cy="640080"/>
          </a:xfrm>
          <a:prstGeom prst="roundRect">
            <a:avLst>
              <a:gd name="adj" fmla="val 14286"/>
            </a:avLst>
          </a:prstGeom>
          <a:solidFill>
            <a:srgbClr val="FFFFFF"/>
          </a:solidFill>
          <a:ln w="15240">
            <a:solidFill>
              <a:srgbClr val="1E6FD9"/>
            </a:solidFill>
            <a:prstDash val="solid"/>
          </a:ln>
        </p:spPr>
      </p:sp>
      <p:sp>
        <p:nvSpPr>
          <p:cNvPr id="28" name="Text 20"/>
          <p:cNvSpPr txBox="1"/>
          <p:nvPr/>
        </p:nvSpPr>
        <p:spPr>
          <a:xfrm>
            <a:off x="5084064" y="2496312"/>
            <a:ext cx="1719072" cy="640080"/>
          </a:xfrm>
          <a:prstGeom prst="rect">
            <a:avLst/>
          </a:prstGeom>
          <a:noFill/>
          <a:ln/>
        </p:spPr>
        <p:txBody>
          <a:bodyPr wrap="square" lIns="0" tIns="0" rIns="0" bIns="0" rtlCol="0" anchor="ctr"/>
          <a:lstStyle/>
          <a:p>
            <a:pPr algn="ctr" indent="0" marL="0">
              <a:buNone/>
            </a:pPr>
            <a:r>
              <a:rPr lang="en-US" sz="1000" dirty="0">
                <a:solidFill>
                  <a:srgbClr val="14213D"/>
                </a:solidFill>
                <a:latin typeface="Calibri" pitchFamily="34" charset="0"/>
                <a:ea typeface="Calibri" pitchFamily="34" charset="-122"/>
                <a:cs typeface="Calibri" pitchFamily="34" charset="-120"/>
              </a:rPr>
              <a:t>Stores them in CampusPrefs</a:t>
            </a:r>
            <a:endParaRPr lang="en-US" sz="1000" dirty="0"/>
          </a:p>
        </p:txBody>
      </p:sp>
      <p:pic>
        <p:nvPicPr>
          <p:cNvPr id="29" name="Image 6" descr="preencoded.png">    </p:cNvPr>
          <p:cNvPicPr>
            <a:picLocks noChangeAspect="1"/>
          </p:cNvPicPr>
          <p:nvPr/>
        </p:nvPicPr>
        <p:blipFill>
          <a:blip r:embed="rId7"/>
          <a:stretch>
            <a:fillRect/>
          </a:stretch>
        </p:blipFill>
        <p:spPr>
          <a:xfrm>
            <a:off x="6931152" y="2752344"/>
            <a:ext cx="128016" cy="128016"/>
          </a:xfrm>
          <a:prstGeom prst="rect">
            <a:avLst/>
          </a:prstGeom>
        </p:spPr>
      </p:pic>
      <p:sp>
        <p:nvSpPr>
          <p:cNvPr id="30" name="Shape 21"/>
          <p:cNvSpPr/>
          <p:nvPr/>
        </p:nvSpPr>
        <p:spPr>
          <a:xfrm>
            <a:off x="7132320" y="2496312"/>
            <a:ext cx="1463040" cy="640080"/>
          </a:xfrm>
          <a:prstGeom prst="roundRect">
            <a:avLst>
              <a:gd name="adj" fmla="val 14286"/>
            </a:avLst>
          </a:prstGeom>
          <a:solidFill>
            <a:srgbClr val="1E6FD9"/>
          </a:solidFill>
          <a:ln w="15240">
            <a:solidFill>
              <a:srgbClr val="1E6FD9"/>
            </a:solidFill>
            <a:prstDash val="solid"/>
          </a:ln>
        </p:spPr>
      </p:sp>
      <p:sp>
        <p:nvSpPr>
          <p:cNvPr id="31" name="Text 22"/>
          <p:cNvSpPr txBox="1"/>
          <p:nvPr/>
        </p:nvSpPr>
        <p:spPr>
          <a:xfrm>
            <a:off x="7187184" y="2496312"/>
            <a:ext cx="1353312" cy="6400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Opens Home</a:t>
            </a:r>
            <a:endParaRPr lang="en-US" sz="1000" dirty="0"/>
          </a:p>
        </p:txBody>
      </p:sp>
      <p:sp>
        <p:nvSpPr>
          <p:cNvPr id="32" name="Text 23"/>
          <p:cNvSpPr txBox="1"/>
          <p:nvPr/>
        </p:nvSpPr>
        <p:spPr>
          <a:xfrm>
            <a:off x="548640" y="3337560"/>
            <a:ext cx="8046720" cy="274320"/>
          </a:xfrm>
          <a:prstGeom prst="rect">
            <a:avLst/>
          </a:prstGeom>
          <a:noFill/>
          <a:ln/>
        </p:spPr>
        <p:txBody>
          <a:bodyPr wrap="square" lIns="0" tIns="0" rIns="0" bIns="0" rtlCol="0" anchor="ctr"/>
          <a:lstStyle/>
          <a:p>
            <a:pPr indent="0" marL="0">
              <a:buNone/>
            </a:pPr>
            <a:r>
              <a:rPr lang="en-US" sz="1250" b="1" dirty="0">
                <a:solidFill>
                  <a:srgbClr val="0B2A5B"/>
                </a:solidFill>
                <a:latin typeface="Calibri" pitchFamily="34" charset="0"/>
                <a:ea typeface="Calibri" pitchFamily="34" charset="-122"/>
                <a:cs typeface="Calibri" pitchFamily="34" charset="-120"/>
              </a:rPr>
              <a:t>Forgot password  ·  ForgotPasswordActivity</a:t>
            </a:r>
            <a:endParaRPr lang="en-US" sz="1250" dirty="0"/>
          </a:p>
        </p:txBody>
      </p:sp>
      <p:sp>
        <p:nvSpPr>
          <p:cNvPr id="33" name="Shape 24"/>
          <p:cNvSpPr/>
          <p:nvPr/>
        </p:nvSpPr>
        <p:spPr>
          <a:xfrm>
            <a:off x="548640" y="3639312"/>
            <a:ext cx="2194560" cy="640080"/>
          </a:xfrm>
          <a:prstGeom prst="roundRect">
            <a:avLst>
              <a:gd name="adj" fmla="val 14286"/>
            </a:avLst>
          </a:prstGeom>
          <a:solidFill>
            <a:srgbClr val="FFFFFF"/>
          </a:solidFill>
          <a:ln w="15240">
            <a:solidFill>
              <a:srgbClr val="1E6FD9"/>
            </a:solidFill>
            <a:prstDash val="solid"/>
          </a:ln>
        </p:spPr>
      </p:sp>
      <p:sp>
        <p:nvSpPr>
          <p:cNvPr id="34" name="Text 25"/>
          <p:cNvSpPr txBox="1"/>
          <p:nvPr/>
        </p:nvSpPr>
        <p:spPr>
          <a:xfrm>
            <a:off x="603504" y="3639312"/>
            <a:ext cx="2084832" cy="640080"/>
          </a:xfrm>
          <a:prstGeom prst="rect">
            <a:avLst/>
          </a:prstGeom>
          <a:noFill/>
          <a:ln/>
        </p:spPr>
        <p:txBody>
          <a:bodyPr wrap="square" lIns="0" tIns="0" rIns="0" bIns="0" rtlCol="0" anchor="ctr"/>
          <a:lstStyle/>
          <a:p>
            <a:pPr algn="ctr" indent="0" marL="0">
              <a:buNone/>
            </a:pPr>
            <a:r>
              <a:rPr lang="en-US" sz="1000" dirty="0">
                <a:solidFill>
                  <a:srgbClr val="14213D"/>
                </a:solidFill>
                <a:latin typeface="Calibri" pitchFamily="34" charset="0"/>
                <a:ea typeface="Calibri" pitchFamily="34" charset="-122"/>
                <a:cs typeface="Calibri" pitchFamily="34" charset="-120"/>
              </a:rPr>
              <a:t>Validates the email address</a:t>
            </a:r>
            <a:endParaRPr lang="en-US" sz="1000" dirty="0"/>
          </a:p>
        </p:txBody>
      </p:sp>
      <p:pic>
        <p:nvPicPr>
          <p:cNvPr id="35" name="Image 7" descr="preencoded.png">    </p:cNvPr>
          <p:cNvPicPr>
            <a:picLocks noChangeAspect="1"/>
          </p:cNvPicPr>
          <p:nvPr/>
        </p:nvPicPr>
        <p:blipFill>
          <a:blip r:embed="rId8"/>
          <a:stretch>
            <a:fillRect/>
          </a:stretch>
        </p:blipFill>
        <p:spPr>
          <a:xfrm>
            <a:off x="3044952" y="3895344"/>
            <a:ext cx="128016" cy="128016"/>
          </a:xfrm>
          <a:prstGeom prst="rect">
            <a:avLst/>
          </a:prstGeom>
        </p:spPr>
      </p:pic>
      <p:sp>
        <p:nvSpPr>
          <p:cNvPr id="36" name="Shape 26"/>
          <p:cNvSpPr/>
          <p:nvPr/>
        </p:nvSpPr>
        <p:spPr>
          <a:xfrm>
            <a:off x="3474720" y="3639312"/>
            <a:ext cx="2194560" cy="640080"/>
          </a:xfrm>
          <a:prstGeom prst="roundRect">
            <a:avLst>
              <a:gd name="adj" fmla="val 14286"/>
            </a:avLst>
          </a:prstGeom>
          <a:solidFill>
            <a:srgbClr val="FFFFFF"/>
          </a:solidFill>
          <a:ln w="15240">
            <a:solidFill>
              <a:srgbClr val="1E6FD9"/>
            </a:solidFill>
            <a:prstDash val="solid"/>
          </a:ln>
        </p:spPr>
      </p:sp>
      <p:sp>
        <p:nvSpPr>
          <p:cNvPr id="37" name="Text 27"/>
          <p:cNvSpPr txBox="1"/>
          <p:nvPr/>
        </p:nvSpPr>
        <p:spPr>
          <a:xfrm>
            <a:off x="3529584" y="3639312"/>
            <a:ext cx="2084832" cy="640080"/>
          </a:xfrm>
          <a:prstGeom prst="rect">
            <a:avLst/>
          </a:prstGeom>
          <a:noFill/>
          <a:ln/>
        </p:spPr>
        <p:txBody>
          <a:bodyPr wrap="square" lIns="0" tIns="0" rIns="0" bIns="0" rtlCol="0" anchor="ctr"/>
          <a:lstStyle/>
          <a:p>
            <a:pPr algn="ctr" indent="0" marL="0">
              <a:buNone/>
            </a:pPr>
            <a:r>
              <a:rPr lang="en-US" sz="1000" dirty="0">
                <a:solidFill>
                  <a:srgbClr val="14213D"/>
                </a:solidFill>
                <a:latin typeface="Calibri" pitchFamily="34" charset="0"/>
                <a:ea typeface="Calibri" pitchFamily="34" charset="-122"/>
                <a:cs typeface="Calibri" pitchFamily="34" charset="-120"/>
              </a:rPr>
              <a:t>sendPasswordResetEmail()</a:t>
            </a:r>
            <a:endParaRPr lang="en-US" sz="1000" dirty="0"/>
          </a:p>
        </p:txBody>
      </p:sp>
      <p:pic>
        <p:nvPicPr>
          <p:cNvPr id="38" name="Image 8" descr="preencoded.png">    </p:cNvPr>
          <p:cNvPicPr>
            <a:picLocks noChangeAspect="1"/>
          </p:cNvPicPr>
          <p:nvPr/>
        </p:nvPicPr>
        <p:blipFill>
          <a:blip r:embed="rId9"/>
          <a:stretch>
            <a:fillRect/>
          </a:stretch>
        </p:blipFill>
        <p:spPr>
          <a:xfrm>
            <a:off x="5971032" y="3895344"/>
            <a:ext cx="128016" cy="128016"/>
          </a:xfrm>
          <a:prstGeom prst="rect">
            <a:avLst/>
          </a:prstGeom>
        </p:spPr>
      </p:pic>
      <p:sp>
        <p:nvSpPr>
          <p:cNvPr id="39" name="Shape 28"/>
          <p:cNvSpPr/>
          <p:nvPr/>
        </p:nvSpPr>
        <p:spPr>
          <a:xfrm>
            <a:off x="6400800" y="3639312"/>
            <a:ext cx="2194560" cy="640080"/>
          </a:xfrm>
          <a:prstGeom prst="roundRect">
            <a:avLst>
              <a:gd name="adj" fmla="val 14286"/>
            </a:avLst>
          </a:prstGeom>
          <a:solidFill>
            <a:srgbClr val="1E6FD9"/>
          </a:solidFill>
          <a:ln w="15240">
            <a:solidFill>
              <a:srgbClr val="1E6FD9"/>
            </a:solidFill>
            <a:prstDash val="solid"/>
          </a:ln>
        </p:spPr>
      </p:sp>
      <p:sp>
        <p:nvSpPr>
          <p:cNvPr id="40" name="Text 29"/>
          <p:cNvSpPr txBox="1"/>
          <p:nvPr/>
        </p:nvSpPr>
        <p:spPr>
          <a:xfrm>
            <a:off x="6455664" y="3639312"/>
            <a:ext cx="2084832" cy="6400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Students recover their own accounts</a:t>
            </a:r>
            <a:endParaRPr lang="en-US" sz="1000" dirty="0"/>
          </a:p>
        </p:txBody>
      </p:sp>
      <p:sp>
        <p:nvSpPr>
          <p:cNvPr id="41" name="Shape 30"/>
          <p:cNvSpPr/>
          <p:nvPr/>
        </p:nvSpPr>
        <p:spPr>
          <a:xfrm>
            <a:off x="548640" y="4389120"/>
            <a:ext cx="8046720" cy="457200"/>
          </a:xfrm>
          <a:prstGeom prst="roundRect">
            <a:avLst>
              <a:gd name="adj" fmla="val 24000"/>
            </a:avLst>
          </a:prstGeom>
          <a:solidFill>
            <a:srgbClr val="EAF3FF"/>
          </a:solidFill>
          <a:ln w="12700">
            <a:solidFill>
              <a:srgbClr val="BBD6F7"/>
            </a:solidFill>
            <a:prstDash val="solid"/>
          </a:ln>
        </p:spPr>
      </p:sp>
      <p:sp>
        <p:nvSpPr>
          <p:cNvPr id="42" name="Shape 31"/>
          <p:cNvSpPr/>
          <p:nvPr/>
        </p:nvSpPr>
        <p:spPr>
          <a:xfrm>
            <a:off x="658368" y="4434840"/>
            <a:ext cx="365760" cy="365760"/>
          </a:xfrm>
          <a:prstGeom prst="ellipse">
            <a:avLst/>
          </a:prstGeom>
          <a:solidFill>
            <a:srgbClr val="1E6FD9"/>
          </a:solidFill>
          <a:ln w="12700">
            <a:solidFill>
              <a:srgbClr val="1E6FD9"/>
            </a:solidFill>
            <a:prstDash val="solid"/>
          </a:ln>
        </p:spPr>
      </p:sp>
      <p:pic>
        <p:nvPicPr>
          <p:cNvPr id="43" name="Image 9" descr="preencoded.png">    </p:cNvPr>
          <p:cNvPicPr>
            <a:picLocks noChangeAspect="1"/>
          </p:cNvPicPr>
          <p:nvPr/>
        </p:nvPicPr>
        <p:blipFill>
          <a:blip r:embed="rId10"/>
          <a:stretch>
            <a:fillRect/>
          </a:stretch>
        </p:blipFill>
        <p:spPr>
          <a:xfrm>
            <a:off x="749808" y="4526280"/>
            <a:ext cx="182880" cy="182880"/>
          </a:xfrm>
          <a:prstGeom prst="rect">
            <a:avLst/>
          </a:prstGeom>
        </p:spPr>
      </p:pic>
      <p:sp>
        <p:nvSpPr>
          <p:cNvPr id="44" name="Text 32"/>
          <p:cNvSpPr txBox="1"/>
          <p:nvPr/>
        </p:nvSpPr>
        <p:spPr>
          <a:xfrm>
            <a:off x="1143000" y="4389120"/>
            <a:ext cx="7315200" cy="457200"/>
          </a:xfrm>
          <a:prstGeom prst="rect">
            <a:avLst/>
          </a:prstGeom>
          <a:noFill/>
          <a:ln/>
        </p:spPr>
        <p:txBody>
          <a:bodyPr wrap="square" lIns="0" tIns="0" rIns="0" bIns="0" rtlCol="0" anchor="ctr"/>
          <a:lstStyle/>
          <a:p>
            <a:pPr indent="0" marL="0">
              <a:buNone/>
            </a:pPr>
            <a:r>
              <a:rPr lang="en-US" sz="1200" b="1" dirty="0">
                <a:solidFill>
                  <a:srgbClr val="0B2A5B"/>
                </a:solidFill>
                <a:latin typeface="Calibri" pitchFamily="34" charset="0"/>
                <a:ea typeface="Calibri" pitchFamily="34" charset="-122"/>
                <a:cs typeface="Calibri" pitchFamily="34" charset="-120"/>
              </a:rPr>
              <a:t>Passwords are handled only by Firebase and are never stored in the app.</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9FF"/>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E6FD9"/>
          </a:solidFill>
          <a:ln w="12700">
            <a:solidFill>
              <a:srgbClr val="1E6FD9"/>
            </a:solidFill>
            <a:prstDash val="solid"/>
          </a:ln>
        </p:spPr>
      </p:sp>
      <p:sp>
        <p:nvSpPr>
          <p:cNvPr id="3" name="Text 1"/>
          <p:cNvSpPr txBox="1"/>
          <p:nvPr/>
        </p:nvSpPr>
        <p:spPr>
          <a:xfrm>
            <a:off x="548640" y="91440"/>
            <a:ext cx="7680960" cy="228600"/>
          </a:xfrm>
          <a:prstGeom prst="rect">
            <a:avLst/>
          </a:prstGeom>
          <a:noFill/>
          <a:ln/>
        </p:spPr>
        <p:txBody>
          <a:bodyPr wrap="square" lIns="0" tIns="0" rIns="0" bIns="0" rtlCol="0" anchor="ctr"/>
          <a:lstStyle/>
          <a:p>
            <a:pPr indent="0" marL="0">
              <a:buNone/>
            </a:pPr>
            <a:r>
              <a:rPr lang="en-US" sz="900" b="1" spc="200" kern="0" dirty="0">
                <a:solidFill>
                  <a:srgbClr val="1E6FD9"/>
                </a:solidFill>
                <a:latin typeface="Calibri" pitchFamily="34" charset="0"/>
                <a:ea typeface="Calibri" pitchFamily="34" charset="-122"/>
                <a:cs typeface="Calibri" pitchFamily="34" charset="-120"/>
              </a:rPr>
              <a:t>IMPLEMENTATION</a:t>
            </a:r>
            <a:endParaRPr lang="en-US" sz="900" dirty="0"/>
          </a:p>
        </p:txBody>
      </p:sp>
      <p:sp>
        <p:nvSpPr>
          <p:cNvPr id="4" name="Text 2"/>
          <p:cNvSpPr txBox="1"/>
          <p:nvPr/>
        </p:nvSpPr>
        <p:spPr>
          <a:xfrm>
            <a:off x="548640" y="320040"/>
            <a:ext cx="8229600" cy="640080"/>
          </a:xfrm>
          <a:prstGeom prst="rect">
            <a:avLst/>
          </a:prstGeom>
          <a:noFill/>
          <a:ln/>
        </p:spPr>
        <p:txBody>
          <a:bodyPr wrap="square" lIns="0" tIns="0" rIns="0" bIns="0" rtlCol="0" anchor="ctr"/>
          <a:lstStyle/>
          <a:p>
            <a:pPr indent="0" marL="0">
              <a:buNone/>
            </a:pPr>
            <a:r>
              <a:rPr lang="en-US" sz="3000" b="1" dirty="0">
                <a:solidFill>
                  <a:srgbClr val="0B2A5B"/>
                </a:solidFill>
                <a:latin typeface="Cambria" pitchFamily="34" charset="0"/>
                <a:ea typeface="Cambria" pitchFamily="34" charset="-122"/>
                <a:cs typeface="Cambria" pitchFamily="34" charset="-120"/>
              </a:rPr>
              <a:t>Administrator Accounts and Roles</a:t>
            </a:r>
            <a:endParaRPr lang="en-US" sz="3000" dirty="0"/>
          </a:p>
        </p:txBody>
      </p:sp>
      <p:sp>
        <p:nvSpPr>
          <p:cNvPr id="5" name="Shape 3"/>
          <p:cNvSpPr/>
          <p:nvPr/>
        </p:nvSpPr>
        <p:spPr>
          <a:xfrm>
            <a:off x="548640" y="1097280"/>
            <a:ext cx="2468880" cy="640080"/>
          </a:xfrm>
          <a:prstGeom prst="roundRect">
            <a:avLst>
              <a:gd name="adj" fmla="val 14286"/>
            </a:avLst>
          </a:prstGeom>
          <a:solidFill>
            <a:srgbClr val="FFFFFF"/>
          </a:solidFill>
          <a:ln w="15240">
            <a:solidFill>
              <a:srgbClr val="1E6FD9"/>
            </a:solidFill>
            <a:prstDash val="solid"/>
          </a:ln>
        </p:spPr>
      </p:sp>
      <p:sp>
        <p:nvSpPr>
          <p:cNvPr id="6" name="Text 4"/>
          <p:cNvSpPr txBox="1"/>
          <p:nvPr/>
        </p:nvSpPr>
        <p:spPr>
          <a:xfrm>
            <a:off x="621792" y="1097280"/>
            <a:ext cx="2322576" cy="640080"/>
          </a:xfrm>
          <a:prstGeom prst="rect">
            <a:avLst/>
          </a:prstGeom>
          <a:noFill/>
          <a:ln/>
        </p:spPr>
        <p:txBody>
          <a:bodyPr wrap="square" lIns="0" tIns="0" rIns="0" bIns="0" rtlCol="0" anchor="ctr"/>
          <a:lstStyle/>
          <a:p>
            <a:pPr algn="ctr" indent="0" marL="0">
              <a:buNone/>
            </a:pPr>
            <a:r>
              <a:rPr lang="en-US" sz="1100" dirty="0">
                <a:solidFill>
                  <a:srgbClr val="14213D"/>
                </a:solidFill>
                <a:latin typeface="Calibri" pitchFamily="34" charset="0"/>
                <a:ea typeface="Calibri" pitchFamily="34" charset="-122"/>
                <a:cs typeface="Calibri" pitchFamily="34" charset="-120"/>
              </a:rPr>
              <a:t>Create Admin Account registers a normal Firebase user</a:t>
            </a:r>
            <a:endParaRPr lang="en-US" sz="1100" dirty="0"/>
          </a:p>
        </p:txBody>
      </p:sp>
      <p:pic>
        <p:nvPicPr>
          <p:cNvPr id="7" name="Image 0" descr="preencoded.png">    </p:cNvPr>
          <p:cNvPicPr>
            <a:picLocks noChangeAspect="1"/>
          </p:cNvPicPr>
          <p:nvPr/>
        </p:nvPicPr>
        <p:blipFill>
          <a:blip r:embed="rId1"/>
          <a:stretch>
            <a:fillRect/>
          </a:stretch>
        </p:blipFill>
        <p:spPr>
          <a:xfrm>
            <a:off x="3108960" y="1353312"/>
            <a:ext cx="128016" cy="128016"/>
          </a:xfrm>
          <a:prstGeom prst="rect">
            <a:avLst/>
          </a:prstGeom>
        </p:spPr>
      </p:pic>
      <p:sp>
        <p:nvSpPr>
          <p:cNvPr id="8" name="Shape 5"/>
          <p:cNvSpPr/>
          <p:nvPr/>
        </p:nvSpPr>
        <p:spPr>
          <a:xfrm>
            <a:off x="3337560" y="1097280"/>
            <a:ext cx="2468880" cy="640080"/>
          </a:xfrm>
          <a:prstGeom prst="roundRect">
            <a:avLst>
              <a:gd name="adj" fmla="val 14286"/>
            </a:avLst>
          </a:prstGeom>
          <a:solidFill>
            <a:srgbClr val="FFFFFF"/>
          </a:solidFill>
          <a:ln w="15240">
            <a:solidFill>
              <a:srgbClr val="1E6FD9"/>
            </a:solidFill>
            <a:prstDash val="solid"/>
          </a:ln>
        </p:spPr>
      </p:sp>
      <p:sp>
        <p:nvSpPr>
          <p:cNvPr id="9" name="Text 6"/>
          <p:cNvSpPr txBox="1"/>
          <p:nvPr/>
        </p:nvSpPr>
        <p:spPr>
          <a:xfrm>
            <a:off x="3410712" y="1097280"/>
            <a:ext cx="2322576" cy="640080"/>
          </a:xfrm>
          <a:prstGeom prst="rect">
            <a:avLst/>
          </a:prstGeom>
          <a:noFill/>
          <a:ln/>
        </p:spPr>
        <p:txBody>
          <a:bodyPr wrap="square" lIns="0" tIns="0" rIns="0" bIns="0" rtlCol="0" anchor="ctr"/>
          <a:lstStyle/>
          <a:p>
            <a:pPr algn="ctr" indent="0" marL="0">
              <a:buNone/>
            </a:pPr>
            <a:r>
              <a:rPr lang="en-US" sz="1100" dirty="0">
                <a:solidFill>
                  <a:srgbClr val="14213D"/>
                </a:solidFill>
                <a:latin typeface="Calibri" pitchFamily="34" charset="0"/>
                <a:ea typeface="Calibri" pitchFamily="34" charset="-122"/>
                <a:cs typeface="Calibri" pitchFamily="34" charset="-120"/>
              </a:rPr>
              <a:t>Role stored as pending_admin</a:t>
            </a:r>
            <a:endParaRPr lang="en-US" sz="1100" dirty="0"/>
          </a:p>
        </p:txBody>
      </p:sp>
      <p:pic>
        <p:nvPicPr>
          <p:cNvPr id="10" name="Image 1" descr="preencoded.png">    </p:cNvPr>
          <p:cNvPicPr>
            <a:picLocks noChangeAspect="1"/>
          </p:cNvPicPr>
          <p:nvPr/>
        </p:nvPicPr>
        <p:blipFill>
          <a:blip r:embed="rId2"/>
          <a:stretch>
            <a:fillRect/>
          </a:stretch>
        </p:blipFill>
        <p:spPr>
          <a:xfrm>
            <a:off x="5897880" y="1353312"/>
            <a:ext cx="128016" cy="128016"/>
          </a:xfrm>
          <a:prstGeom prst="rect">
            <a:avLst/>
          </a:prstGeom>
        </p:spPr>
      </p:pic>
      <p:sp>
        <p:nvSpPr>
          <p:cNvPr id="11" name="Shape 7"/>
          <p:cNvSpPr/>
          <p:nvPr/>
        </p:nvSpPr>
        <p:spPr>
          <a:xfrm>
            <a:off x="6126480" y="1097280"/>
            <a:ext cx="2468880" cy="640080"/>
          </a:xfrm>
          <a:prstGeom prst="roundRect">
            <a:avLst>
              <a:gd name="adj" fmla="val 14286"/>
            </a:avLst>
          </a:prstGeom>
          <a:solidFill>
            <a:srgbClr val="1E6FD9"/>
          </a:solidFill>
          <a:ln w="15240">
            <a:solidFill>
              <a:srgbClr val="1E6FD9"/>
            </a:solidFill>
            <a:prstDash val="solid"/>
          </a:ln>
        </p:spPr>
      </p:sp>
      <p:sp>
        <p:nvSpPr>
          <p:cNvPr id="12" name="Text 8"/>
          <p:cNvSpPr txBox="1"/>
          <p:nvPr/>
        </p:nvSpPr>
        <p:spPr>
          <a:xfrm>
            <a:off x="6199632" y="1097280"/>
            <a:ext cx="2322576" cy="6400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Person is signed out immediately</a:t>
            </a:r>
            <a:endParaRPr lang="en-US" sz="1100" dirty="0"/>
          </a:p>
        </p:txBody>
      </p:sp>
      <p:sp>
        <p:nvSpPr>
          <p:cNvPr id="13" name="Shape 9"/>
          <p:cNvSpPr/>
          <p:nvPr/>
        </p:nvSpPr>
        <p:spPr>
          <a:xfrm>
            <a:off x="548640" y="2103120"/>
            <a:ext cx="2194560" cy="1371600"/>
          </a:xfrm>
          <a:prstGeom prst="roundRect">
            <a:avLst>
              <a:gd name="adj" fmla="val 8000"/>
            </a:avLst>
          </a:prstGeom>
          <a:solidFill>
            <a:srgbClr val="0B2A5B"/>
          </a:solidFill>
          <a:ln w="12700">
            <a:solidFill>
              <a:srgbClr val="0B2A5B"/>
            </a:solidFill>
            <a:prstDash val="solid"/>
          </a:ln>
        </p:spPr>
      </p:sp>
      <p:sp>
        <p:nvSpPr>
          <p:cNvPr id="14" name="Text 10"/>
          <p:cNvSpPr txBox="1"/>
          <p:nvPr/>
        </p:nvSpPr>
        <p:spPr>
          <a:xfrm>
            <a:off x="640080" y="2103120"/>
            <a:ext cx="2011680" cy="13716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AdminLoginActivity signs in and reads the role</a:t>
            </a:r>
            <a:endParaRPr lang="en-US" sz="1250" dirty="0"/>
          </a:p>
        </p:txBody>
      </p:sp>
      <p:sp>
        <p:nvSpPr>
          <p:cNvPr id="15" name="Shape 11"/>
          <p:cNvSpPr/>
          <p:nvPr/>
        </p:nvSpPr>
        <p:spPr>
          <a:xfrm flipV="1">
            <a:off x="2743200" y="2286000"/>
            <a:ext cx="640080" cy="548640"/>
          </a:xfrm>
          <a:prstGeom prst="line">
            <a:avLst/>
          </a:prstGeom>
          <a:noFill/>
          <a:ln w="25400">
            <a:solidFill>
              <a:srgbClr val="1E6FD9"/>
            </a:solidFill>
            <a:prstDash val="solid"/>
            <a:tailEnd type="triangle"/>
          </a:ln>
        </p:spPr>
      </p:sp>
      <p:sp>
        <p:nvSpPr>
          <p:cNvPr id="16" name="Shape 12"/>
          <p:cNvSpPr/>
          <p:nvPr/>
        </p:nvSpPr>
        <p:spPr>
          <a:xfrm>
            <a:off x="2743200" y="2788920"/>
            <a:ext cx="640080" cy="0"/>
          </a:xfrm>
          <a:prstGeom prst="line">
            <a:avLst/>
          </a:prstGeom>
          <a:noFill/>
          <a:ln w="25400">
            <a:solidFill>
              <a:srgbClr val="1E6FD9"/>
            </a:solidFill>
            <a:prstDash val="solid"/>
            <a:tailEnd type="triangle"/>
          </a:ln>
        </p:spPr>
      </p:sp>
      <p:sp>
        <p:nvSpPr>
          <p:cNvPr id="17" name="Shape 13"/>
          <p:cNvSpPr/>
          <p:nvPr/>
        </p:nvSpPr>
        <p:spPr>
          <a:xfrm>
            <a:off x="2743200" y="2788920"/>
            <a:ext cx="640080" cy="594360"/>
          </a:xfrm>
          <a:prstGeom prst="line">
            <a:avLst/>
          </a:prstGeom>
          <a:noFill/>
          <a:ln w="25400">
            <a:solidFill>
              <a:srgbClr val="1E6FD9"/>
            </a:solidFill>
            <a:prstDash val="solid"/>
            <a:tailEnd type="triangle"/>
          </a:ln>
        </p:spPr>
      </p:sp>
      <p:sp>
        <p:nvSpPr>
          <p:cNvPr id="18" name="Shape 14"/>
          <p:cNvSpPr/>
          <p:nvPr/>
        </p:nvSpPr>
        <p:spPr>
          <a:xfrm>
            <a:off x="3383280" y="2057400"/>
            <a:ext cx="5212080" cy="457200"/>
          </a:xfrm>
          <a:prstGeom prst="roundRect">
            <a:avLst>
              <a:gd name="adj" fmla="val 20000"/>
            </a:avLst>
          </a:prstGeom>
          <a:solidFill>
            <a:srgbClr val="FFFFFF"/>
          </a:solidFill>
          <a:ln w="12700">
            <a:solidFill>
              <a:srgbClr val="D6E4F7"/>
            </a:solidFill>
            <a:prstDash val="solid"/>
          </a:ln>
        </p:spPr>
      </p:sp>
      <p:sp>
        <p:nvSpPr>
          <p:cNvPr id="19" name="Shape 15"/>
          <p:cNvSpPr/>
          <p:nvPr/>
        </p:nvSpPr>
        <p:spPr>
          <a:xfrm>
            <a:off x="3383280" y="2057400"/>
            <a:ext cx="91440" cy="457200"/>
          </a:xfrm>
          <a:prstGeom prst="rect">
            <a:avLst/>
          </a:prstGeom>
          <a:solidFill>
            <a:srgbClr val="F59E0B"/>
          </a:solidFill>
          <a:ln w="12700">
            <a:solidFill>
              <a:srgbClr val="F59E0B"/>
            </a:solidFill>
            <a:prstDash val="solid"/>
          </a:ln>
        </p:spPr>
      </p:sp>
      <p:sp>
        <p:nvSpPr>
          <p:cNvPr id="20" name="Text 16"/>
          <p:cNvSpPr txBox="1"/>
          <p:nvPr/>
        </p:nvSpPr>
        <p:spPr>
          <a:xfrm>
            <a:off x="3611880" y="2057400"/>
            <a:ext cx="4892040" cy="457200"/>
          </a:xfrm>
          <a:prstGeom prst="rect">
            <a:avLst/>
          </a:prstGeom>
          <a:noFill/>
          <a:ln/>
        </p:spPr>
        <p:txBody>
          <a:bodyPr wrap="square" lIns="0" tIns="0" rIns="0" bIns="0" rtlCol="0" anchor="ctr"/>
          <a:lstStyle/>
          <a:p>
            <a:pPr indent="0" marL="0">
              <a:buNone/>
            </a:pPr>
            <a:r>
              <a:rPr lang="en-US" sz="1200" b="1" dirty="0">
                <a:solidFill>
                  <a:srgbClr val="0B2A5B"/>
                </a:solidFill>
                <a:latin typeface="Calibri" pitchFamily="34" charset="0"/>
                <a:ea typeface="Calibri" pitchFamily="34" charset="-122"/>
                <a:cs typeface="Calibri" pitchFamily="34" charset="-120"/>
              </a:rPr>
              <a:t>pending_admin</a:t>
            </a:r>
            <a:pPr indent="0" marL="0">
              <a:buNone/>
            </a:pPr>
            <a:r>
              <a:rPr lang="en-US" sz="1200" dirty="0">
                <a:solidFill>
                  <a:srgbClr val="14213D"/>
                </a:solidFill>
                <a:latin typeface="Calibri" pitchFamily="34" charset="0"/>
                <a:ea typeface="Calibri" pitchFamily="34" charset="-122"/>
                <a:cs typeface="Calibri" pitchFamily="34" charset="-120"/>
              </a:rPr>
              <a:t>  →  shows “waiting for approval”</a:t>
            </a:r>
            <a:endParaRPr lang="en-US" sz="1200" dirty="0"/>
          </a:p>
        </p:txBody>
      </p:sp>
      <p:sp>
        <p:nvSpPr>
          <p:cNvPr id="21" name="Shape 17"/>
          <p:cNvSpPr/>
          <p:nvPr/>
        </p:nvSpPr>
        <p:spPr>
          <a:xfrm>
            <a:off x="3383280" y="2606040"/>
            <a:ext cx="5212080" cy="457200"/>
          </a:xfrm>
          <a:prstGeom prst="roundRect">
            <a:avLst>
              <a:gd name="adj" fmla="val 20000"/>
            </a:avLst>
          </a:prstGeom>
          <a:solidFill>
            <a:srgbClr val="FFFFFF"/>
          </a:solidFill>
          <a:ln w="12700">
            <a:solidFill>
              <a:srgbClr val="D6E4F7"/>
            </a:solidFill>
            <a:prstDash val="solid"/>
          </a:ln>
        </p:spPr>
      </p:sp>
      <p:sp>
        <p:nvSpPr>
          <p:cNvPr id="22" name="Shape 18"/>
          <p:cNvSpPr/>
          <p:nvPr/>
        </p:nvSpPr>
        <p:spPr>
          <a:xfrm>
            <a:off x="3383280" y="2606040"/>
            <a:ext cx="91440" cy="457200"/>
          </a:xfrm>
          <a:prstGeom prst="rect">
            <a:avLst/>
          </a:prstGeom>
          <a:solidFill>
            <a:srgbClr val="D64545"/>
          </a:solidFill>
          <a:ln w="12700">
            <a:solidFill>
              <a:srgbClr val="D64545"/>
            </a:solidFill>
            <a:prstDash val="solid"/>
          </a:ln>
        </p:spPr>
      </p:sp>
      <p:sp>
        <p:nvSpPr>
          <p:cNvPr id="23" name="Text 19"/>
          <p:cNvSpPr txBox="1"/>
          <p:nvPr/>
        </p:nvSpPr>
        <p:spPr>
          <a:xfrm>
            <a:off x="3611880" y="2606040"/>
            <a:ext cx="4892040" cy="457200"/>
          </a:xfrm>
          <a:prstGeom prst="rect">
            <a:avLst/>
          </a:prstGeom>
          <a:noFill/>
          <a:ln/>
        </p:spPr>
        <p:txBody>
          <a:bodyPr wrap="square" lIns="0" tIns="0" rIns="0" bIns="0" rtlCol="0" anchor="ctr"/>
          <a:lstStyle/>
          <a:p>
            <a:pPr indent="0" marL="0">
              <a:buNone/>
            </a:pPr>
            <a:r>
              <a:rPr lang="en-US" sz="1200" b="1" dirty="0">
                <a:solidFill>
                  <a:srgbClr val="0B2A5B"/>
                </a:solidFill>
                <a:latin typeface="Calibri" pitchFamily="34" charset="0"/>
                <a:ea typeface="Calibri" pitchFamily="34" charset="-122"/>
                <a:cs typeface="Calibri" pitchFamily="34" charset="-120"/>
              </a:rPr>
              <a:t>any role other than admin</a:t>
            </a:r>
            <a:pPr indent="0" marL="0">
              <a:buNone/>
            </a:pPr>
            <a:r>
              <a:rPr lang="en-US" sz="1200" dirty="0">
                <a:solidFill>
                  <a:srgbClr val="14213D"/>
                </a:solidFill>
                <a:latin typeface="Calibri" pitchFamily="34" charset="0"/>
                <a:ea typeface="Calibri" pitchFamily="34" charset="-122"/>
                <a:cs typeface="Calibri" pitchFamily="34" charset="-120"/>
              </a:rPr>
              <a:t>  →  is refused</a:t>
            </a:r>
            <a:endParaRPr lang="en-US" sz="1200" dirty="0"/>
          </a:p>
        </p:txBody>
      </p:sp>
      <p:sp>
        <p:nvSpPr>
          <p:cNvPr id="24" name="Shape 20"/>
          <p:cNvSpPr/>
          <p:nvPr/>
        </p:nvSpPr>
        <p:spPr>
          <a:xfrm>
            <a:off x="3383280" y="3154680"/>
            <a:ext cx="5212080" cy="457200"/>
          </a:xfrm>
          <a:prstGeom prst="roundRect">
            <a:avLst>
              <a:gd name="adj" fmla="val 20000"/>
            </a:avLst>
          </a:prstGeom>
          <a:solidFill>
            <a:srgbClr val="FFFFFF"/>
          </a:solidFill>
          <a:ln w="12700">
            <a:solidFill>
              <a:srgbClr val="D6E4F7"/>
            </a:solidFill>
            <a:prstDash val="solid"/>
          </a:ln>
        </p:spPr>
      </p:sp>
      <p:sp>
        <p:nvSpPr>
          <p:cNvPr id="25" name="Shape 21"/>
          <p:cNvSpPr/>
          <p:nvPr/>
        </p:nvSpPr>
        <p:spPr>
          <a:xfrm>
            <a:off x="3383280" y="3154680"/>
            <a:ext cx="91440" cy="457200"/>
          </a:xfrm>
          <a:prstGeom prst="rect">
            <a:avLst/>
          </a:prstGeom>
          <a:solidFill>
            <a:srgbClr val="2BA67A"/>
          </a:solidFill>
          <a:ln w="12700">
            <a:solidFill>
              <a:srgbClr val="2BA67A"/>
            </a:solidFill>
            <a:prstDash val="solid"/>
          </a:ln>
        </p:spPr>
      </p:sp>
      <p:sp>
        <p:nvSpPr>
          <p:cNvPr id="26" name="Text 22"/>
          <p:cNvSpPr txBox="1"/>
          <p:nvPr/>
        </p:nvSpPr>
        <p:spPr>
          <a:xfrm>
            <a:off x="3611880" y="3154680"/>
            <a:ext cx="4892040" cy="457200"/>
          </a:xfrm>
          <a:prstGeom prst="rect">
            <a:avLst/>
          </a:prstGeom>
          <a:noFill/>
          <a:ln/>
        </p:spPr>
        <p:txBody>
          <a:bodyPr wrap="square" lIns="0" tIns="0" rIns="0" bIns="0" rtlCol="0" anchor="ctr"/>
          <a:lstStyle/>
          <a:p>
            <a:pPr indent="0" marL="0">
              <a:buNone/>
            </a:pPr>
            <a:r>
              <a:rPr lang="en-US" sz="1200" b="1" dirty="0">
                <a:solidFill>
                  <a:srgbClr val="0B2A5B"/>
                </a:solidFill>
                <a:latin typeface="Calibri" pitchFamily="34" charset="0"/>
                <a:ea typeface="Calibri" pitchFamily="34" charset="-122"/>
                <a:cs typeface="Calibri" pitchFamily="34" charset="-120"/>
              </a:rPr>
              <a:t>admin</a:t>
            </a:r>
            <a:pPr indent="0" marL="0">
              <a:buNone/>
            </a:pPr>
            <a:r>
              <a:rPr lang="en-US" sz="1200" dirty="0">
                <a:solidFill>
                  <a:srgbClr val="14213D"/>
                </a:solidFill>
                <a:latin typeface="Calibri" pitchFamily="34" charset="0"/>
                <a:ea typeface="Calibri" pitchFamily="34" charset="-122"/>
                <a:cs typeface="Calibri" pitchFamily="34" charset="-120"/>
              </a:rPr>
              <a:t>  →  opens AdminHomeActivity</a:t>
            </a:r>
            <a:endParaRPr lang="en-US" sz="1200" dirty="0"/>
          </a:p>
        </p:txBody>
      </p:sp>
      <p:sp>
        <p:nvSpPr>
          <p:cNvPr id="27" name="Text 23"/>
          <p:cNvSpPr txBox="1"/>
          <p:nvPr/>
        </p:nvSpPr>
        <p:spPr>
          <a:xfrm>
            <a:off x="3383280" y="3630168"/>
            <a:ext cx="5212080" cy="228600"/>
          </a:xfrm>
          <a:prstGeom prst="rect">
            <a:avLst/>
          </a:prstGeom>
          <a:noFill/>
          <a:ln/>
        </p:spPr>
        <p:txBody>
          <a:bodyPr wrap="square" lIns="0" tIns="0" rIns="0" bIns="0" rtlCol="0" anchor="ctr"/>
          <a:lstStyle/>
          <a:p>
            <a:pPr indent="0" marL="0">
              <a:buNone/>
            </a:pPr>
            <a:r>
              <a:rPr lang="en-US" sz="1050" i="1" dirty="0">
                <a:solidFill>
                  <a:srgbClr val="5B6B85"/>
                </a:solidFill>
                <a:latin typeface="Calibri" pitchFamily="34" charset="0"/>
                <a:ea typeface="Calibri" pitchFamily="34" charset="-122"/>
                <a:cs typeface="Calibri" pitchFamily="34" charset="-120"/>
              </a:rPr>
              <a:t>In every refused case the user is signed out.</a:t>
            </a:r>
            <a:endParaRPr lang="en-US" sz="1050" dirty="0"/>
          </a:p>
        </p:txBody>
      </p:sp>
      <p:sp>
        <p:nvSpPr>
          <p:cNvPr id="28" name="Shape 24"/>
          <p:cNvSpPr/>
          <p:nvPr/>
        </p:nvSpPr>
        <p:spPr>
          <a:xfrm>
            <a:off x="548640" y="3931920"/>
            <a:ext cx="3931920" cy="868680"/>
          </a:xfrm>
          <a:prstGeom prst="roundRect">
            <a:avLst>
              <a:gd name="adj" fmla="val 12632"/>
            </a:avLst>
          </a:prstGeom>
          <a:solidFill>
            <a:srgbClr val="FFFFFF"/>
          </a:solidFill>
          <a:ln w="12700">
            <a:solidFill>
              <a:srgbClr val="D6E4F7"/>
            </a:solidFill>
            <a:prstDash val="solid"/>
          </a:ln>
        </p:spPr>
      </p:sp>
      <p:sp>
        <p:nvSpPr>
          <p:cNvPr id="29" name="Text 25"/>
          <p:cNvSpPr txBox="1"/>
          <p:nvPr/>
        </p:nvSpPr>
        <p:spPr>
          <a:xfrm>
            <a:off x="685800" y="3931920"/>
            <a:ext cx="3657600" cy="868680"/>
          </a:xfrm>
          <a:prstGeom prst="rect">
            <a:avLst/>
          </a:prstGeom>
          <a:noFill/>
          <a:ln/>
        </p:spPr>
        <p:txBody>
          <a:bodyPr wrap="square" lIns="0" tIns="0" rIns="0" bIns="0" rtlCol="0" anchor="ctr"/>
          <a:lstStyle/>
          <a:p>
            <a:pPr indent="0" marL="0">
              <a:buNone/>
            </a:pPr>
            <a:r>
              <a:rPr lang="en-US" sz="1050" b="1" dirty="0">
                <a:solidFill>
                  <a:srgbClr val="1E6FD9"/>
                </a:solidFill>
                <a:latin typeface="Calibri" pitchFamily="34" charset="0"/>
                <a:ea typeface="Calibri" pitchFamily="34" charset="-122"/>
                <a:cs typeface="Calibri" pitchFamily="34" charset="-120"/>
              </a:rPr>
              <a:t>AdminHomeActivity </a:t>
            </a:r>
            <a:pPr indent="0" marL="0">
              <a:buNone/>
            </a:pPr>
            <a:r>
              <a:rPr lang="en-US" sz="1050" dirty="0">
                <a:solidFill>
                  <a:srgbClr val="14213D"/>
                </a:solidFill>
                <a:latin typeface="Calibri" pitchFamily="34" charset="0"/>
                <a:ea typeface="Calibri" pitchFamily="34" charset="-122"/>
                <a:cs typeface="Calibri" pitchFamily="34" charset="-120"/>
              </a:rPr>
              <a:t>checks the role again when it opens, so a screen cannot be reached by simply launching it.</a:t>
            </a:r>
            <a:endParaRPr lang="en-US" sz="1050" dirty="0"/>
          </a:p>
        </p:txBody>
      </p:sp>
      <p:sp>
        <p:nvSpPr>
          <p:cNvPr id="30" name="Shape 26"/>
          <p:cNvSpPr/>
          <p:nvPr/>
        </p:nvSpPr>
        <p:spPr>
          <a:xfrm>
            <a:off x="4663440" y="3931920"/>
            <a:ext cx="3931920" cy="868680"/>
          </a:xfrm>
          <a:prstGeom prst="roundRect">
            <a:avLst>
              <a:gd name="adj" fmla="val 12632"/>
            </a:avLst>
          </a:prstGeom>
          <a:solidFill>
            <a:srgbClr val="FFFFFF"/>
          </a:solidFill>
          <a:ln w="12700">
            <a:solidFill>
              <a:srgbClr val="D6E4F7"/>
            </a:solidFill>
            <a:prstDash val="solid"/>
          </a:ln>
        </p:spPr>
      </p:sp>
      <p:sp>
        <p:nvSpPr>
          <p:cNvPr id="31" name="Text 27"/>
          <p:cNvSpPr txBox="1"/>
          <p:nvPr/>
        </p:nvSpPr>
        <p:spPr>
          <a:xfrm>
            <a:off x="4800600" y="3931920"/>
            <a:ext cx="3657600" cy="868680"/>
          </a:xfrm>
          <a:prstGeom prst="rect">
            <a:avLst/>
          </a:prstGeom>
          <a:noFill/>
          <a:ln/>
        </p:spPr>
        <p:txBody>
          <a:bodyPr wrap="square" lIns="0" tIns="0" rIns="0" bIns="0" rtlCol="0" anchor="ctr"/>
          <a:lstStyle/>
          <a:p>
            <a:pPr indent="0" marL="0">
              <a:buNone/>
            </a:pPr>
            <a:r>
              <a:rPr lang="en-US" sz="1050" b="1" dirty="0">
                <a:solidFill>
                  <a:srgbClr val="1E6FD9"/>
                </a:solidFill>
                <a:latin typeface="Calibri" pitchFamily="34" charset="0"/>
                <a:ea typeface="Calibri" pitchFamily="34" charset="-122"/>
                <a:cs typeface="Calibri" pitchFamily="34" charset="-120"/>
              </a:rPr>
              <a:t>ManageUsersActivity </a:t>
            </a:r>
            <a:pPr indent="0" marL="0">
              <a:buNone/>
            </a:pPr>
            <a:r>
              <a:rPr lang="en-US" sz="1050" dirty="0">
                <a:solidFill>
                  <a:srgbClr val="14213D"/>
                </a:solidFill>
                <a:latin typeface="Calibri" pitchFamily="34" charset="0"/>
                <a:ea typeface="Calibri" pitchFamily="34" charset="-122"/>
                <a:cs typeface="Calibri" pitchFamily="34" charset="-120"/>
              </a:rPr>
              <a:t>is for the main administrator only: it checks the uid and the admin role, then lists every user with a button to approve or revoke.</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9FF"/>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E6FD9"/>
          </a:solidFill>
          <a:ln w="12700">
            <a:solidFill>
              <a:srgbClr val="1E6FD9"/>
            </a:solidFill>
            <a:prstDash val="solid"/>
          </a:ln>
        </p:spPr>
      </p:sp>
      <p:sp>
        <p:nvSpPr>
          <p:cNvPr id="3" name="Text 1"/>
          <p:cNvSpPr txBox="1"/>
          <p:nvPr/>
        </p:nvSpPr>
        <p:spPr>
          <a:xfrm>
            <a:off x="548640" y="91440"/>
            <a:ext cx="7680960" cy="228600"/>
          </a:xfrm>
          <a:prstGeom prst="rect">
            <a:avLst/>
          </a:prstGeom>
          <a:noFill/>
          <a:ln/>
        </p:spPr>
        <p:txBody>
          <a:bodyPr wrap="square" lIns="0" tIns="0" rIns="0" bIns="0" rtlCol="0" anchor="ctr"/>
          <a:lstStyle/>
          <a:p>
            <a:pPr indent="0" marL="0">
              <a:buNone/>
            </a:pPr>
            <a:r>
              <a:rPr lang="en-US" sz="900" b="1" spc="200" kern="0" dirty="0">
                <a:solidFill>
                  <a:srgbClr val="1E6FD9"/>
                </a:solidFill>
                <a:latin typeface="Calibri" pitchFamily="34" charset="0"/>
                <a:ea typeface="Calibri" pitchFamily="34" charset="-122"/>
                <a:cs typeface="Calibri" pitchFamily="34" charset="-120"/>
              </a:rPr>
              <a:t>IMPLEMENTATION</a:t>
            </a:r>
            <a:endParaRPr lang="en-US" sz="900" dirty="0"/>
          </a:p>
        </p:txBody>
      </p:sp>
      <p:sp>
        <p:nvSpPr>
          <p:cNvPr id="4" name="Text 2"/>
          <p:cNvSpPr txBox="1"/>
          <p:nvPr/>
        </p:nvSpPr>
        <p:spPr>
          <a:xfrm>
            <a:off x="548640" y="320040"/>
            <a:ext cx="8229600" cy="640080"/>
          </a:xfrm>
          <a:prstGeom prst="rect">
            <a:avLst/>
          </a:prstGeom>
          <a:noFill/>
          <a:ln/>
        </p:spPr>
        <p:txBody>
          <a:bodyPr wrap="square" lIns="0" tIns="0" rIns="0" bIns="0" rtlCol="0" anchor="ctr"/>
          <a:lstStyle/>
          <a:p>
            <a:pPr indent="0" marL="0">
              <a:buNone/>
            </a:pPr>
            <a:r>
              <a:rPr lang="en-US" sz="3000" b="1" dirty="0">
                <a:solidFill>
                  <a:srgbClr val="0B2A5B"/>
                </a:solidFill>
                <a:latin typeface="Cambria" pitchFamily="34" charset="0"/>
                <a:ea typeface="Cambria" pitchFamily="34" charset="-122"/>
                <a:cs typeface="Cambria" pitchFamily="34" charset="-120"/>
              </a:rPr>
              <a:t>Reporting an Item</a:t>
            </a:r>
            <a:endParaRPr lang="en-US" sz="3000" dirty="0"/>
          </a:p>
        </p:txBody>
      </p:sp>
      <p:sp>
        <p:nvSpPr>
          <p:cNvPr id="5" name="Text 3"/>
          <p:cNvSpPr txBox="1"/>
          <p:nvPr/>
        </p:nvSpPr>
        <p:spPr>
          <a:xfrm>
            <a:off x="548640" y="1005840"/>
            <a:ext cx="4846320" cy="274320"/>
          </a:xfrm>
          <a:prstGeom prst="rect">
            <a:avLst/>
          </a:prstGeom>
          <a:noFill/>
          <a:ln/>
        </p:spPr>
        <p:txBody>
          <a:bodyPr wrap="square" lIns="0" tIns="0" rIns="0" bIns="0" rtlCol="0" anchor="ctr"/>
          <a:lstStyle/>
          <a:p>
            <a:pPr indent="0" marL="0">
              <a:buNone/>
            </a:pPr>
            <a:r>
              <a:rPr lang="en-US" sz="1200" i="1" dirty="0">
                <a:solidFill>
                  <a:srgbClr val="5B6B85"/>
                </a:solidFill>
                <a:latin typeface="Calibri" pitchFamily="34" charset="0"/>
                <a:ea typeface="Calibri" pitchFamily="34" charset="-122"/>
                <a:cs typeface="Calibri" pitchFamily="34" charset="-120"/>
              </a:rPr>
              <a:t>ReportItemActivity fills two spinners: Lost / Found, and eight categories.</a:t>
            </a:r>
            <a:endParaRPr lang="en-US" sz="1200" dirty="0"/>
          </a:p>
        </p:txBody>
      </p:sp>
      <p:sp>
        <p:nvSpPr>
          <p:cNvPr id="6" name="Shape 4"/>
          <p:cNvSpPr/>
          <p:nvPr/>
        </p:nvSpPr>
        <p:spPr>
          <a:xfrm>
            <a:off x="548640" y="1371600"/>
            <a:ext cx="758952" cy="274320"/>
          </a:xfrm>
          <a:prstGeom prst="roundRect">
            <a:avLst>
              <a:gd name="adj" fmla="val 50000"/>
            </a:avLst>
          </a:prstGeom>
          <a:solidFill>
            <a:srgbClr val="EAF3FF"/>
          </a:solidFill>
          <a:ln w="12700">
            <a:solidFill>
              <a:srgbClr val="BBD6F7"/>
            </a:solidFill>
            <a:prstDash val="solid"/>
          </a:ln>
        </p:spPr>
      </p:sp>
      <p:sp>
        <p:nvSpPr>
          <p:cNvPr id="7" name="Text 5"/>
          <p:cNvSpPr txBox="1"/>
          <p:nvPr/>
        </p:nvSpPr>
        <p:spPr>
          <a:xfrm>
            <a:off x="548640" y="1371600"/>
            <a:ext cx="758952" cy="274320"/>
          </a:xfrm>
          <a:prstGeom prst="rect">
            <a:avLst/>
          </a:prstGeom>
          <a:noFill/>
          <a:ln/>
        </p:spPr>
        <p:txBody>
          <a:bodyPr wrap="square" lIns="0" tIns="0" rIns="0" bIns="0" rtlCol="0" anchor="ctr"/>
          <a:lstStyle/>
          <a:p>
            <a:pPr algn="ctr" indent="0" marL="0">
              <a:buNone/>
            </a:pPr>
            <a:r>
              <a:rPr lang="en-US" sz="1000" b="1" dirty="0">
                <a:solidFill>
                  <a:srgbClr val="1E6FD9"/>
                </a:solidFill>
                <a:latin typeface="Calibri" pitchFamily="34" charset="0"/>
                <a:ea typeface="Calibri" pitchFamily="34" charset="-122"/>
                <a:cs typeface="Calibri" pitchFamily="34" charset="-120"/>
              </a:rPr>
              <a:t>Laptop</a:t>
            </a:r>
            <a:endParaRPr lang="en-US" sz="1000" dirty="0"/>
          </a:p>
        </p:txBody>
      </p:sp>
      <p:sp>
        <p:nvSpPr>
          <p:cNvPr id="8" name="Shape 6"/>
          <p:cNvSpPr/>
          <p:nvPr/>
        </p:nvSpPr>
        <p:spPr>
          <a:xfrm>
            <a:off x="1399032" y="1371600"/>
            <a:ext cx="978408" cy="274320"/>
          </a:xfrm>
          <a:prstGeom prst="roundRect">
            <a:avLst>
              <a:gd name="adj" fmla="val 50000"/>
            </a:avLst>
          </a:prstGeom>
          <a:solidFill>
            <a:srgbClr val="EAF3FF"/>
          </a:solidFill>
          <a:ln w="12700">
            <a:solidFill>
              <a:srgbClr val="BBD6F7"/>
            </a:solidFill>
            <a:prstDash val="solid"/>
          </a:ln>
        </p:spPr>
      </p:sp>
      <p:sp>
        <p:nvSpPr>
          <p:cNvPr id="9" name="Text 7"/>
          <p:cNvSpPr txBox="1"/>
          <p:nvPr/>
        </p:nvSpPr>
        <p:spPr>
          <a:xfrm>
            <a:off x="1399032" y="1371600"/>
            <a:ext cx="978408" cy="274320"/>
          </a:xfrm>
          <a:prstGeom prst="rect">
            <a:avLst/>
          </a:prstGeom>
          <a:noFill/>
          <a:ln/>
        </p:spPr>
        <p:txBody>
          <a:bodyPr wrap="square" lIns="0" tIns="0" rIns="0" bIns="0" rtlCol="0" anchor="ctr"/>
          <a:lstStyle/>
          <a:p>
            <a:pPr algn="ctr" indent="0" marL="0">
              <a:buNone/>
            </a:pPr>
            <a:r>
              <a:rPr lang="en-US" sz="1000" b="1" dirty="0">
                <a:solidFill>
                  <a:srgbClr val="1E6FD9"/>
                </a:solidFill>
                <a:latin typeface="Calibri" pitchFamily="34" charset="0"/>
                <a:ea typeface="Calibri" pitchFamily="34" charset="-122"/>
                <a:cs typeface="Calibri" pitchFamily="34" charset="-120"/>
              </a:rPr>
              <a:t>Cellphone</a:t>
            </a:r>
            <a:endParaRPr lang="en-US" sz="1000" dirty="0"/>
          </a:p>
        </p:txBody>
      </p:sp>
      <p:sp>
        <p:nvSpPr>
          <p:cNvPr id="10" name="Shape 8"/>
          <p:cNvSpPr/>
          <p:nvPr/>
        </p:nvSpPr>
        <p:spPr>
          <a:xfrm>
            <a:off x="2468880" y="1371600"/>
            <a:ext cx="1197864" cy="274320"/>
          </a:xfrm>
          <a:prstGeom prst="roundRect">
            <a:avLst>
              <a:gd name="adj" fmla="val 50000"/>
            </a:avLst>
          </a:prstGeom>
          <a:solidFill>
            <a:srgbClr val="EAF3FF"/>
          </a:solidFill>
          <a:ln w="12700">
            <a:solidFill>
              <a:srgbClr val="BBD6F7"/>
            </a:solidFill>
            <a:prstDash val="solid"/>
          </a:ln>
        </p:spPr>
      </p:sp>
      <p:sp>
        <p:nvSpPr>
          <p:cNvPr id="11" name="Text 9"/>
          <p:cNvSpPr txBox="1"/>
          <p:nvPr/>
        </p:nvSpPr>
        <p:spPr>
          <a:xfrm>
            <a:off x="2468880" y="1371600"/>
            <a:ext cx="1197864" cy="274320"/>
          </a:xfrm>
          <a:prstGeom prst="rect">
            <a:avLst/>
          </a:prstGeom>
          <a:noFill/>
          <a:ln/>
        </p:spPr>
        <p:txBody>
          <a:bodyPr wrap="square" lIns="0" tIns="0" rIns="0" bIns="0" rtlCol="0" anchor="ctr"/>
          <a:lstStyle/>
          <a:p>
            <a:pPr algn="ctr" indent="0" marL="0">
              <a:buNone/>
            </a:pPr>
            <a:r>
              <a:rPr lang="en-US" sz="1000" b="1" dirty="0">
                <a:solidFill>
                  <a:srgbClr val="1E6FD9"/>
                </a:solidFill>
                <a:latin typeface="Calibri" pitchFamily="34" charset="0"/>
                <a:ea typeface="Calibri" pitchFamily="34" charset="-122"/>
                <a:cs typeface="Calibri" pitchFamily="34" charset="-120"/>
              </a:rPr>
              <a:t>Student Card</a:t>
            </a:r>
            <a:endParaRPr lang="en-US" sz="1000" dirty="0"/>
          </a:p>
        </p:txBody>
      </p:sp>
      <p:sp>
        <p:nvSpPr>
          <p:cNvPr id="12" name="Shape 10"/>
          <p:cNvSpPr/>
          <p:nvPr/>
        </p:nvSpPr>
        <p:spPr>
          <a:xfrm>
            <a:off x="3758184" y="1371600"/>
            <a:ext cx="612648" cy="274320"/>
          </a:xfrm>
          <a:prstGeom prst="roundRect">
            <a:avLst>
              <a:gd name="adj" fmla="val 50000"/>
            </a:avLst>
          </a:prstGeom>
          <a:solidFill>
            <a:srgbClr val="EAF3FF"/>
          </a:solidFill>
          <a:ln w="12700">
            <a:solidFill>
              <a:srgbClr val="BBD6F7"/>
            </a:solidFill>
            <a:prstDash val="solid"/>
          </a:ln>
        </p:spPr>
      </p:sp>
      <p:sp>
        <p:nvSpPr>
          <p:cNvPr id="13" name="Text 11"/>
          <p:cNvSpPr txBox="1"/>
          <p:nvPr/>
        </p:nvSpPr>
        <p:spPr>
          <a:xfrm>
            <a:off x="3758184" y="1371600"/>
            <a:ext cx="612648" cy="274320"/>
          </a:xfrm>
          <a:prstGeom prst="rect">
            <a:avLst/>
          </a:prstGeom>
          <a:noFill/>
          <a:ln/>
        </p:spPr>
        <p:txBody>
          <a:bodyPr wrap="square" lIns="0" tIns="0" rIns="0" bIns="0" rtlCol="0" anchor="ctr"/>
          <a:lstStyle/>
          <a:p>
            <a:pPr algn="ctr" indent="0" marL="0">
              <a:buNone/>
            </a:pPr>
            <a:r>
              <a:rPr lang="en-US" sz="1000" b="1" dirty="0">
                <a:solidFill>
                  <a:srgbClr val="1E6FD9"/>
                </a:solidFill>
                <a:latin typeface="Calibri" pitchFamily="34" charset="0"/>
                <a:ea typeface="Calibri" pitchFamily="34" charset="-122"/>
                <a:cs typeface="Calibri" pitchFamily="34" charset="-120"/>
              </a:rPr>
              <a:t>Book</a:t>
            </a:r>
            <a:endParaRPr lang="en-US" sz="1000" dirty="0"/>
          </a:p>
        </p:txBody>
      </p:sp>
      <p:sp>
        <p:nvSpPr>
          <p:cNvPr id="14" name="Shape 12"/>
          <p:cNvSpPr/>
          <p:nvPr/>
        </p:nvSpPr>
        <p:spPr>
          <a:xfrm>
            <a:off x="4462272" y="1371600"/>
            <a:ext cx="758952" cy="274320"/>
          </a:xfrm>
          <a:prstGeom prst="roundRect">
            <a:avLst>
              <a:gd name="adj" fmla="val 50000"/>
            </a:avLst>
          </a:prstGeom>
          <a:solidFill>
            <a:srgbClr val="EAF3FF"/>
          </a:solidFill>
          <a:ln w="12700">
            <a:solidFill>
              <a:srgbClr val="BBD6F7"/>
            </a:solidFill>
            <a:prstDash val="solid"/>
          </a:ln>
        </p:spPr>
      </p:sp>
      <p:sp>
        <p:nvSpPr>
          <p:cNvPr id="15" name="Text 13"/>
          <p:cNvSpPr txBox="1"/>
          <p:nvPr/>
        </p:nvSpPr>
        <p:spPr>
          <a:xfrm>
            <a:off x="4462272" y="1371600"/>
            <a:ext cx="758952" cy="274320"/>
          </a:xfrm>
          <a:prstGeom prst="rect">
            <a:avLst/>
          </a:prstGeom>
          <a:noFill/>
          <a:ln/>
        </p:spPr>
        <p:txBody>
          <a:bodyPr wrap="square" lIns="0" tIns="0" rIns="0" bIns="0" rtlCol="0" anchor="ctr"/>
          <a:lstStyle/>
          <a:p>
            <a:pPr algn="ctr" indent="0" marL="0">
              <a:buNone/>
            </a:pPr>
            <a:r>
              <a:rPr lang="en-US" sz="1000" b="1" dirty="0">
                <a:solidFill>
                  <a:srgbClr val="1E6FD9"/>
                </a:solidFill>
                <a:latin typeface="Calibri" pitchFamily="34" charset="0"/>
                <a:ea typeface="Calibri" pitchFamily="34" charset="-122"/>
                <a:cs typeface="Calibri" pitchFamily="34" charset="-120"/>
              </a:rPr>
              <a:t>Tablet</a:t>
            </a:r>
            <a:endParaRPr lang="en-US" sz="1000" dirty="0"/>
          </a:p>
        </p:txBody>
      </p:sp>
      <p:sp>
        <p:nvSpPr>
          <p:cNvPr id="16" name="Shape 14"/>
          <p:cNvSpPr/>
          <p:nvPr/>
        </p:nvSpPr>
        <p:spPr>
          <a:xfrm>
            <a:off x="548640" y="1737360"/>
            <a:ext cx="1051560" cy="274320"/>
          </a:xfrm>
          <a:prstGeom prst="roundRect">
            <a:avLst>
              <a:gd name="adj" fmla="val 50000"/>
            </a:avLst>
          </a:prstGeom>
          <a:solidFill>
            <a:srgbClr val="EAF3FF"/>
          </a:solidFill>
          <a:ln w="12700">
            <a:solidFill>
              <a:srgbClr val="BBD6F7"/>
            </a:solidFill>
            <a:prstDash val="solid"/>
          </a:ln>
        </p:spPr>
      </p:sp>
      <p:sp>
        <p:nvSpPr>
          <p:cNvPr id="17" name="Text 15"/>
          <p:cNvSpPr txBox="1"/>
          <p:nvPr/>
        </p:nvSpPr>
        <p:spPr>
          <a:xfrm>
            <a:off x="548640" y="1737360"/>
            <a:ext cx="1051560" cy="274320"/>
          </a:xfrm>
          <a:prstGeom prst="rect">
            <a:avLst/>
          </a:prstGeom>
          <a:noFill/>
          <a:ln/>
        </p:spPr>
        <p:txBody>
          <a:bodyPr wrap="square" lIns="0" tIns="0" rIns="0" bIns="0" rtlCol="0" anchor="ctr"/>
          <a:lstStyle/>
          <a:p>
            <a:pPr algn="ctr" indent="0" marL="0">
              <a:buNone/>
            </a:pPr>
            <a:r>
              <a:rPr lang="en-US" sz="1000" b="1" dirty="0">
                <a:solidFill>
                  <a:srgbClr val="1E6FD9"/>
                </a:solidFill>
                <a:latin typeface="Calibri" pitchFamily="34" charset="0"/>
                <a:ea typeface="Calibri" pitchFamily="34" charset="-122"/>
                <a:cs typeface="Calibri" pitchFamily="34" charset="-120"/>
              </a:rPr>
              <a:t>Calculator</a:t>
            </a:r>
            <a:endParaRPr lang="en-US" sz="1000" dirty="0"/>
          </a:p>
        </p:txBody>
      </p:sp>
      <p:sp>
        <p:nvSpPr>
          <p:cNvPr id="18" name="Shape 16"/>
          <p:cNvSpPr/>
          <p:nvPr/>
        </p:nvSpPr>
        <p:spPr>
          <a:xfrm>
            <a:off x="1691640" y="1737360"/>
            <a:ext cx="1051560" cy="274320"/>
          </a:xfrm>
          <a:prstGeom prst="roundRect">
            <a:avLst>
              <a:gd name="adj" fmla="val 50000"/>
            </a:avLst>
          </a:prstGeom>
          <a:solidFill>
            <a:srgbClr val="EAF3FF"/>
          </a:solidFill>
          <a:ln w="12700">
            <a:solidFill>
              <a:srgbClr val="BBD6F7"/>
            </a:solidFill>
            <a:prstDash val="solid"/>
          </a:ln>
        </p:spPr>
      </p:sp>
      <p:sp>
        <p:nvSpPr>
          <p:cNvPr id="19" name="Text 17"/>
          <p:cNvSpPr txBox="1"/>
          <p:nvPr/>
        </p:nvSpPr>
        <p:spPr>
          <a:xfrm>
            <a:off x="1691640" y="1737360"/>
            <a:ext cx="1051560" cy="274320"/>
          </a:xfrm>
          <a:prstGeom prst="rect">
            <a:avLst/>
          </a:prstGeom>
          <a:noFill/>
          <a:ln/>
        </p:spPr>
        <p:txBody>
          <a:bodyPr wrap="square" lIns="0" tIns="0" rIns="0" bIns="0" rtlCol="0" anchor="ctr"/>
          <a:lstStyle/>
          <a:p>
            <a:pPr algn="ctr" indent="0" marL="0">
              <a:buNone/>
            </a:pPr>
            <a:r>
              <a:rPr lang="en-US" sz="1000" b="1" dirty="0">
                <a:solidFill>
                  <a:srgbClr val="1E6FD9"/>
                </a:solidFill>
                <a:latin typeface="Calibri" pitchFamily="34" charset="0"/>
                <a:ea typeface="Calibri" pitchFamily="34" charset="-122"/>
                <a:cs typeface="Calibri" pitchFamily="34" charset="-120"/>
              </a:rPr>
              <a:t>Headphones</a:t>
            </a:r>
            <a:endParaRPr lang="en-US" sz="1000" dirty="0"/>
          </a:p>
        </p:txBody>
      </p:sp>
      <p:sp>
        <p:nvSpPr>
          <p:cNvPr id="20" name="Shape 18"/>
          <p:cNvSpPr/>
          <p:nvPr/>
        </p:nvSpPr>
        <p:spPr>
          <a:xfrm>
            <a:off x="2834640" y="1737360"/>
            <a:ext cx="685800" cy="274320"/>
          </a:xfrm>
          <a:prstGeom prst="roundRect">
            <a:avLst>
              <a:gd name="adj" fmla="val 50000"/>
            </a:avLst>
          </a:prstGeom>
          <a:solidFill>
            <a:srgbClr val="EAF3FF"/>
          </a:solidFill>
          <a:ln w="12700">
            <a:solidFill>
              <a:srgbClr val="BBD6F7"/>
            </a:solidFill>
            <a:prstDash val="solid"/>
          </a:ln>
        </p:spPr>
      </p:sp>
      <p:sp>
        <p:nvSpPr>
          <p:cNvPr id="21" name="Text 19"/>
          <p:cNvSpPr txBox="1"/>
          <p:nvPr/>
        </p:nvSpPr>
        <p:spPr>
          <a:xfrm>
            <a:off x="2834640" y="1737360"/>
            <a:ext cx="685800" cy="274320"/>
          </a:xfrm>
          <a:prstGeom prst="rect">
            <a:avLst/>
          </a:prstGeom>
          <a:noFill/>
          <a:ln/>
        </p:spPr>
        <p:txBody>
          <a:bodyPr wrap="square" lIns="0" tIns="0" rIns="0" bIns="0" rtlCol="0" anchor="ctr"/>
          <a:lstStyle/>
          <a:p>
            <a:pPr algn="ctr" indent="0" marL="0">
              <a:buNone/>
            </a:pPr>
            <a:r>
              <a:rPr lang="en-US" sz="1000" b="1" dirty="0">
                <a:solidFill>
                  <a:srgbClr val="1E6FD9"/>
                </a:solidFill>
                <a:latin typeface="Calibri" pitchFamily="34" charset="0"/>
                <a:ea typeface="Calibri" pitchFamily="34" charset="-122"/>
                <a:cs typeface="Calibri" pitchFamily="34" charset="-120"/>
              </a:rPr>
              <a:t>Other</a:t>
            </a:r>
            <a:endParaRPr lang="en-US" sz="1000" dirty="0"/>
          </a:p>
        </p:txBody>
      </p:sp>
      <p:sp>
        <p:nvSpPr>
          <p:cNvPr id="22" name="Shape 20"/>
          <p:cNvSpPr/>
          <p:nvPr/>
        </p:nvSpPr>
        <p:spPr>
          <a:xfrm>
            <a:off x="548640" y="2148840"/>
            <a:ext cx="4846320" cy="402336"/>
          </a:xfrm>
          <a:prstGeom prst="roundRect">
            <a:avLst>
              <a:gd name="adj" fmla="val 18182"/>
            </a:avLst>
          </a:prstGeom>
          <a:solidFill>
            <a:srgbClr val="FFFFFF"/>
          </a:solidFill>
          <a:ln w="12700">
            <a:solidFill>
              <a:srgbClr val="D6E4F7"/>
            </a:solidFill>
            <a:prstDash val="solid"/>
          </a:ln>
        </p:spPr>
      </p:sp>
      <p:sp>
        <p:nvSpPr>
          <p:cNvPr id="23" name="Shape 21"/>
          <p:cNvSpPr/>
          <p:nvPr/>
        </p:nvSpPr>
        <p:spPr>
          <a:xfrm>
            <a:off x="621792" y="2203704"/>
            <a:ext cx="292608" cy="292608"/>
          </a:xfrm>
          <a:prstGeom prst="ellipse">
            <a:avLst/>
          </a:prstGeom>
          <a:solidFill>
            <a:srgbClr val="1E6FD9"/>
          </a:solidFill>
          <a:ln w="12700">
            <a:solidFill>
              <a:srgbClr val="1E6FD9"/>
            </a:solidFill>
            <a:prstDash val="solid"/>
          </a:ln>
        </p:spPr>
      </p:sp>
      <p:sp>
        <p:nvSpPr>
          <p:cNvPr id="24" name="Text 22"/>
          <p:cNvSpPr txBox="1"/>
          <p:nvPr/>
        </p:nvSpPr>
        <p:spPr>
          <a:xfrm>
            <a:off x="621792" y="220370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25" name="Text 23"/>
          <p:cNvSpPr txBox="1"/>
          <p:nvPr/>
        </p:nvSpPr>
        <p:spPr>
          <a:xfrm>
            <a:off x="1005840" y="2148840"/>
            <a:ext cx="4343400" cy="402336"/>
          </a:xfrm>
          <a:prstGeom prst="rect">
            <a:avLst/>
          </a:prstGeom>
          <a:noFill/>
          <a:ln/>
        </p:spPr>
        <p:txBody>
          <a:bodyPr wrap="square" lIns="0" tIns="0" rIns="0" bIns="0" rtlCol="0" anchor="ctr"/>
          <a:lstStyle/>
          <a:p>
            <a:pPr indent="0" marL="0">
              <a:buNone/>
            </a:pPr>
            <a:r>
              <a:rPr lang="en-US" sz="950" dirty="0">
                <a:solidFill>
                  <a:srgbClr val="14213D"/>
                </a:solidFill>
                <a:latin typeface="Calibri" pitchFamily="34" charset="0"/>
                <a:ea typeface="Calibri" pitchFamily="34" charset="-122"/>
                <a:cs typeface="Calibri" pitchFamily="34" charset="-120"/>
              </a:rPr>
              <a:t>Checks that title, description and location are filled in</a:t>
            </a:r>
            <a:endParaRPr lang="en-US" sz="950" dirty="0"/>
          </a:p>
        </p:txBody>
      </p:sp>
      <p:sp>
        <p:nvSpPr>
          <p:cNvPr id="26" name="Shape 24"/>
          <p:cNvSpPr/>
          <p:nvPr/>
        </p:nvSpPr>
        <p:spPr>
          <a:xfrm>
            <a:off x="548640" y="2606040"/>
            <a:ext cx="4846320" cy="402336"/>
          </a:xfrm>
          <a:prstGeom prst="roundRect">
            <a:avLst>
              <a:gd name="adj" fmla="val 18182"/>
            </a:avLst>
          </a:prstGeom>
          <a:solidFill>
            <a:srgbClr val="FFFFFF"/>
          </a:solidFill>
          <a:ln w="12700">
            <a:solidFill>
              <a:srgbClr val="D6E4F7"/>
            </a:solidFill>
            <a:prstDash val="solid"/>
          </a:ln>
        </p:spPr>
      </p:sp>
      <p:sp>
        <p:nvSpPr>
          <p:cNvPr id="27" name="Shape 25"/>
          <p:cNvSpPr/>
          <p:nvPr/>
        </p:nvSpPr>
        <p:spPr>
          <a:xfrm>
            <a:off x="621792" y="2660904"/>
            <a:ext cx="292608" cy="292608"/>
          </a:xfrm>
          <a:prstGeom prst="ellipse">
            <a:avLst/>
          </a:prstGeom>
          <a:solidFill>
            <a:srgbClr val="3B9CF0"/>
          </a:solidFill>
          <a:ln w="12700">
            <a:solidFill>
              <a:srgbClr val="3B9CF0"/>
            </a:solidFill>
            <a:prstDash val="solid"/>
          </a:ln>
        </p:spPr>
      </p:sp>
      <p:sp>
        <p:nvSpPr>
          <p:cNvPr id="28" name="Text 26"/>
          <p:cNvSpPr txBox="1"/>
          <p:nvPr/>
        </p:nvSpPr>
        <p:spPr>
          <a:xfrm>
            <a:off x="621792" y="266090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29" name="Text 27"/>
          <p:cNvSpPr txBox="1"/>
          <p:nvPr/>
        </p:nvSpPr>
        <p:spPr>
          <a:xfrm>
            <a:off x="1005840" y="2606040"/>
            <a:ext cx="4343400" cy="402336"/>
          </a:xfrm>
          <a:prstGeom prst="rect">
            <a:avLst/>
          </a:prstGeom>
          <a:noFill/>
          <a:ln/>
        </p:spPr>
        <p:txBody>
          <a:bodyPr wrap="square" lIns="0" tIns="0" rIns="0" bIns="0" rtlCol="0" anchor="ctr"/>
          <a:lstStyle/>
          <a:p>
            <a:pPr indent="0" marL="0">
              <a:buNone/>
            </a:pPr>
            <a:r>
              <a:rPr lang="en-US" sz="950" dirty="0">
                <a:solidFill>
                  <a:srgbClr val="14213D"/>
                </a:solidFill>
                <a:latin typeface="Calibri" pitchFamily="34" charset="0"/>
                <a:ea typeface="Calibri" pitchFamily="34" charset="-122"/>
                <a:cs typeface="Calibri" pitchFamily="34" charset="-120"/>
              </a:rPr>
              <a:t>Calls AiPriorityClassifier.analyse(category, title, description)</a:t>
            </a:r>
            <a:endParaRPr lang="en-US" sz="950" dirty="0"/>
          </a:p>
        </p:txBody>
      </p:sp>
      <p:sp>
        <p:nvSpPr>
          <p:cNvPr id="30" name="Shape 28"/>
          <p:cNvSpPr/>
          <p:nvPr/>
        </p:nvSpPr>
        <p:spPr>
          <a:xfrm>
            <a:off x="548640" y="3063240"/>
            <a:ext cx="4846320" cy="402336"/>
          </a:xfrm>
          <a:prstGeom prst="roundRect">
            <a:avLst>
              <a:gd name="adj" fmla="val 18182"/>
            </a:avLst>
          </a:prstGeom>
          <a:solidFill>
            <a:srgbClr val="FFFFFF"/>
          </a:solidFill>
          <a:ln w="12700">
            <a:solidFill>
              <a:srgbClr val="D6E4F7"/>
            </a:solidFill>
            <a:prstDash val="solid"/>
          </a:ln>
        </p:spPr>
      </p:sp>
      <p:sp>
        <p:nvSpPr>
          <p:cNvPr id="31" name="Shape 29"/>
          <p:cNvSpPr/>
          <p:nvPr/>
        </p:nvSpPr>
        <p:spPr>
          <a:xfrm>
            <a:off x="621792" y="3118104"/>
            <a:ext cx="292608" cy="292608"/>
          </a:xfrm>
          <a:prstGeom prst="ellipse">
            <a:avLst/>
          </a:prstGeom>
          <a:solidFill>
            <a:srgbClr val="1E6FD9"/>
          </a:solidFill>
          <a:ln w="12700">
            <a:solidFill>
              <a:srgbClr val="1E6FD9"/>
            </a:solidFill>
            <a:prstDash val="solid"/>
          </a:ln>
        </p:spPr>
      </p:sp>
      <p:sp>
        <p:nvSpPr>
          <p:cNvPr id="32" name="Text 30"/>
          <p:cNvSpPr txBox="1"/>
          <p:nvPr/>
        </p:nvSpPr>
        <p:spPr>
          <a:xfrm>
            <a:off x="621792" y="311810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33" name="Text 31"/>
          <p:cNvSpPr txBox="1"/>
          <p:nvPr/>
        </p:nvSpPr>
        <p:spPr>
          <a:xfrm>
            <a:off x="1005840" y="3063240"/>
            <a:ext cx="4343400" cy="402336"/>
          </a:xfrm>
          <a:prstGeom prst="rect">
            <a:avLst/>
          </a:prstGeom>
          <a:noFill/>
          <a:ln/>
        </p:spPr>
        <p:txBody>
          <a:bodyPr wrap="square" lIns="0" tIns="0" rIns="0" bIns="0" rtlCol="0" anchor="ctr"/>
          <a:lstStyle/>
          <a:p>
            <a:pPr indent="0" marL="0">
              <a:buNone/>
            </a:pPr>
            <a:r>
              <a:rPr lang="en-US" sz="950" dirty="0">
                <a:solidFill>
                  <a:srgbClr val="14213D"/>
                </a:solidFill>
                <a:latin typeface="Calibri" pitchFamily="34" charset="0"/>
                <a:ea typeface="Calibri" pitchFamily="34" charset="-122"/>
                <a:cs typeface="Calibri" pitchFamily="34" charset="-120"/>
              </a:rPr>
              <a:t>Reads the student's name and student number from users/{uid}</a:t>
            </a:r>
            <a:endParaRPr lang="en-US" sz="950" dirty="0"/>
          </a:p>
        </p:txBody>
      </p:sp>
      <p:sp>
        <p:nvSpPr>
          <p:cNvPr id="34" name="Shape 32"/>
          <p:cNvSpPr/>
          <p:nvPr/>
        </p:nvSpPr>
        <p:spPr>
          <a:xfrm>
            <a:off x="548640" y="3520440"/>
            <a:ext cx="4846320" cy="402336"/>
          </a:xfrm>
          <a:prstGeom prst="roundRect">
            <a:avLst>
              <a:gd name="adj" fmla="val 18182"/>
            </a:avLst>
          </a:prstGeom>
          <a:solidFill>
            <a:srgbClr val="FFFFFF"/>
          </a:solidFill>
          <a:ln w="12700">
            <a:solidFill>
              <a:srgbClr val="D6E4F7"/>
            </a:solidFill>
            <a:prstDash val="solid"/>
          </a:ln>
        </p:spPr>
      </p:sp>
      <p:sp>
        <p:nvSpPr>
          <p:cNvPr id="35" name="Shape 33"/>
          <p:cNvSpPr/>
          <p:nvPr/>
        </p:nvSpPr>
        <p:spPr>
          <a:xfrm>
            <a:off x="621792" y="3575304"/>
            <a:ext cx="292608" cy="292608"/>
          </a:xfrm>
          <a:prstGeom prst="ellipse">
            <a:avLst/>
          </a:prstGeom>
          <a:solidFill>
            <a:srgbClr val="3B9CF0"/>
          </a:solidFill>
          <a:ln w="12700">
            <a:solidFill>
              <a:srgbClr val="3B9CF0"/>
            </a:solidFill>
            <a:prstDash val="solid"/>
          </a:ln>
        </p:spPr>
      </p:sp>
      <p:sp>
        <p:nvSpPr>
          <p:cNvPr id="36" name="Text 34"/>
          <p:cNvSpPr txBox="1"/>
          <p:nvPr/>
        </p:nvSpPr>
        <p:spPr>
          <a:xfrm>
            <a:off x="621792" y="357530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4</a:t>
            </a:r>
            <a:endParaRPr lang="en-US" sz="1100" dirty="0"/>
          </a:p>
        </p:txBody>
      </p:sp>
      <p:sp>
        <p:nvSpPr>
          <p:cNvPr id="37" name="Text 35"/>
          <p:cNvSpPr txBox="1"/>
          <p:nvPr/>
        </p:nvSpPr>
        <p:spPr>
          <a:xfrm>
            <a:off x="1005840" y="3520440"/>
            <a:ext cx="4343400" cy="402336"/>
          </a:xfrm>
          <a:prstGeom prst="rect">
            <a:avLst/>
          </a:prstGeom>
          <a:noFill/>
          <a:ln/>
        </p:spPr>
        <p:txBody>
          <a:bodyPr wrap="square" lIns="0" tIns="0" rIns="0" bIns="0" rtlCol="0" anchor="ctr"/>
          <a:lstStyle/>
          <a:p>
            <a:pPr indent="0" marL="0">
              <a:buNone/>
            </a:pPr>
            <a:r>
              <a:rPr lang="en-US" sz="950" dirty="0">
                <a:solidFill>
                  <a:srgbClr val="14213D"/>
                </a:solidFill>
                <a:latin typeface="Calibri" pitchFamily="34" charset="0"/>
                <a:ea typeface="Calibri" pitchFamily="34" charset="-122"/>
                <a:cs typeface="Calibri" pitchFamily="34" charset="-120"/>
              </a:rPr>
              <a:t>Creates a reports document: generated ID, priority, score, reporter details, timestamp and readable date (e.g. “29 Sep 2026 · 03:15 PM”)</a:t>
            </a:r>
            <a:endParaRPr lang="en-US" sz="950" dirty="0"/>
          </a:p>
        </p:txBody>
      </p:sp>
      <p:sp>
        <p:nvSpPr>
          <p:cNvPr id="38" name="Shape 36"/>
          <p:cNvSpPr/>
          <p:nvPr/>
        </p:nvSpPr>
        <p:spPr>
          <a:xfrm>
            <a:off x="548640" y="3977640"/>
            <a:ext cx="4846320" cy="402336"/>
          </a:xfrm>
          <a:prstGeom prst="roundRect">
            <a:avLst>
              <a:gd name="adj" fmla="val 18182"/>
            </a:avLst>
          </a:prstGeom>
          <a:solidFill>
            <a:srgbClr val="FFFFFF"/>
          </a:solidFill>
          <a:ln w="12700">
            <a:solidFill>
              <a:srgbClr val="D6E4F7"/>
            </a:solidFill>
            <a:prstDash val="solid"/>
          </a:ln>
        </p:spPr>
      </p:sp>
      <p:sp>
        <p:nvSpPr>
          <p:cNvPr id="39" name="Shape 37"/>
          <p:cNvSpPr/>
          <p:nvPr/>
        </p:nvSpPr>
        <p:spPr>
          <a:xfrm>
            <a:off x="621792" y="4032504"/>
            <a:ext cx="292608" cy="292608"/>
          </a:xfrm>
          <a:prstGeom prst="ellipse">
            <a:avLst/>
          </a:prstGeom>
          <a:solidFill>
            <a:srgbClr val="1E6FD9"/>
          </a:solidFill>
          <a:ln w="12700">
            <a:solidFill>
              <a:srgbClr val="1E6FD9"/>
            </a:solidFill>
            <a:prstDash val="solid"/>
          </a:ln>
        </p:spPr>
      </p:sp>
      <p:sp>
        <p:nvSpPr>
          <p:cNvPr id="40" name="Text 38"/>
          <p:cNvSpPr txBox="1"/>
          <p:nvPr/>
        </p:nvSpPr>
        <p:spPr>
          <a:xfrm>
            <a:off x="621792" y="403250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5</a:t>
            </a:r>
            <a:endParaRPr lang="en-US" sz="1100" dirty="0"/>
          </a:p>
        </p:txBody>
      </p:sp>
      <p:sp>
        <p:nvSpPr>
          <p:cNvPr id="41" name="Text 39"/>
          <p:cNvSpPr txBox="1"/>
          <p:nvPr/>
        </p:nvSpPr>
        <p:spPr>
          <a:xfrm>
            <a:off x="1005840" y="3977640"/>
            <a:ext cx="4343400" cy="402336"/>
          </a:xfrm>
          <a:prstGeom prst="rect">
            <a:avLst/>
          </a:prstGeom>
          <a:noFill/>
          <a:ln/>
        </p:spPr>
        <p:txBody>
          <a:bodyPr wrap="square" lIns="0" tIns="0" rIns="0" bIns="0" rtlCol="0" anchor="ctr"/>
          <a:lstStyle/>
          <a:p>
            <a:pPr indent="0" marL="0">
              <a:buNone/>
            </a:pPr>
            <a:r>
              <a:rPr lang="en-US" sz="950" dirty="0">
                <a:solidFill>
                  <a:srgbClr val="14213D"/>
                </a:solidFill>
                <a:latin typeface="Calibri" pitchFamily="34" charset="0"/>
                <a:ea typeface="Calibri" pitchFamily="34" charset="-122"/>
                <a:cs typeface="Calibri" pitchFamily="34" charset="-120"/>
              </a:rPr>
              <a:t>Sets status to Approved if auto-approved, otherwise Pending</a:t>
            </a:r>
            <a:endParaRPr lang="en-US" sz="950" dirty="0"/>
          </a:p>
        </p:txBody>
      </p:sp>
      <p:sp>
        <p:nvSpPr>
          <p:cNvPr id="42" name="Shape 40"/>
          <p:cNvSpPr/>
          <p:nvPr/>
        </p:nvSpPr>
        <p:spPr>
          <a:xfrm>
            <a:off x="548640" y="4434840"/>
            <a:ext cx="4846320" cy="402336"/>
          </a:xfrm>
          <a:prstGeom prst="roundRect">
            <a:avLst>
              <a:gd name="adj" fmla="val 18182"/>
            </a:avLst>
          </a:prstGeom>
          <a:solidFill>
            <a:srgbClr val="FFFFFF"/>
          </a:solidFill>
          <a:ln w="12700">
            <a:solidFill>
              <a:srgbClr val="D6E4F7"/>
            </a:solidFill>
            <a:prstDash val="solid"/>
          </a:ln>
        </p:spPr>
      </p:sp>
      <p:sp>
        <p:nvSpPr>
          <p:cNvPr id="43" name="Shape 41"/>
          <p:cNvSpPr/>
          <p:nvPr/>
        </p:nvSpPr>
        <p:spPr>
          <a:xfrm>
            <a:off x="621792" y="4489704"/>
            <a:ext cx="292608" cy="292608"/>
          </a:xfrm>
          <a:prstGeom prst="ellipse">
            <a:avLst/>
          </a:prstGeom>
          <a:solidFill>
            <a:srgbClr val="3B9CF0"/>
          </a:solidFill>
          <a:ln w="12700">
            <a:solidFill>
              <a:srgbClr val="3B9CF0"/>
            </a:solidFill>
            <a:prstDash val="solid"/>
          </a:ln>
        </p:spPr>
      </p:sp>
      <p:sp>
        <p:nvSpPr>
          <p:cNvPr id="44" name="Text 42"/>
          <p:cNvSpPr txBox="1"/>
          <p:nvPr/>
        </p:nvSpPr>
        <p:spPr>
          <a:xfrm>
            <a:off x="621792" y="448970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6</a:t>
            </a:r>
            <a:endParaRPr lang="en-US" sz="1100" dirty="0"/>
          </a:p>
        </p:txBody>
      </p:sp>
      <p:sp>
        <p:nvSpPr>
          <p:cNvPr id="45" name="Text 43"/>
          <p:cNvSpPr txBox="1"/>
          <p:nvPr/>
        </p:nvSpPr>
        <p:spPr>
          <a:xfrm>
            <a:off x="1005840" y="4434840"/>
            <a:ext cx="4343400" cy="402336"/>
          </a:xfrm>
          <a:prstGeom prst="rect">
            <a:avLst/>
          </a:prstGeom>
          <a:noFill/>
          <a:ln/>
        </p:spPr>
        <p:txBody>
          <a:bodyPr wrap="square" lIns="0" tIns="0" rIns="0" bIns="0" rtlCol="0" anchor="ctr"/>
          <a:lstStyle/>
          <a:p>
            <a:pPr indent="0" marL="0">
              <a:buNone/>
            </a:pPr>
            <a:r>
              <a:rPr lang="en-US" sz="950" dirty="0">
                <a:solidFill>
                  <a:srgbClr val="14213D"/>
                </a:solidFill>
                <a:latin typeface="Calibri" pitchFamily="34" charset="0"/>
                <a:ea typeface="Calibri" pitchFamily="34" charset="-122"/>
                <a:cs typeface="Calibri" pitchFamily="34" charset="-120"/>
              </a:rPr>
              <a:t>Shows a dialog with the priority, score, decision and reason</a:t>
            </a:r>
            <a:endParaRPr lang="en-US" sz="950" dirty="0"/>
          </a:p>
        </p:txBody>
      </p:sp>
      <p:pic>
        <p:nvPicPr>
          <p:cNvPr id="46" name="Image 0" descr="pb_report.png">    </p:cNvPr>
          <p:cNvPicPr>
            <a:picLocks noChangeAspect="1"/>
          </p:cNvPicPr>
          <p:nvPr/>
        </p:nvPicPr>
        <p:blipFill>
          <a:blip r:embed="rId1"/>
          <a:stretch>
            <a:fillRect/>
          </a:stretch>
        </p:blipFill>
        <p:spPr>
          <a:xfrm>
            <a:off x="5532120" y="1097280"/>
            <a:ext cx="1753849" cy="3566160"/>
          </a:xfrm>
          <a:prstGeom prst="rect">
            <a:avLst/>
          </a:prstGeom>
          <a:effectLst>
            <a:outerShdw sx="100000" sy="100000" kx="0" ky="0" algn="bl" rotWithShape="0" blurRad="152400" dist="50800" dir="5400000">
              <a:srgbClr val="000000">
                <a:alpha val="25000"/>
              </a:srgbClr>
            </a:outerShdw>
          </a:effectLst>
        </p:spPr>
      </p:pic>
      <p:pic>
        <p:nvPicPr>
          <p:cNvPr id="47" name="Image 1" descr="pb_result.png">    </p:cNvPr>
          <p:cNvPicPr>
            <a:picLocks noChangeAspect="1"/>
          </p:cNvPicPr>
          <p:nvPr/>
        </p:nvPicPr>
        <p:blipFill>
          <a:blip r:embed="rId2"/>
          <a:stretch>
            <a:fillRect/>
          </a:stretch>
        </p:blipFill>
        <p:spPr>
          <a:xfrm>
            <a:off x="7269480" y="1097280"/>
            <a:ext cx="1753849" cy="3566160"/>
          </a:xfrm>
          <a:prstGeom prst="rect">
            <a:avLst/>
          </a:prstGeom>
          <a:effectLst>
            <a:outerShdw sx="100000" sy="100000" kx="0" ky="0" algn="bl" rotWithShape="0" blurRad="152400" dist="50800" dir="5400000">
              <a:srgbClr val="000000">
                <a:alpha val="25000"/>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9FF"/>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E6FD9"/>
          </a:solidFill>
          <a:ln w="12700">
            <a:solidFill>
              <a:srgbClr val="1E6FD9"/>
            </a:solidFill>
            <a:prstDash val="solid"/>
          </a:ln>
        </p:spPr>
      </p:sp>
      <p:sp>
        <p:nvSpPr>
          <p:cNvPr id="3" name="Text 1"/>
          <p:cNvSpPr txBox="1"/>
          <p:nvPr/>
        </p:nvSpPr>
        <p:spPr>
          <a:xfrm>
            <a:off x="548640" y="91440"/>
            <a:ext cx="7680960" cy="228600"/>
          </a:xfrm>
          <a:prstGeom prst="rect">
            <a:avLst/>
          </a:prstGeom>
          <a:noFill/>
          <a:ln/>
        </p:spPr>
        <p:txBody>
          <a:bodyPr wrap="square" lIns="0" tIns="0" rIns="0" bIns="0" rtlCol="0" anchor="ctr"/>
          <a:lstStyle/>
          <a:p>
            <a:pPr indent="0" marL="0">
              <a:buNone/>
            </a:pPr>
            <a:r>
              <a:rPr lang="en-US" sz="900" b="1" spc="200" kern="0" dirty="0">
                <a:solidFill>
                  <a:srgbClr val="1E6FD9"/>
                </a:solidFill>
                <a:latin typeface="Calibri" pitchFamily="34" charset="0"/>
                <a:ea typeface="Calibri" pitchFamily="34" charset="-122"/>
                <a:cs typeface="Calibri" pitchFamily="34" charset="-120"/>
              </a:rPr>
              <a:t>IMPLEMENTATION</a:t>
            </a:r>
            <a:endParaRPr lang="en-US" sz="900" dirty="0"/>
          </a:p>
        </p:txBody>
      </p:sp>
      <p:sp>
        <p:nvSpPr>
          <p:cNvPr id="4" name="Text 2"/>
          <p:cNvSpPr txBox="1"/>
          <p:nvPr/>
        </p:nvSpPr>
        <p:spPr>
          <a:xfrm>
            <a:off x="548640" y="320040"/>
            <a:ext cx="8229600" cy="640080"/>
          </a:xfrm>
          <a:prstGeom prst="rect">
            <a:avLst/>
          </a:prstGeom>
          <a:noFill/>
          <a:ln/>
        </p:spPr>
        <p:txBody>
          <a:bodyPr wrap="square" lIns="0" tIns="0" rIns="0" bIns="0" rtlCol="0" anchor="ctr"/>
          <a:lstStyle/>
          <a:p>
            <a:pPr indent="0" marL="0">
              <a:buNone/>
            </a:pPr>
            <a:r>
              <a:rPr lang="en-US" sz="3000" b="1" dirty="0">
                <a:solidFill>
                  <a:srgbClr val="0B2A5B"/>
                </a:solidFill>
                <a:latin typeface="Cambria" pitchFamily="34" charset="0"/>
                <a:ea typeface="Cambria" pitchFamily="34" charset="-122"/>
                <a:cs typeface="Cambria" pitchFamily="34" charset="-120"/>
              </a:rPr>
              <a:t>The AI Priority Classifier</a:t>
            </a:r>
            <a:endParaRPr lang="en-US" sz="3000" dirty="0"/>
          </a:p>
        </p:txBody>
      </p:sp>
      <p:sp>
        <p:nvSpPr>
          <p:cNvPr id="5" name="Shape 3"/>
          <p:cNvSpPr/>
          <p:nvPr/>
        </p:nvSpPr>
        <p:spPr>
          <a:xfrm>
            <a:off x="548640" y="1143000"/>
            <a:ext cx="4846320" cy="822960"/>
          </a:xfrm>
          <a:prstGeom prst="roundRect">
            <a:avLst>
              <a:gd name="adj" fmla="val 13333"/>
            </a:avLst>
          </a:prstGeom>
          <a:solidFill>
            <a:srgbClr val="FFFFFF"/>
          </a:solidFill>
          <a:ln w="12700">
            <a:solidFill>
              <a:srgbClr val="D6E4F7"/>
            </a:solidFill>
            <a:prstDash val="solid"/>
          </a:ln>
        </p:spPr>
      </p:sp>
      <p:sp>
        <p:nvSpPr>
          <p:cNvPr id="6" name="Shape 4"/>
          <p:cNvSpPr/>
          <p:nvPr/>
        </p:nvSpPr>
        <p:spPr>
          <a:xfrm>
            <a:off x="685800" y="1325880"/>
            <a:ext cx="457200" cy="457200"/>
          </a:xfrm>
          <a:prstGeom prst="ellipse">
            <a:avLst/>
          </a:prstGeom>
          <a:solidFill>
            <a:srgbClr val="1E6FD9"/>
          </a:solidFill>
          <a:ln w="12700">
            <a:solidFill>
              <a:srgbClr val="1E6FD9"/>
            </a:solidFill>
            <a:prstDash val="solid"/>
          </a:ln>
        </p:spPr>
      </p:sp>
      <p:pic>
        <p:nvPicPr>
          <p:cNvPr id="7" name="Image 0" descr="preencoded.png">    </p:cNvPr>
          <p:cNvPicPr>
            <a:picLocks noChangeAspect="1"/>
          </p:cNvPicPr>
          <p:nvPr/>
        </p:nvPicPr>
        <p:blipFill>
          <a:blip r:embed="rId1"/>
          <a:stretch>
            <a:fillRect/>
          </a:stretch>
        </p:blipFill>
        <p:spPr>
          <a:xfrm>
            <a:off x="800100" y="1440180"/>
            <a:ext cx="228600" cy="228600"/>
          </a:xfrm>
          <a:prstGeom prst="rect">
            <a:avLst/>
          </a:prstGeom>
        </p:spPr>
      </p:pic>
      <p:sp>
        <p:nvSpPr>
          <p:cNvPr id="8" name="Text 5"/>
          <p:cNvSpPr txBox="1"/>
          <p:nvPr/>
        </p:nvSpPr>
        <p:spPr>
          <a:xfrm>
            <a:off x="1325880" y="1143000"/>
            <a:ext cx="3977640" cy="822960"/>
          </a:xfrm>
          <a:prstGeom prst="rect">
            <a:avLst/>
          </a:prstGeom>
          <a:noFill/>
          <a:ln/>
        </p:spPr>
        <p:txBody>
          <a:bodyPr wrap="square" lIns="0" tIns="0" rIns="0" bIns="0" rtlCol="0" anchor="ctr"/>
          <a:lstStyle/>
          <a:p>
            <a:pPr indent="0" marL="0">
              <a:buNone/>
            </a:pPr>
            <a:r>
              <a:rPr lang="en-US" sz="1300" b="1" dirty="0">
                <a:solidFill>
                  <a:srgbClr val="0B2A5B"/>
                </a:solidFill>
                <a:latin typeface="Calibri" pitchFamily="34" charset="0"/>
                <a:ea typeface="Calibri" pitchFamily="34" charset="-122"/>
                <a:cs typeface="Calibri" pitchFamily="34" charset="-120"/>
              </a:rPr>
              <a:t>Transparent and rule-based</a:t>
            </a:r>
            <a:endParaRPr lang="en-US" sz="1300" dirty="0"/>
          </a:p>
          <a:p>
            <a:pPr indent="0" marL="0">
              <a:buNone/>
            </a:pPr>
            <a:r>
              <a:rPr lang="en-US" sz="1000" dirty="0">
                <a:solidFill>
                  <a:srgbClr val="14213D"/>
                </a:solidFill>
                <a:latin typeface="Calibri" pitchFamily="34" charset="0"/>
                <a:ea typeface="Calibri" pitchFamily="34" charset="-122"/>
                <a:cs typeface="Calibri" pitchFamily="34" charset="-120"/>
              </a:rPr>
              <a:t>A scoring engine, so every decision can be explained to the student.</a:t>
            </a:r>
            <a:endParaRPr lang="en-US" sz="1300" dirty="0"/>
          </a:p>
        </p:txBody>
      </p:sp>
      <p:sp>
        <p:nvSpPr>
          <p:cNvPr id="9" name="Shape 6"/>
          <p:cNvSpPr/>
          <p:nvPr/>
        </p:nvSpPr>
        <p:spPr>
          <a:xfrm>
            <a:off x="548640" y="2057400"/>
            <a:ext cx="4846320" cy="822960"/>
          </a:xfrm>
          <a:prstGeom prst="roundRect">
            <a:avLst>
              <a:gd name="adj" fmla="val 13333"/>
            </a:avLst>
          </a:prstGeom>
          <a:solidFill>
            <a:srgbClr val="FFFFFF"/>
          </a:solidFill>
          <a:ln w="12700">
            <a:solidFill>
              <a:srgbClr val="D6E4F7"/>
            </a:solidFill>
            <a:prstDash val="solid"/>
          </a:ln>
        </p:spPr>
      </p:sp>
      <p:sp>
        <p:nvSpPr>
          <p:cNvPr id="10" name="Shape 7"/>
          <p:cNvSpPr/>
          <p:nvPr/>
        </p:nvSpPr>
        <p:spPr>
          <a:xfrm>
            <a:off x="685800" y="2240280"/>
            <a:ext cx="457200" cy="457200"/>
          </a:xfrm>
          <a:prstGeom prst="ellipse">
            <a:avLst/>
          </a:prstGeom>
          <a:solidFill>
            <a:srgbClr val="3B9CF0"/>
          </a:solidFill>
          <a:ln w="12700">
            <a:solidFill>
              <a:srgbClr val="3B9CF0"/>
            </a:solidFill>
            <a:prstDash val="solid"/>
          </a:ln>
        </p:spPr>
      </p:sp>
      <p:pic>
        <p:nvPicPr>
          <p:cNvPr id="11" name="Image 1" descr="preencoded.png">    </p:cNvPr>
          <p:cNvPicPr>
            <a:picLocks noChangeAspect="1"/>
          </p:cNvPicPr>
          <p:nvPr/>
        </p:nvPicPr>
        <p:blipFill>
          <a:blip r:embed="rId2"/>
          <a:stretch>
            <a:fillRect/>
          </a:stretch>
        </p:blipFill>
        <p:spPr>
          <a:xfrm>
            <a:off x="800100" y="2354580"/>
            <a:ext cx="228600" cy="228600"/>
          </a:xfrm>
          <a:prstGeom prst="rect">
            <a:avLst/>
          </a:prstGeom>
        </p:spPr>
      </p:pic>
      <p:sp>
        <p:nvSpPr>
          <p:cNvPr id="12" name="Text 8"/>
          <p:cNvSpPr txBox="1"/>
          <p:nvPr/>
        </p:nvSpPr>
        <p:spPr>
          <a:xfrm>
            <a:off x="1325880" y="2057400"/>
            <a:ext cx="3977640" cy="822960"/>
          </a:xfrm>
          <a:prstGeom prst="rect">
            <a:avLst/>
          </a:prstGeom>
          <a:noFill/>
          <a:ln/>
        </p:spPr>
        <p:txBody>
          <a:bodyPr wrap="square" lIns="0" tIns="0" rIns="0" bIns="0" rtlCol="0" anchor="ctr"/>
          <a:lstStyle/>
          <a:p>
            <a:pPr indent="0" marL="0">
              <a:buNone/>
            </a:pPr>
            <a:r>
              <a:rPr lang="en-US" sz="1300" b="1" dirty="0">
                <a:solidFill>
                  <a:srgbClr val="0B2A5B"/>
                </a:solidFill>
                <a:latin typeface="Calibri" pitchFamily="34" charset="0"/>
                <a:ea typeface="Calibri" pitchFamily="34" charset="-122"/>
                <a:cs typeface="Calibri" pitchFamily="34" charset="-120"/>
              </a:rPr>
              <a:t>Category first</a:t>
            </a:r>
            <a:endParaRPr lang="en-US" sz="1300" dirty="0"/>
          </a:p>
          <a:p>
            <a:pPr indent="0" marL="0">
              <a:buNone/>
            </a:pPr>
            <a:r>
              <a:rPr lang="en-US" sz="1000" dirty="0">
                <a:solidFill>
                  <a:srgbClr val="14213D"/>
                </a:solidFill>
                <a:latin typeface="Calibri" pitchFamily="34" charset="0"/>
                <a:ea typeface="Calibri" pitchFamily="34" charset="-122"/>
                <a:cs typeface="Calibri" pitchFamily="34" charset="-120"/>
              </a:rPr>
              <a:t>The selected category gives the base score, which prevents mistakes such as “phone” inside “headphones” changing the result.</a:t>
            </a:r>
            <a:endParaRPr lang="en-US" sz="1300" dirty="0"/>
          </a:p>
        </p:txBody>
      </p:sp>
      <p:sp>
        <p:nvSpPr>
          <p:cNvPr id="13" name="Shape 9"/>
          <p:cNvSpPr/>
          <p:nvPr/>
        </p:nvSpPr>
        <p:spPr>
          <a:xfrm>
            <a:off x="548640" y="2971800"/>
            <a:ext cx="4846320" cy="822960"/>
          </a:xfrm>
          <a:prstGeom prst="roundRect">
            <a:avLst>
              <a:gd name="adj" fmla="val 13333"/>
            </a:avLst>
          </a:prstGeom>
          <a:solidFill>
            <a:srgbClr val="FFFFFF"/>
          </a:solidFill>
          <a:ln w="12700">
            <a:solidFill>
              <a:srgbClr val="D6E4F7"/>
            </a:solidFill>
            <a:prstDash val="solid"/>
          </a:ln>
        </p:spPr>
      </p:sp>
      <p:sp>
        <p:nvSpPr>
          <p:cNvPr id="14" name="Shape 10"/>
          <p:cNvSpPr/>
          <p:nvPr/>
        </p:nvSpPr>
        <p:spPr>
          <a:xfrm>
            <a:off x="685800" y="3154680"/>
            <a:ext cx="457200" cy="457200"/>
          </a:xfrm>
          <a:prstGeom prst="ellipse">
            <a:avLst/>
          </a:prstGeom>
          <a:solidFill>
            <a:srgbClr val="1E6FD9"/>
          </a:solidFill>
          <a:ln w="12700">
            <a:solidFill>
              <a:srgbClr val="1E6FD9"/>
            </a:solidFill>
            <a:prstDash val="solid"/>
          </a:ln>
        </p:spPr>
      </p:sp>
      <p:pic>
        <p:nvPicPr>
          <p:cNvPr id="15" name="Image 2" descr="preencoded.png">    </p:cNvPr>
          <p:cNvPicPr>
            <a:picLocks noChangeAspect="1"/>
          </p:cNvPicPr>
          <p:nvPr/>
        </p:nvPicPr>
        <p:blipFill>
          <a:blip r:embed="rId3"/>
          <a:stretch>
            <a:fillRect/>
          </a:stretch>
        </p:blipFill>
        <p:spPr>
          <a:xfrm>
            <a:off x="800100" y="3268980"/>
            <a:ext cx="228600" cy="228600"/>
          </a:xfrm>
          <a:prstGeom prst="rect">
            <a:avLst/>
          </a:prstGeom>
        </p:spPr>
      </p:pic>
      <p:sp>
        <p:nvSpPr>
          <p:cNvPr id="16" name="Text 11"/>
          <p:cNvSpPr txBox="1"/>
          <p:nvPr/>
        </p:nvSpPr>
        <p:spPr>
          <a:xfrm>
            <a:off x="1325880" y="2971800"/>
            <a:ext cx="3977640" cy="822960"/>
          </a:xfrm>
          <a:prstGeom prst="rect">
            <a:avLst/>
          </a:prstGeom>
          <a:noFill/>
          <a:ln/>
        </p:spPr>
        <p:txBody>
          <a:bodyPr wrap="square" lIns="0" tIns="0" rIns="0" bIns="0" rtlCol="0" anchor="ctr"/>
          <a:lstStyle/>
          <a:p>
            <a:pPr indent="0" marL="0">
              <a:buNone/>
            </a:pPr>
            <a:r>
              <a:rPr lang="en-US" sz="1300" b="1" dirty="0">
                <a:solidFill>
                  <a:srgbClr val="0B2A5B"/>
                </a:solidFill>
                <a:latin typeface="Calibri" pitchFamily="34" charset="0"/>
                <a:ea typeface="Calibri" pitchFamily="34" charset="-122"/>
                <a:cs typeface="Calibri" pitchFamily="34" charset="-120"/>
              </a:rPr>
              <a:t>Keywords only for “Other”</a:t>
            </a:r>
            <a:endParaRPr lang="en-US" sz="1300" dirty="0"/>
          </a:p>
          <a:p>
            <a:pPr indent="0" marL="0">
              <a:buNone/>
            </a:pPr>
            <a:r>
              <a:rPr lang="en-US" sz="1000" dirty="0">
                <a:solidFill>
                  <a:srgbClr val="14213D"/>
                </a:solidFill>
                <a:latin typeface="Calibri" pitchFamily="34" charset="0"/>
                <a:ea typeface="Calibri" pitchFamily="34" charset="-122"/>
                <a:cs typeface="Calibri" pitchFamily="34" charset="-120"/>
              </a:rPr>
              <a:t>Only then are the title and description searched, using a regular expression that matches whole words only.</a:t>
            </a:r>
            <a:endParaRPr lang="en-US" sz="1300" dirty="0"/>
          </a:p>
        </p:txBody>
      </p:sp>
      <p:sp>
        <p:nvSpPr>
          <p:cNvPr id="17" name="Shape 12"/>
          <p:cNvSpPr/>
          <p:nvPr/>
        </p:nvSpPr>
        <p:spPr>
          <a:xfrm>
            <a:off x="548640" y="3886200"/>
            <a:ext cx="4846320" cy="822960"/>
          </a:xfrm>
          <a:prstGeom prst="roundRect">
            <a:avLst>
              <a:gd name="adj" fmla="val 13333"/>
            </a:avLst>
          </a:prstGeom>
          <a:solidFill>
            <a:srgbClr val="FFFFFF"/>
          </a:solidFill>
          <a:ln w="12700">
            <a:solidFill>
              <a:srgbClr val="D6E4F7"/>
            </a:solidFill>
            <a:prstDash val="solid"/>
          </a:ln>
        </p:spPr>
      </p:sp>
      <p:sp>
        <p:nvSpPr>
          <p:cNvPr id="18" name="Shape 13"/>
          <p:cNvSpPr/>
          <p:nvPr/>
        </p:nvSpPr>
        <p:spPr>
          <a:xfrm>
            <a:off x="685800" y="4069080"/>
            <a:ext cx="457200" cy="457200"/>
          </a:xfrm>
          <a:prstGeom prst="ellipse">
            <a:avLst/>
          </a:prstGeom>
          <a:solidFill>
            <a:srgbClr val="3B9CF0"/>
          </a:solidFill>
          <a:ln w="12700">
            <a:solidFill>
              <a:srgbClr val="3B9CF0"/>
            </a:solidFill>
            <a:prstDash val="solid"/>
          </a:ln>
        </p:spPr>
      </p:sp>
      <p:pic>
        <p:nvPicPr>
          <p:cNvPr id="19" name="Image 3" descr="preencoded.png">    </p:cNvPr>
          <p:cNvPicPr>
            <a:picLocks noChangeAspect="1"/>
          </p:cNvPicPr>
          <p:nvPr/>
        </p:nvPicPr>
        <p:blipFill>
          <a:blip r:embed="rId4"/>
          <a:stretch>
            <a:fillRect/>
          </a:stretch>
        </p:blipFill>
        <p:spPr>
          <a:xfrm>
            <a:off x="800100" y="4183380"/>
            <a:ext cx="228600" cy="228600"/>
          </a:xfrm>
          <a:prstGeom prst="rect">
            <a:avLst/>
          </a:prstGeom>
        </p:spPr>
      </p:pic>
      <p:sp>
        <p:nvSpPr>
          <p:cNvPr id="20" name="Text 14"/>
          <p:cNvSpPr txBox="1"/>
          <p:nvPr/>
        </p:nvSpPr>
        <p:spPr>
          <a:xfrm>
            <a:off x="1325880" y="3886200"/>
            <a:ext cx="3977640" cy="822960"/>
          </a:xfrm>
          <a:prstGeom prst="rect">
            <a:avLst/>
          </a:prstGeom>
          <a:noFill/>
          <a:ln/>
        </p:spPr>
        <p:txBody>
          <a:bodyPr wrap="square" lIns="0" tIns="0" rIns="0" bIns="0" rtlCol="0" anchor="ctr"/>
          <a:lstStyle/>
          <a:p>
            <a:pPr indent="0" marL="0">
              <a:buNone/>
            </a:pPr>
            <a:r>
              <a:rPr lang="en-US" sz="1300" b="1" dirty="0">
                <a:solidFill>
                  <a:srgbClr val="0B2A5B"/>
                </a:solidFill>
                <a:latin typeface="Calibri" pitchFamily="34" charset="0"/>
                <a:ea typeface="Calibri" pitchFamily="34" charset="-122"/>
                <a:cs typeface="Calibri" pitchFamily="34" charset="-120"/>
              </a:rPr>
              <a:t>Explanations</a:t>
            </a:r>
            <a:endParaRPr lang="en-US" sz="1300" dirty="0"/>
          </a:p>
          <a:p>
            <a:pPr indent="0" marL="0">
              <a:buNone/>
            </a:pPr>
            <a:r>
              <a:rPr lang="en-US" sz="1000" dirty="0">
                <a:solidFill>
                  <a:srgbClr val="14213D"/>
                </a:solidFill>
                <a:latin typeface="Calibri" pitchFamily="34" charset="0"/>
                <a:ea typeface="Calibri" pitchFamily="34" charset="-122"/>
                <a:cs typeface="Calibri" pitchFamily="34" charset="-120"/>
              </a:rPr>
              <a:t>Academic and urgency words add sentences to the explanation shown to the student.</a:t>
            </a:r>
            <a:endParaRPr lang="en-US" sz="1300" dirty="0"/>
          </a:p>
        </p:txBody>
      </p:sp>
      <p:sp>
        <p:nvSpPr>
          <p:cNvPr id="21" name="Shape 15"/>
          <p:cNvSpPr/>
          <p:nvPr/>
        </p:nvSpPr>
        <p:spPr>
          <a:xfrm>
            <a:off x="5577840" y="1143000"/>
            <a:ext cx="3017520" cy="2148840"/>
          </a:xfrm>
          <a:prstGeom prst="roundRect">
            <a:avLst>
              <a:gd name="adj" fmla="val 5106"/>
            </a:avLst>
          </a:prstGeom>
          <a:solidFill>
            <a:srgbClr val="FFFFFF"/>
          </a:solidFill>
          <a:ln w="12700">
            <a:solidFill>
              <a:srgbClr val="D6E4F7"/>
            </a:solidFill>
            <a:prstDash val="solid"/>
          </a:ln>
        </p:spPr>
      </p:sp>
      <p:sp>
        <p:nvSpPr>
          <p:cNvPr id="22" name="Text 16"/>
          <p:cNvSpPr txBox="1"/>
          <p:nvPr/>
        </p:nvSpPr>
        <p:spPr>
          <a:xfrm>
            <a:off x="5715000" y="1188720"/>
            <a:ext cx="2743200" cy="365760"/>
          </a:xfrm>
          <a:prstGeom prst="rect">
            <a:avLst/>
          </a:prstGeom>
          <a:noFill/>
          <a:ln/>
        </p:spPr>
        <p:txBody>
          <a:bodyPr wrap="square" lIns="0" tIns="0" rIns="0" bIns="0" rtlCol="0" anchor="ctr"/>
          <a:lstStyle/>
          <a:p>
            <a:pPr indent="0" marL="0">
              <a:buNone/>
            </a:pPr>
            <a:r>
              <a:rPr lang="en-US" sz="1400" b="1" dirty="0">
                <a:solidFill>
                  <a:srgbClr val="0B2A5B"/>
                </a:solidFill>
                <a:latin typeface="Cambria" pitchFamily="34" charset="0"/>
                <a:ea typeface="Cambria" pitchFamily="34" charset="-122"/>
                <a:cs typeface="Cambria" pitchFamily="34" charset="-120"/>
              </a:rPr>
              <a:t>Academic words</a:t>
            </a:r>
            <a:endParaRPr lang="en-US" sz="1400" dirty="0"/>
          </a:p>
        </p:txBody>
      </p:sp>
      <p:sp>
        <p:nvSpPr>
          <p:cNvPr id="23" name="Shape 17"/>
          <p:cNvSpPr/>
          <p:nvPr/>
        </p:nvSpPr>
        <p:spPr>
          <a:xfrm>
            <a:off x="5715000" y="1645920"/>
            <a:ext cx="1051560" cy="292608"/>
          </a:xfrm>
          <a:prstGeom prst="roundRect">
            <a:avLst>
              <a:gd name="adj" fmla="val 50000"/>
            </a:avLst>
          </a:prstGeom>
          <a:solidFill>
            <a:srgbClr val="EAF3FF"/>
          </a:solidFill>
          <a:ln w="12700">
            <a:solidFill>
              <a:srgbClr val="BBD6F7"/>
            </a:solidFill>
            <a:prstDash val="solid"/>
          </a:ln>
        </p:spPr>
      </p:sp>
      <p:sp>
        <p:nvSpPr>
          <p:cNvPr id="24" name="Text 18"/>
          <p:cNvSpPr txBox="1"/>
          <p:nvPr/>
        </p:nvSpPr>
        <p:spPr>
          <a:xfrm>
            <a:off x="5715000" y="1645920"/>
            <a:ext cx="1051560" cy="292608"/>
          </a:xfrm>
          <a:prstGeom prst="rect">
            <a:avLst/>
          </a:prstGeom>
          <a:noFill/>
          <a:ln/>
        </p:spPr>
        <p:txBody>
          <a:bodyPr wrap="square" lIns="0" tIns="0" rIns="0" bIns="0" rtlCol="0" anchor="ctr"/>
          <a:lstStyle/>
          <a:p>
            <a:pPr algn="ctr" indent="0" marL="0">
              <a:buNone/>
            </a:pPr>
            <a:r>
              <a:rPr lang="en-US" sz="1000" b="1" dirty="0">
                <a:solidFill>
                  <a:srgbClr val="1E6FD9"/>
                </a:solidFill>
                <a:latin typeface="Calibri" pitchFamily="34" charset="0"/>
                <a:ea typeface="Calibri" pitchFamily="34" charset="-122"/>
                <a:cs typeface="Calibri" pitchFamily="34" charset="-120"/>
              </a:rPr>
              <a:t>assignment</a:t>
            </a:r>
            <a:endParaRPr lang="en-US" sz="1000" dirty="0"/>
          </a:p>
        </p:txBody>
      </p:sp>
      <p:sp>
        <p:nvSpPr>
          <p:cNvPr id="25" name="Shape 19"/>
          <p:cNvSpPr/>
          <p:nvPr/>
        </p:nvSpPr>
        <p:spPr>
          <a:xfrm>
            <a:off x="6858000" y="1645920"/>
            <a:ext cx="612648" cy="292608"/>
          </a:xfrm>
          <a:prstGeom prst="roundRect">
            <a:avLst>
              <a:gd name="adj" fmla="val 50000"/>
            </a:avLst>
          </a:prstGeom>
          <a:solidFill>
            <a:srgbClr val="EAF3FF"/>
          </a:solidFill>
          <a:ln w="12700">
            <a:solidFill>
              <a:srgbClr val="BBD6F7"/>
            </a:solidFill>
            <a:prstDash val="solid"/>
          </a:ln>
        </p:spPr>
      </p:sp>
      <p:sp>
        <p:nvSpPr>
          <p:cNvPr id="26" name="Text 20"/>
          <p:cNvSpPr txBox="1"/>
          <p:nvPr/>
        </p:nvSpPr>
        <p:spPr>
          <a:xfrm>
            <a:off x="6858000" y="1645920"/>
            <a:ext cx="612648" cy="292608"/>
          </a:xfrm>
          <a:prstGeom prst="rect">
            <a:avLst/>
          </a:prstGeom>
          <a:noFill/>
          <a:ln/>
        </p:spPr>
        <p:txBody>
          <a:bodyPr wrap="square" lIns="0" tIns="0" rIns="0" bIns="0" rtlCol="0" anchor="ctr"/>
          <a:lstStyle/>
          <a:p>
            <a:pPr algn="ctr" indent="0" marL="0">
              <a:buNone/>
            </a:pPr>
            <a:r>
              <a:rPr lang="en-US" sz="1000" b="1" dirty="0">
                <a:solidFill>
                  <a:srgbClr val="1E6FD9"/>
                </a:solidFill>
                <a:latin typeface="Calibri" pitchFamily="34" charset="0"/>
                <a:ea typeface="Calibri" pitchFamily="34" charset="-122"/>
                <a:cs typeface="Calibri" pitchFamily="34" charset="-120"/>
              </a:rPr>
              <a:t>exam</a:t>
            </a:r>
            <a:endParaRPr lang="en-US" sz="1000" dirty="0"/>
          </a:p>
        </p:txBody>
      </p:sp>
      <p:sp>
        <p:nvSpPr>
          <p:cNvPr id="27" name="Shape 21"/>
          <p:cNvSpPr/>
          <p:nvPr/>
        </p:nvSpPr>
        <p:spPr>
          <a:xfrm>
            <a:off x="7562088" y="1645920"/>
            <a:ext cx="612648" cy="292608"/>
          </a:xfrm>
          <a:prstGeom prst="roundRect">
            <a:avLst>
              <a:gd name="adj" fmla="val 50000"/>
            </a:avLst>
          </a:prstGeom>
          <a:solidFill>
            <a:srgbClr val="EAF3FF"/>
          </a:solidFill>
          <a:ln w="12700">
            <a:solidFill>
              <a:srgbClr val="BBD6F7"/>
            </a:solidFill>
            <a:prstDash val="solid"/>
          </a:ln>
        </p:spPr>
      </p:sp>
      <p:sp>
        <p:nvSpPr>
          <p:cNvPr id="28" name="Text 22"/>
          <p:cNvSpPr txBox="1"/>
          <p:nvPr/>
        </p:nvSpPr>
        <p:spPr>
          <a:xfrm>
            <a:off x="7562088" y="1645920"/>
            <a:ext cx="612648" cy="292608"/>
          </a:xfrm>
          <a:prstGeom prst="rect">
            <a:avLst/>
          </a:prstGeom>
          <a:noFill/>
          <a:ln/>
        </p:spPr>
        <p:txBody>
          <a:bodyPr wrap="square" lIns="0" tIns="0" rIns="0" bIns="0" rtlCol="0" anchor="ctr"/>
          <a:lstStyle/>
          <a:p>
            <a:pPr algn="ctr" indent="0" marL="0">
              <a:buNone/>
            </a:pPr>
            <a:r>
              <a:rPr lang="en-US" sz="1000" b="1" dirty="0">
                <a:solidFill>
                  <a:srgbClr val="1E6FD9"/>
                </a:solidFill>
                <a:latin typeface="Calibri" pitchFamily="34" charset="0"/>
                <a:ea typeface="Calibri" pitchFamily="34" charset="-122"/>
                <a:cs typeface="Calibri" pitchFamily="34" charset="-120"/>
              </a:rPr>
              <a:t>test</a:t>
            </a:r>
            <a:endParaRPr lang="en-US" sz="1000" dirty="0"/>
          </a:p>
        </p:txBody>
      </p:sp>
      <p:sp>
        <p:nvSpPr>
          <p:cNvPr id="29" name="Shape 23"/>
          <p:cNvSpPr/>
          <p:nvPr/>
        </p:nvSpPr>
        <p:spPr>
          <a:xfrm>
            <a:off x="5715000" y="2029968"/>
            <a:ext cx="832104" cy="292608"/>
          </a:xfrm>
          <a:prstGeom prst="roundRect">
            <a:avLst>
              <a:gd name="adj" fmla="val 50000"/>
            </a:avLst>
          </a:prstGeom>
          <a:solidFill>
            <a:srgbClr val="EAF3FF"/>
          </a:solidFill>
          <a:ln w="12700">
            <a:solidFill>
              <a:srgbClr val="BBD6F7"/>
            </a:solidFill>
            <a:prstDash val="solid"/>
          </a:ln>
        </p:spPr>
      </p:sp>
      <p:sp>
        <p:nvSpPr>
          <p:cNvPr id="30" name="Text 24"/>
          <p:cNvSpPr txBox="1"/>
          <p:nvPr/>
        </p:nvSpPr>
        <p:spPr>
          <a:xfrm>
            <a:off x="5715000" y="2029968"/>
            <a:ext cx="832104" cy="292608"/>
          </a:xfrm>
          <a:prstGeom prst="rect">
            <a:avLst/>
          </a:prstGeom>
          <a:noFill/>
          <a:ln/>
        </p:spPr>
        <p:txBody>
          <a:bodyPr wrap="square" lIns="0" tIns="0" rIns="0" bIns="0" rtlCol="0" anchor="ctr"/>
          <a:lstStyle/>
          <a:p>
            <a:pPr algn="ctr" indent="0" marL="0">
              <a:buNone/>
            </a:pPr>
            <a:r>
              <a:rPr lang="en-US" sz="1000" b="1" dirty="0">
                <a:solidFill>
                  <a:srgbClr val="1E6FD9"/>
                </a:solidFill>
                <a:latin typeface="Calibri" pitchFamily="34" charset="0"/>
                <a:ea typeface="Calibri" pitchFamily="34" charset="-122"/>
                <a:cs typeface="Calibri" pitchFamily="34" charset="-120"/>
              </a:rPr>
              <a:t>lecture</a:t>
            </a:r>
            <a:endParaRPr lang="en-US" sz="1000" dirty="0"/>
          </a:p>
        </p:txBody>
      </p:sp>
      <p:sp>
        <p:nvSpPr>
          <p:cNvPr id="31" name="Shape 25"/>
          <p:cNvSpPr/>
          <p:nvPr/>
        </p:nvSpPr>
        <p:spPr>
          <a:xfrm>
            <a:off x="6638544" y="2029968"/>
            <a:ext cx="685800" cy="292608"/>
          </a:xfrm>
          <a:prstGeom prst="roundRect">
            <a:avLst>
              <a:gd name="adj" fmla="val 50000"/>
            </a:avLst>
          </a:prstGeom>
          <a:solidFill>
            <a:srgbClr val="EAF3FF"/>
          </a:solidFill>
          <a:ln w="12700">
            <a:solidFill>
              <a:srgbClr val="BBD6F7"/>
            </a:solidFill>
            <a:prstDash val="solid"/>
          </a:ln>
        </p:spPr>
      </p:sp>
      <p:sp>
        <p:nvSpPr>
          <p:cNvPr id="32" name="Text 26"/>
          <p:cNvSpPr txBox="1"/>
          <p:nvPr/>
        </p:nvSpPr>
        <p:spPr>
          <a:xfrm>
            <a:off x="6638544" y="2029968"/>
            <a:ext cx="685800" cy="292608"/>
          </a:xfrm>
          <a:prstGeom prst="rect">
            <a:avLst/>
          </a:prstGeom>
          <a:noFill/>
          <a:ln/>
        </p:spPr>
        <p:txBody>
          <a:bodyPr wrap="square" lIns="0" tIns="0" rIns="0" bIns="0" rtlCol="0" anchor="ctr"/>
          <a:lstStyle/>
          <a:p>
            <a:pPr algn="ctr" indent="0" marL="0">
              <a:buNone/>
            </a:pPr>
            <a:r>
              <a:rPr lang="en-US" sz="1000" b="1" dirty="0">
                <a:solidFill>
                  <a:srgbClr val="1E6FD9"/>
                </a:solidFill>
                <a:latin typeface="Calibri" pitchFamily="34" charset="0"/>
                <a:ea typeface="Calibri" pitchFamily="34" charset="-122"/>
                <a:cs typeface="Calibri" pitchFamily="34" charset="-120"/>
              </a:rPr>
              <a:t>class</a:t>
            </a:r>
            <a:endParaRPr lang="en-US" sz="1000" dirty="0"/>
          </a:p>
        </p:txBody>
      </p:sp>
      <p:sp>
        <p:nvSpPr>
          <p:cNvPr id="33" name="Shape 27"/>
          <p:cNvSpPr/>
          <p:nvPr/>
        </p:nvSpPr>
        <p:spPr>
          <a:xfrm>
            <a:off x="7415784" y="2029968"/>
            <a:ext cx="832104" cy="292608"/>
          </a:xfrm>
          <a:prstGeom prst="roundRect">
            <a:avLst>
              <a:gd name="adj" fmla="val 50000"/>
            </a:avLst>
          </a:prstGeom>
          <a:solidFill>
            <a:srgbClr val="EAF3FF"/>
          </a:solidFill>
          <a:ln w="12700">
            <a:solidFill>
              <a:srgbClr val="BBD6F7"/>
            </a:solidFill>
            <a:prstDash val="solid"/>
          </a:ln>
        </p:spPr>
      </p:sp>
      <p:sp>
        <p:nvSpPr>
          <p:cNvPr id="34" name="Text 28"/>
          <p:cNvSpPr txBox="1"/>
          <p:nvPr/>
        </p:nvSpPr>
        <p:spPr>
          <a:xfrm>
            <a:off x="7415784" y="2029968"/>
            <a:ext cx="832104" cy="292608"/>
          </a:xfrm>
          <a:prstGeom prst="rect">
            <a:avLst/>
          </a:prstGeom>
          <a:noFill/>
          <a:ln/>
        </p:spPr>
        <p:txBody>
          <a:bodyPr wrap="square" lIns="0" tIns="0" rIns="0" bIns="0" rtlCol="0" anchor="ctr"/>
          <a:lstStyle/>
          <a:p>
            <a:pPr algn="ctr" indent="0" marL="0">
              <a:buNone/>
            </a:pPr>
            <a:r>
              <a:rPr lang="en-US" sz="1000" b="1" dirty="0">
                <a:solidFill>
                  <a:srgbClr val="1E6FD9"/>
                </a:solidFill>
                <a:latin typeface="Calibri" pitchFamily="34" charset="0"/>
                <a:ea typeface="Calibri" pitchFamily="34" charset="-122"/>
                <a:cs typeface="Calibri" pitchFamily="34" charset="-120"/>
              </a:rPr>
              <a:t>project</a:t>
            </a:r>
            <a:endParaRPr lang="en-US" sz="1000" dirty="0"/>
          </a:p>
        </p:txBody>
      </p:sp>
      <p:sp>
        <p:nvSpPr>
          <p:cNvPr id="35" name="Shape 29"/>
          <p:cNvSpPr/>
          <p:nvPr/>
        </p:nvSpPr>
        <p:spPr>
          <a:xfrm>
            <a:off x="5715000" y="2414016"/>
            <a:ext cx="685800" cy="292608"/>
          </a:xfrm>
          <a:prstGeom prst="roundRect">
            <a:avLst>
              <a:gd name="adj" fmla="val 50000"/>
            </a:avLst>
          </a:prstGeom>
          <a:solidFill>
            <a:srgbClr val="EAF3FF"/>
          </a:solidFill>
          <a:ln w="12700">
            <a:solidFill>
              <a:srgbClr val="BBD6F7"/>
            </a:solidFill>
            <a:prstDash val="solid"/>
          </a:ln>
        </p:spPr>
      </p:sp>
      <p:sp>
        <p:nvSpPr>
          <p:cNvPr id="36" name="Text 30"/>
          <p:cNvSpPr txBox="1"/>
          <p:nvPr/>
        </p:nvSpPr>
        <p:spPr>
          <a:xfrm>
            <a:off x="5715000" y="2414016"/>
            <a:ext cx="685800" cy="292608"/>
          </a:xfrm>
          <a:prstGeom prst="rect">
            <a:avLst/>
          </a:prstGeom>
          <a:noFill/>
          <a:ln/>
        </p:spPr>
        <p:txBody>
          <a:bodyPr wrap="square" lIns="0" tIns="0" rIns="0" bIns="0" rtlCol="0" anchor="ctr"/>
          <a:lstStyle/>
          <a:p>
            <a:pPr algn="ctr" indent="0" marL="0">
              <a:buNone/>
            </a:pPr>
            <a:r>
              <a:rPr lang="en-US" sz="1000" b="1" dirty="0">
                <a:solidFill>
                  <a:srgbClr val="1E6FD9"/>
                </a:solidFill>
                <a:latin typeface="Calibri" pitchFamily="34" charset="0"/>
                <a:ea typeface="Calibri" pitchFamily="34" charset="-122"/>
                <a:cs typeface="Calibri" pitchFamily="34" charset="-120"/>
              </a:rPr>
              <a:t>study</a:t>
            </a:r>
            <a:endParaRPr lang="en-US" sz="1000" dirty="0"/>
          </a:p>
        </p:txBody>
      </p:sp>
      <p:sp>
        <p:nvSpPr>
          <p:cNvPr id="37" name="Shape 31"/>
          <p:cNvSpPr/>
          <p:nvPr/>
        </p:nvSpPr>
        <p:spPr>
          <a:xfrm>
            <a:off x="5577840" y="3474720"/>
            <a:ext cx="3017520" cy="1234440"/>
          </a:xfrm>
          <a:prstGeom prst="roundRect">
            <a:avLst>
              <a:gd name="adj" fmla="val 8889"/>
            </a:avLst>
          </a:prstGeom>
          <a:solidFill>
            <a:srgbClr val="FFFFFF"/>
          </a:solidFill>
          <a:ln w="12700">
            <a:solidFill>
              <a:srgbClr val="D6E4F7"/>
            </a:solidFill>
            <a:prstDash val="solid"/>
          </a:ln>
        </p:spPr>
      </p:sp>
      <p:sp>
        <p:nvSpPr>
          <p:cNvPr id="38" name="Text 32"/>
          <p:cNvSpPr txBox="1"/>
          <p:nvPr/>
        </p:nvSpPr>
        <p:spPr>
          <a:xfrm>
            <a:off x="5715000" y="3520440"/>
            <a:ext cx="2743200" cy="365760"/>
          </a:xfrm>
          <a:prstGeom prst="rect">
            <a:avLst/>
          </a:prstGeom>
          <a:noFill/>
          <a:ln/>
        </p:spPr>
        <p:txBody>
          <a:bodyPr wrap="square" lIns="0" tIns="0" rIns="0" bIns="0" rtlCol="0" anchor="ctr"/>
          <a:lstStyle/>
          <a:p>
            <a:pPr indent="0" marL="0">
              <a:buNone/>
            </a:pPr>
            <a:r>
              <a:rPr lang="en-US" sz="1400" b="1" dirty="0">
                <a:solidFill>
                  <a:srgbClr val="0B2A5B"/>
                </a:solidFill>
                <a:latin typeface="Cambria" pitchFamily="34" charset="0"/>
                <a:ea typeface="Cambria" pitchFamily="34" charset="-122"/>
                <a:cs typeface="Cambria" pitchFamily="34" charset="-120"/>
              </a:rPr>
              <a:t>Urgency words</a:t>
            </a:r>
            <a:endParaRPr lang="en-US" sz="1400" dirty="0"/>
          </a:p>
        </p:txBody>
      </p:sp>
      <p:sp>
        <p:nvSpPr>
          <p:cNvPr id="39" name="Shape 33"/>
          <p:cNvSpPr/>
          <p:nvPr/>
        </p:nvSpPr>
        <p:spPr>
          <a:xfrm>
            <a:off x="5715000" y="3977640"/>
            <a:ext cx="758952" cy="292608"/>
          </a:xfrm>
          <a:prstGeom prst="roundRect">
            <a:avLst>
              <a:gd name="adj" fmla="val 50000"/>
            </a:avLst>
          </a:prstGeom>
          <a:solidFill>
            <a:srgbClr val="EAF3FF"/>
          </a:solidFill>
          <a:ln w="12700">
            <a:solidFill>
              <a:srgbClr val="BBD6F7"/>
            </a:solidFill>
            <a:prstDash val="solid"/>
          </a:ln>
        </p:spPr>
      </p:sp>
      <p:sp>
        <p:nvSpPr>
          <p:cNvPr id="40" name="Text 34"/>
          <p:cNvSpPr txBox="1"/>
          <p:nvPr/>
        </p:nvSpPr>
        <p:spPr>
          <a:xfrm>
            <a:off x="5715000" y="3977640"/>
            <a:ext cx="758952" cy="292608"/>
          </a:xfrm>
          <a:prstGeom prst="rect">
            <a:avLst/>
          </a:prstGeom>
          <a:noFill/>
          <a:ln/>
        </p:spPr>
        <p:txBody>
          <a:bodyPr wrap="square" lIns="0" tIns="0" rIns="0" bIns="0" rtlCol="0" anchor="ctr"/>
          <a:lstStyle/>
          <a:p>
            <a:pPr algn="ctr" indent="0" marL="0">
              <a:buNone/>
            </a:pPr>
            <a:r>
              <a:rPr lang="en-US" sz="1000" b="1" dirty="0">
                <a:solidFill>
                  <a:srgbClr val="1E6FD9"/>
                </a:solidFill>
                <a:latin typeface="Calibri" pitchFamily="34" charset="0"/>
                <a:ea typeface="Calibri" pitchFamily="34" charset="-122"/>
                <a:cs typeface="Calibri" pitchFamily="34" charset="-120"/>
              </a:rPr>
              <a:t>urgent</a:t>
            </a:r>
            <a:endParaRPr lang="en-US" sz="1000" dirty="0"/>
          </a:p>
        </p:txBody>
      </p:sp>
      <p:sp>
        <p:nvSpPr>
          <p:cNvPr id="41" name="Shape 35"/>
          <p:cNvSpPr/>
          <p:nvPr/>
        </p:nvSpPr>
        <p:spPr>
          <a:xfrm>
            <a:off x="6565392" y="3977640"/>
            <a:ext cx="905256" cy="292608"/>
          </a:xfrm>
          <a:prstGeom prst="roundRect">
            <a:avLst>
              <a:gd name="adj" fmla="val 50000"/>
            </a:avLst>
          </a:prstGeom>
          <a:solidFill>
            <a:srgbClr val="EAF3FF"/>
          </a:solidFill>
          <a:ln w="12700">
            <a:solidFill>
              <a:srgbClr val="BBD6F7"/>
            </a:solidFill>
            <a:prstDash val="solid"/>
          </a:ln>
        </p:spPr>
      </p:sp>
      <p:sp>
        <p:nvSpPr>
          <p:cNvPr id="42" name="Text 36"/>
          <p:cNvSpPr txBox="1"/>
          <p:nvPr/>
        </p:nvSpPr>
        <p:spPr>
          <a:xfrm>
            <a:off x="6565392" y="3977640"/>
            <a:ext cx="905256" cy="292608"/>
          </a:xfrm>
          <a:prstGeom prst="rect">
            <a:avLst/>
          </a:prstGeom>
          <a:noFill/>
          <a:ln/>
        </p:spPr>
        <p:txBody>
          <a:bodyPr wrap="square" lIns="0" tIns="0" rIns="0" bIns="0" rtlCol="0" anchor="ctr"/>
          <a:lstStyle/>
          <a:p>
            <a:pPr algn="ctr" indent="0" marL="0">
              <a:buNone/>
            </a:pPr>
            <a:r>
              <a:rPr lang="en-US" sz="1000" b="1" dirty="0">
                <a:solidFill>
                  <a:srgbClr val="1E6FD9"/>
                </a:solidFill>
                <a:latin typeface="Calibri" pitchFamily="34" charset="0"/>
                <a:ea typeface="Calibri" pitchFamily="34" charset="-122"/>
                <a:cs typeface="Calibri" pitchFamily="34" charset="-120"/>
              </a:rPr>
              <a:t>tomorrow</a:t>
            </a:r>
            <a:endParaRPr lang="en-US" sz="1000" dirty="0"/>
          </a:p>
        </p:txBody>
      </p:sp>
      <p:sp>
        <p:nvSpPr>
          <p:cNvPr id="43" name="Shape 37"/>
          <p:cNvSpPr/>
          <p:nvPr/>
        </p:nvSpPr>
        <p:spPr>
          <a:xfrm>
            <a:off x="5715000" y="4361688"/>
            <a:ext cx="905256" cy="292608"/>
          </a:xfrm>
          <a:prstGeom prst="roundRect">
            <a:avLst>
              <a:gd name="adj" fmla="val 50000"/>
            </a:avLst>
          </a:prstGeom>
          <a:solidFill>
            <a:srgbClr val="EAF3FF"/>
          </a:solidFill>
          <a:ln w="12700">
            <a:solidFill>
              <a:srgbClr val="BBD6F7"/>
            </a:solidFill>
            <a:prstDash val="solid"/>
          </a:ln>
        </p:spPr>
      </p:sp>
      <p:sp>
        <p:nvSpPr>
          <p:cNvPr id="44" name="Text 38"/>
          <p:cNvSpPr txBox="1"/>
          <p:nvPr/>
        </p:nvSpPr>
        <p:spPr>
          <a:xfrm>
            <a:off x="5715000" y="4361688"/>
            <a:ext cx="905256" cy="292608"/>
          </a:xfrm>
          <a:prstGeom prst="rect">
            <a:avLst/>
          </a:prstGeom>
          <a:noFill/>
          <a:ln/>
        </p:spPr>
        <p:txBody>
          <a:bodyPr wrap="square" lIns="0" tIns="0" rIns="0" bIns="0" rtlCol="0" anchor="ctr"/>
          <a:lstStyle/>
          <a:p>
            <a:pPr algn="ctr" indent="0" marL="0">
              <a:buNone/>
            </a:pPr>
            <a:r>
              <a:rPr lang="en-US" sz="1000" b="1" dirty="0">
                <a:solidFill>
                  <a:srgbClr val="1E6FD9"/>
                </a:solidFill>
                <a:latin typeface="Calibri" pitchFamily="34" charset="0"/>
                <a:ea typeface="Calibri" pitchFamily="34" charset="-122"/>
                <a:cs typeface="Calibri" pitchFamily="34" charset="-120"/>
              </a:rPr>
              <a:t>deadline</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9FF"/>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E6FD9"/>
          </a:solidFill>
          <a:ln w="12700">
            <a:solidFill>
              <a:srgbClr val="1E6FD9"/>
            </a:solidFill>
            <a:prstDash val="solid"/>
          </a:ln>
        </p:spPr>
      </p:sp>
      <p:sp>
        <p:nvSpPr>
          <p:cNvPr id="3" name="Text 1"/>
          <p:cNvSpPr txBox="1"/>
          <p:nvPr/>
        </p:nvSpPr>
        <p:spPr>
          <a:xfrm>
            <a:off x="548640" y="91440"/>
            <a:ext cx="7680960" cy="228600"/>
          </a:xfrm>
          <a:prstGeom prst="rect">
            <a:avLst/>
          </a:prstGeom>
          <a:noFill/>
          <a:ln/>
        </p:spPr>
        <p:txBody>
          <a:bodyPr wrap="square" lIns="0" tIns="0" rIns="0" bIns="0" rtlCol="0" anchor="ctr"/>
          <a:lstStyle/>
          <a:p>
            <a:pPr indent="0" marL="0">
              <a:buNone/>
            </a:pPr>
            <a:r>
              <a:rPr lang="en-US" sz="900" b="1" spc="200" kern="0" dirty="0">
                <a:solidFill>
                  <a:srgbClr val="1E6FD9"/>
                </a:solidFill>
                <a:latin typeface="Calibri" pitchFamily="34" charset="0"/>
                <a:ea typeface="Calibri" pitchFamily="34" charset="-122"/>
                <a:cs typeface="Calibri" pitchFamily="34" charset="-120"/>
              </a:rPr>
              <a:t>IMPLEMENTATION</a:t>
            </a:r>
            <a:endParaRPr lang="en-US" sz="900" dirty="0"/>
          </a:p>
        </p:txBody>
      </p:sp>
      <p:sp>
        <p:nvSpPr>
          <p:cNvPr id="4" name="Text 2"/>
          <p:cNvSpPr txBox="1"/>
          <p:nvPr/>
        </p:nvSpPr>
        <p:spPr>
          <a:xfrm>
            <a:off x="548640" y="320040"/>
            <a:ext cx="8229600" cy="640080"/>
          </a:xfrm>
          <a:prstGeom prst="rect">
            <a:avLst/>
          </a:prstGeom>
          <a:noFill/>
          <a:ln/>
        </p:spPr>
        <p:txBody>
          <a:bodyPr wrap="square" lIns="0" tIns="0" rIns="0" bIns="0" rtlCol="0" anchor="ctr"/>
          <a:lstStyle/>
          <a:p>
            <a:pPr indent="0" marL="0">
              <a:buNone/>
            </a:pPr>
            <a:r>
              <a:rPr lang="en-US" sz="3000" b="1" dirty="0">
                <a:solidFill>
                  <a:srgbClr val="0B2A5B"/>
                </a:solidFill>
                <a:latin typeface="Cambria" pitchFamily="34" charset="0"/>
                <a:ea typeface="Cambria" pitchFamily="34" charset="-122"/>
                <a:cs typeface="Cambria" pitchFamily="34" charset="-120"/>
              </a:rPr>
              <a:t>Category Scores</a:t>
            </a:r>
            <a:endParaRPr lang="en-US" sz="3000" dirty="0"/>
          </a:p>
        </p:txBody>
      </p:sp>
      <p:sp>
        <p:nvSpPr>
          <p:cNvPr id="5" name="Text 3"/>
          <p:cNvSpPr txBox="1"/>
          <p:nvPr/>
        </p:nvSpPr>
        <p:spPr>
          <a:xfrm>
            <a:off x="1097280" y="1024128"/>
            <a:ext cx="2651760" cy="228600"/>
          </a:xfrm>
          <a:prstGeom prst="rect">
            <a:avLst/>
          </a:prstGeom>
          <a:noFill/>
          <a:ln/>
        </p:spPr>
        <p:txBody>
          <a:bodyPr wrap="square" lIns="0" tIns="0" rIns="0" bIns="0" rtlCol="0" anchor="ctr"/>
          <a:lstStyle/>
          <a:p>
            <a:pPr indent="0" marL="0">
              <a:buNone/>
            </a:pPr>
            <a:r>
              <a:rPr lang="en-US" sz="950" b="1" dirty="0">
                <a:solidFill>
                  <a:srgbClr val="5B6B85"/>
                </a:solidFill>
                <a:latin typeface="Calibri" pitchFamily="34" charset="0"/>
                <a:ea typeface="Calibri" pitchFamily="34" charset="-122"/>
                <a:cs typeface="Calibri" pitchFamily="34" charset="-120"/>
              </a:rPr>
              <a:t>Category (or keyword when “Other”)</a:t>
            </a:r>
            <a:endParaRPr lang="en-US" sz="950" dirty="0"/>
          </a:p>
        </p:txBody>
      </p:sp>
      <p:sp>
        <p:nvSpPr>
          <p:cNvPr id="6" name="Text 4"/>
          <p:cNvSpPr txBox="1"/>
          <p:nvPr/>
        </p:nvSpPr>
        <p:spPr>
          <a:xfrm>
            <a:off x="3794760" y="1024128"/>
            <a:ext cx="1828800" cy="228600"/>
          </a:xfrm>
          <a:prstGeom prst="rect">
            <a:avLst/>
          </a:prstGeom>
          <a:noFill/>
          <a:ln/>
        </p:spPr>
        <p:txBody>
          <a:bodyPr wrap="square" lIns="0" tIns="0" rIns="0" bIns="0" rtlCol="0" anchor="ctr"/>
          <a:lstStyle/>
          <a:p>
            <a:pPr indent="0" marL="0">
              <a:buNone/>
            </a:pPr>
            <a:r>
              <a:rPr lang="en-US" sz="950" b="1" dirty="0">
                <a:solidFill>
                  <a:srgbClr val="5B6B85"/>
                </a:solidFill>
                <a:latin typeface="Calibri" pitchFamily="34" charset="0"/>
                <a:ea typeface="Calibri" pitchFamily="34" charset="-122"/>
                <a:cs typeface="Calibri" pitchFamily="34" charset="-120"/>
              </a:rPr>
              <a:t>Score</a:t>
            </a:r>
            <a:endParaRPr lang="en-US" sz="950" dirty="0"/>
          </a:p>
        </p:txBody>
      </p:sp>
      <p:sp>
        <p:nvSpPr>
          <p:cNvPr id="7" name="Text 5"/>
          <p:cNvSpPr txBox="1"/>
          <p:nvPr/>
        </p:nvSpPr>
        <p:spPr>
          <a:xfrm>
            <a:off x="6217920" y="1024128"/>
            <a:ext cx="2377440" cy="228600"/>
          </a:xfrm>
          <a:prstGeom prst="rect">
            <a:avLst/>
          </a:prstGeom>
          <a:noFill/>
          <a:ln/>
        </p:spPr>
        <p:txBody>
          <a:bodyPr wrap="square" lIns="0" tIns="0" rIns="0" bIns="0" rtlCol="0" anchor="ctr"/>
          <a:lstStyle/>
          <a:p>
            <a:pPr indent="0" marL="0">
              <a:buNone/>
            </a:pPr>
            <a:r>
              <a:rPr lang="en-US" sz="950" b="1" dirty="0">
                <a:solidFill>
                  <a:srgbClr val="5B6B85"/>
                </a:solidFill>
                <a:latin typeface="Calibri" pitchFamily="34" charset="0"/>
                <a:ea typeface="Calibri" pitchFamily="34" charset="-122"/>
                <a:cs typeface="Calibri" pitchFamily="34" charset="-120"/>
              </a:rPr>
              <a:t>Reason recorded</a:t>
            </a:r>
            <a:endParaRPr lang="en-US" sz="950" dirty="0"/>
          </a:p>
        </p:txBody>
      </p:sp>
      <p:sp>
        <p:nvSpPr>
          <p:cNvPr id="8" name="Shape 6"/>
          <p:cNvSpPr/>
          <p:nvPr/>
        </p:nvSpPr>
        <p:spPr>
          <a:xfrm>
            <a:off x="548640" y="1280160"/>
            <a:ext cx="8046720" cy="384048"/>
          </a:xfrm>
          <a:prstGeom prst="roundRect">
            <a:avLst>
              <a:gd name="adj" fmla="val 19048"/>
            </a:avLst>
          </a:prstGeom>
          <a:solidFill>
            <a:srgbClr val="FFFFFF"/>
          </a:solidFill>
          <a:ln w="12700">
            <a:solidFill>
              <a:srgbClr val="D6E4F7"/>
            </a:solidFill>
            <a:prstDash val="solid"/>
          </a:ln>
        </p:spPr>
      </p:sp>
      <p:pic>
        <p:nvPicPr>
          <p:cNvPr id="9" name="Image 0" descr="ib_laptop.png">    </p:cNvPr>
          <p:cNvPicPr>
            <a:picLocks noChangeAspect="1"/>
          </p:cNvPicPr>
          <p:nvPr/>
        </p:nvPicPr>
        <p:blipFill>
          <a:blip r:embed="rId1"/>
          <a:stretch>
            <a:fillRect/>
          </a:stretch>
        </p:blipFill>
        <p:spPr>
          <a:xfrm>
            <a:off x="621792" y="1307592"/>
            <a:ext cx="329184" cy="329184"/>
          </a:xfrm>
          <a:prstGeom prst="rect">
            <a:avLst/>
          </a:prstGeom>
        </p:spPr>
      </p:pic>
      <p:sp>
        <p:nvSpPr>
          <p:cNvPr id="10" name="Text 7"/>
          <p:cNvSpPr txBox="1"/>
          <p:nvPr/>
        </p:nvSpPr>
        <p:spPr>
          <a:xfrm>
            <a:off x="1051560" y="1280160"/>
            <a:ext cx="2697480" cy="384048"/>
          </a:xfrm>
          <a:prstGeom prst="rect">
            <a:avLst/>
          </a:prstGeom>
          <a:noFill/>
          <a:ln/>
        </p:spPr>
        <p:txBody>
          <a:bodyPr wrap="square" lIns="0" tIns="0" rIns="0" bIns="0" rtlCol="0" anchor="ctr"/>
          <a:lstStyle/>
          <a:p>
            <a:pPr indent="0" marL="0">
              <a:buNone/>
            </a:pPr>
            <a:r>
              <a:rPr lang="en-US" sz="1100" b="1" dirty="0">
                <a:solidFill>
                  <a:srgbClr val="0B2A5B"/>
                </a:solidFill>
                <a:latin typeface="Calibri" pitchFamily="34" charset="0"/>
                <a:ea typeface="Calibri" pitchFamily="34" charset="-122"/>
                <a:cs typeface="Calibri" pitchFamily="34" charset="-120"/>
              </a:rPr>
              <a:t>Laptop</a:t>
            </a:r>
            <a:pPr indent="0" marL="0">
              <a:buNone/>
            </a:pPr>
            <a:r>
              <a:rPr lang="en-US" sz="850" dirty="0">
                <a:solidFill>
                  <a:srgbClr val="5B6B85"/>
                </a:solidFill>
                <a:latin typeface="Calibri" pitchFamily="34" charset="0"/>
                <a:ea typeface="Calibri" pitchFamily="34" charset="-122"/>
                <a:cs typeface="Calibri" pitchFamily="34" charset="-120"/>
              </a:rPr>
              <a:t>  (laptop, computer, notebook)</a:t>
            </a:r>
            <a:endParaRPr lang="en-US" sz="1100" dirty="0"/>
          </a:p>
        </p:txBody>
      </p:sp>
      <p:sp>
        <p:nvSpPr>
          <p:cNvPr id="11" name="Shape 8"/>
          <p:cNvSpPr/>
          <p:nvPr/>
        </p:nvSpPr>
        <p:spPr>
          <a:xfrm>
            <a:off x="3794760" y="1417320"/>
            <a:ext cx="1828800" cy="109728"/>
          </a:xfrm>
          <a:prstGeom prst="rect">
            <a:avLst/>
          </a:prstGeom>
          <a:solidFill>
            <a:srgbClr val="E1ECFA"/>
          </a:solidFill>
          <a:ln w="12700">
            <a:solidFill>
              <a:srgbClr val="E1ECFA"/>
            </a:solidFill>
            <a:prstDash val="solid"/>
          </a:ln>
        </p:spPr>
      </p:sp>
      <p:sp>
        <p:nvSpPr>
          <p:cNvPr id="12" name="Shape 9"/>
          <p:cNvSpPr/>
          <p:nvPr/>
        </p:nvSpPr>
        <p:spPr>
          <a:xfrm>
            <a:off x="3794760" y="1417320"/>
            <a:ext cx="1645920" cy="109728"/>
          </a:xfrm>
          <a:prstGeom prst="rect">
            <a:avLst/>
          </a:prstGeom>
          <a:solidFill>
            <a:srgbClr val="1E6FD9"/>
          </a:solidFill>
          <a:ln w="12700">
            <a:solidFill>
              <a:srgbClr val="1E6FD9"/>
            </a:solidFill>
            <a:prstDash val="solid"/>
          </a:ln>
        </p:spPr>
      </p:sp>
      <p:sp>
        <p:nvSpPr>
          <p:cNvPr id="13" name="Text 10"/>
          <p:cNvSpPr txBox="1"/>
          <p:nvPr/>
        </p:nvSpPr>
        <p:spPr>
          <a:xfrm>
            <a:off x="5715000" y="1280160"/>
            <a:ext cx="457200" cy="384048"/>
          </a:xfrm>
          <a:prstGeom prst="rect">
            <a:avLst/>
          </a:prstGeom>
          <a:noFill/>
          <a:ln/>
        </p:spPr>
        <p:txBody>
          <a:bodyPr wrap="square" lIns="0" tIns="0" rIns="0" bIns="0" rtlCol="0" anchor="ctr"/>
          <a:lstStyle/>
          <a:p>
            <a:pPr indent="0" marL="0">
              <a:buNone/>
            </a:pPr>
            <a:r>
              <a:rPr lang="en-US" sz="1400" b="1" dirty="0">
                <a:solidFill>
                  <a:srgbClr val="1E6FD9"/>
                </a:solidFill>
                <a:latin typeface="Cambria" pitchFamily="34" charset="0"/>
                <a:ea typeface="Cambria" pitchFamily="34" charset="-122"/>
                <a:cs typeface="Cambria" pitchFamily="34" charset="-120"/>
              </a:rPr>
              <a:t>90</a:t>
            </a:r>
            <a:endParaRPr lang="en-US" sz="1400" dirty="0"/>
          </a:p>
        </p:txBody>
      </p:sp>
      <p:sp>
        <p:nvSpPr>
          <p:cNvPr id="14" name="Text 11"/>
          <p:cNvSpPr txBox="1"/>
          <p:nvPr/>
        </p:nvSpPr>
        <p:spPr>
          <a:xfrm>
            <a:off x="6217920" y="1280160"/>
            <a:ext cx="2331720" cy="384048"/>
          </a:xfrm>
          <a:prstGeom prst="rect">
            <a:avLst/>
          </a:prstGeom>
          <a:noFill/>
          <a:ln/>
        </p:spPr>
        <p:txBody>
          <a:bodyPr wrap="square" lIns="0" tIns="0" rIns="0" bIns="0" rtlCol="0" anchor="ctr"/>
          <a:lstStyle/>
          <a:p>
            <a:pPr indent="0" marL="0">
              <a:buNone/>
            </a:pPr>
            <a:r>
              <a:rPr lang="en-US" sz="950" dirty="0">
                <a:solidFill>
                  <a:srgbClr val="5B6B85"/>
                </a:solidFill>
                <a:latin typeface="Calibri" pitchFamily="34" charset="0"/>
                <a:ea typeface="Calibri" pitchFamily="34" charset="-122"/>
                <a:cs typeface="Calibri" pitchFamily="34" charset="-120"/>
              </a:rPr>
              <a:t>High-priority study device</a:t>
            </a:r>
            <a:endParaRPr lang="en-US" sz="950" dirty="0"/>
          </a:p>
        </p:txBody>
      </p:sp>
      <p:sp>
        <p:nvSpPr>
          <p:cNvPr id="15" name="Shape 12"/>
          <p:cNvSpPr/>
          <p:nvPr/>
        </p:nvSpPr>
        <p:spPr>
          <a:xfrm>
            <a:off x="548640" y="1709928"/>
            <a:ext cx="8046720" cy="384048"/>
          </a:xfrm>
          <a:prstGeom prst="roundRect">
            <a:avLst>
              <a:gd name="adj" fmla="val 19048"/>
            </a:avLst>
          </a:prstGeom>
          <a:solidFill>
            <a:srgbClr val="FFFFFF"/>
          </a:solidFill>
          <a:ln w="12700">
            <a:solidFill>
              <a:srgbClr val="D6E4F7"/>
            </a:solidFill>
            <a:prstDash val="solid"/>
          </a:ln>
        </p:spPr>
      </p:sp>
      <p:pic>
        <p:nvPicPr>
          <p:cNvPr id="16" name="Image 1" descr="ib_phone.png">    </p:cNvPr>
          <p:cNvPicPr>
            <a:picLocks noChangeAspect="1"/>
          </p:cNvPicPr>
          <p:nvPr/>
        </p:nvPicPr>
        <p:blipFill>
          <a:blip r:embed="rId2"/>
          <a:stretch>
            <a:fillRect/>
          </a:stretch>
        </p:blipFill>
        <p:spPr>
          <a:xfrm>
            <a:off x="621792" y="1737360"/>
            <a:ext cx="329184" cy="329184"/>
          </a:xfrm>
          <a:prstGeom prst="rect">
            <a:avLst/>
          </a:prstGeom>
        </p:spPr>
      </p:pic>
      <p:sp>
        <p:nvSpPr>
          <p:cNvPr id="17" name="Text 13"/>
          <p:cNvSpPr txBox="1"/>
          <p:nvPr/>
        </p:nvSpPr>
        <p:spPr>
          <a:xfrm>
            <a:off x="1051560" y="1709928"/>
            <a:ext cx="2697480" cy="384048"/>
          </a:xfrm>
          <a:prstGeom prst="rect">
            <a:avLst/>
          </a:prstGeom>
          <a:noFill/>
          <a:ln/>
        </p:spPr>
        <p:txBody>
          <a:bodyPr wrap="square" lIns="0" tIns="0" rIns="0" bIns="0" rtlCol="0" anchor="ctr"/>
          <a:lstStyle/>
          <a:p>
            <a:pPr indent="0" marL="0">
              <a:buNone/>
            </a:pPr>
            <a:r>
              <a:rPr lang="en-US" sz="1100" b="1" dirty="0">
                <a:solidFill>
                  <a:srgbClr val="0B2A5B"/>
                </a:solidFill>
                <a:latin typeface="Calibri" pitchFamily="34" charset="0"/>
                <a:ea typeface="Calibri" pitchFamily="34" charset="-122"/>
                <a:cs typeface="Calibri" pitchFamily="34" charset="-120"/>
              </a:rPr>
              <a:t>Cellphone</a:t>
            </a:r>
            <a:pPr indent="0" marL="0">
              <a:buNone/>
            </a:pPr>
            <a:r>
              <a:rPr lang="en-US" sz="850" dirty="0">
                <a:solidFill>
                  <a:srgbClr val="5B6B85"/>
                </a:solidFill>
                <a:latin typeface="Calibri" pitchFamily="34" charset="0"/>
                <a:ea typeface="Calibri" pitchFamily="34" charset="-122"/>
                <a:cs typeface="Calibri" pitchFamily="34" charset="-120"/>
              </a:rPr>
              <a:t>  (phone, smartphone)</a:t>
            </a:r>
            <a:endParaRPr lang="en-US" sz="1100" dirty="0"/>
          </a:p>
        </p:txBody>
      </p:sp>
      <p:sp>
        <p:nvSpPr>
          <p:cNvPr id="18" name="Shape 14"/>
          <p:cNvSpPr/>
          <p:nvPr/>
        </p:nvSpPr>
        <p:spPr>
          <a:xfrm>
            <a:off x="3794760" y="1847088"/>
            <a:ext cx="1828800" cy="109728"/>
          </a:xfrm>
          <a:prstGeom prst="rect">
            <a:avLst/>
          </a:prstGeom>
          <a:solidFill>
            <a:srgbClr val="E1ECFA"/>
          </a:solidFill>
          <a:ln w="12700">
            <a:solidFill>
              <a:srgbClr val="E1ECFA"/>
            </a:solidFill>
            <a:prstDash val="solid"/>
          </a:ln>
        </p:spPr>
      </p:sp>
      <p:sp>
        <p:nvSpPr>
          <p:cNvPr id="19" name="Shape 15"/>
          <p:cNvSpPr/>
          <p:nvPr/>
        </p:nvSpPr>
        <p:spPr>
          <a:xfrm>
            <a:off x="3794760" y="1847088"/>
            <a:ext cx="1463040" cy="109728"/>
          </a:xfrm>
          <a:prstGeom prst="rect">
            <a:avLst/>
          </a:prstGeom>
          <a:solidFill>
            <a:srgbClr val="1E6FD9"/>
          </a:solidFill>
          <a:ln w="12700">
            <a:solidFill>
              <a:srgbClr val="1E6FD9"/>
            </a:solidFill>
            <a:prstDash val="solid"/>
          </a:ln>
        </p:spPr>
      </p:sp>
      <p:sp>
        <p:nvSpPr>
          <p:cNvPr id="20" name="Text 16"/>
          <p:cNvSpPr txBox="1"/>
          <p:nvPr/>
        </p:nvSpPr>
        <p:spPr>
          <a:xfrm>
            <a:off x="5715000" y="1709928"/>
            <a:ext cx="457200" cy="384048"/>
          </a:xfrm>
          <a:prstGeom prst="rect">
            <a:avLst/>
          </a:prstGeom>
          <a:noFill/>
          <a:ln/>
        </p:spPr>
        <p:txBody>
          <a:bodyPr wrap="square" lIns="0" tIns="0" rIns="0" bIns="0" rtlCol="0" anchor="ctr"/>
          <a:lstStyle/>
          <a:p>
            <a:pPr indent="0" marL="0">
              <a:buNone/>
            </a:pPr>
            <a:r>
              <a:rPr lang="en-US" sz="1400" b="1" dirty="0">
                <a:solidFill>
                  <a:srgbClr val="1E6FD9"/>
                </a:solidFill>
                <a:latin typeface="Cambria" pitchFamily="34" charset="0"/>
                <a:ea typeface="Cambria" pitchFamily="34" charset="-122"/>
                <a:cs typeface="Cambria" pitchFamily="34" charset="-120"/>
              </a:rPr>
              <a:t>80</a:t>
            </a:r>
            <a:endParaRPr lang="en-US" sz="1400" dirty="0"/>
          </a:p>
        </p:txBody>
      </p:sp>
      <p:sp>
        <p:nvSpPr>
          <p:cNvPr id="21" name="Text 17"/>
          <p:cNvSpPr txBox="1"/>
          <p:nvPr/>
        </p:nvSpPr>
        <p:spPr>
          <a:xfrm>
            <a:off x="6217920" y="1709928"/>
            <a:ext cx="2331720" cy="384048"/>
          </a:xfrm>
          <a:prstGeom prst="rect">
            <a:avLst/>
          </a:prstGeom>
          <a:noFill/>
          <a:ln/>
        </p:spPr>
        <p:txBody>
          <a:bodyPr wrap="square" lIns="0" tIns="0" rIns="0" bIns="0" rtlCol="0" anchor="ctr"/>
          <a:lstStyle/>
          <a:p>
            <a:pPr indent="0" marL="0">
              <a:buNone/>
            </a:pPr>
            <a:r>
              <a:rPr lang="en-US" sz="950" dirty="0">
                <a:solidFill>
                  <a:srgbClr val="5B6B85"/>
                </a:solidFill>
                <a:latin typeface="Calibri" pitchFamily="34" charset="0"/>
                <a:ea typeface="Calibri" pitchFamily="34" charset="-122"/>
                <a:cs typeface="Calibri" pitchFamily="34" charset="-120"/>
              </a:rPr>
              <a:t>Important for communication and student services</a:t>
            </a:r>
            <a:endParaRPr lang="en-US" sz="950" dirty="0"/>
          </a:p>
        </p:txBody>
      </p:sp>
      <p:sp>
        <p:nvSpPr>
          <p:cNvPr id="22" name="Shape 18"/>
          <p:cNvSpPr/>
          <p:nvPr/>
        </p:nvSpPr>
        <p:spPr>
          <a:xfrm>
            <a:off x="548640" y="2139696"/>
            <a:ext cx="8046720" cy="384048"/>
          </a:xfrm>
          <a:prstGeom prst="roundRect">
            <a:avLst>
              <a:gd name="adj" fmla="val 19048"/>
            </a:avLst>
          </a:prstGeom>
          <a:solidFill>
            <a:srgbClr val="FFFFFF"/>
          </a:solidFill>
          <a:ln w="12700">
            <a:solidFill>
              <a:srgbClr val="D6E4F7"/>
            </a:solidFill>
            <a:prstDash val="solid"/>
          </a:ln>
        </p:spPr>
      </p:sp>
      <p:pic>
        <p:nvPicPr>
          <p:cNvPr id="23" name="Image 2" descr="ib_card.png">    </p:cNvPr>
          <p:cNvPicPr>
            <a:picLocks noChangeAspect="1"/>
          </p:cNvPicPr>
          <p:nvPr/>
        </p:nvPicPr>
        <p:blipFill>
          <a:blip r:embed="rId3"/>
          <a:stretch>
            <a:fillRect/>
          </a:stretch>
        </p:blipFill>
        <p:spPr>
          <a:xfrm>
            <a:off x="621792" y="2167128"/>
            <a:ext cx="329184" cy="329184"/>
          </a:xfrm>
          <a:prstGeom prst="rect">
            <a:avLst/>
          </a:prstGeom>
        </p:spPr>
      </p:pic>
      <p:sp>
        <p:nvSpPr>
          <p:cNvPr id="24" name="Text 19"/>
          <p:cNvSpPr txBox="1"/>
          <p:nvPr/>
        </p:nvSpPr>
        <p:spPr>
          <a:xfrm>
            <a:off x="1051560" y="2139696"/>
            <a:ext cx="2697480" cy="384048"/>
          </a:xfrm>
          <a:prstGeom prst="rect">
            <a:avLst/>
          </a:prstGeom>
          <a:noFill/>
          <a:ln/>
        </p:spPr>
        <p:txBody>
          <a:bodyPr wrap="square" lIns="0" tIns="0" rIns="0" bIns="0" rtlCol="0" anchor="ctr"/>
          <a:lstStyle/>
          <a:p>
            <a:pPr indent="0" marL="0">
              <a:buNone/>
            </a:pPr>
            <a:r>
              <a:rPr lang="en-US" sz="1100" b="1" dirty="0">
                <a:solidFill>
                  <a:srgbClr val="0B2A5B"/>
                </a:solidFill>
                <a:latin typeface="Calibri" pitchFamily="34" charset="0"/>
                <a:ea typeface="Calibri" pitchFamily="34" charset="-122"/>
                <a:cs typeface="Calibri" pitchFamily="34" charset="-120"/>
              </a:rPr>
              <a:t>Student Card</a:t>
            </a:r>
            <a:pPr indent="0" marL="0">
              <a:buNone/>
            </a:pPr>
            <a:r>
              <a:rPr lang="en-US" sz="850" dirty="0">
                <a:solidFill>
                  <a:srgbClr val="5B6B85"/>
                </a:solidFill>
                <a:latin typeface="Calibri" pitchFamily="34" charset="0"/>
                <a:ea typeface="Calibri" pitchFamily="34" charset="-122"/>
                <a:cs typeface="Calibri" pitchFamily="34" charset="-120"/>
              </a:rPr>
              <a:t>  (student id, id card)</a:t>
            </a:r>
            <a:endParaRPr lang="en-US" sz="1100" dirty="0"/>
          </a:p>
        </p:txBody>
      </p:sp>
      <p:sp>
        <p:nvSpPr>
          <p:cNvPr id="25" name="Shape 20"/>
          <p:cNvSpPr/>
          <p:nvPr/>
        </p:nvSpPr>
        <p:spPr>
          <a:xfrm>
            <a:off x="3794760" y="2276856"/>
            <a:ext cx="1828800" cy="109728"/>
          </a:xfrm>
          <a:prstGeom prst="rect">
            <a:avLst/>
          </a:prstGeom>
          <a:solidFill>
            <a:srgbClr val="E1ECFA"/>
          </a:solidFill>
          <a:ln w="12700">
            <a:solidFill>
              <a:srgbClr val="E1ECFA"/>
            </a:solidFill>
            <a:prstDash val="solid"/>
          </a:ln>
        </p:spPr>
      </p:sp>
      <p:sp>
        <p:nvSpPr>
          <p:cNvPr id="26" name="Shape 21"/>
          <p:cNvSpPr/>
          <p:nvPr/>
        </p:nvSpPr>
        <p:spPr>
          <a:xfrm>
            <a:off x="3794760" y="2276856"/>
            <a:ext cx="1280160" cy="109728"/>
          </a:xfrm>
          <a:prstGeom prst="rect">
            <a:avLst/>
          </a:prstGeom>
          <a:solidFill>
            <a:srgbClr val="1E6FD9"/>
          </a:solidFill>
          <a:ln w="12700">
            <a:solidFill>
              <a:srgbClr val="1E6FD9"/>
            </a:solidFill>
            <a:prstDash val="solid"/>
          </a:ln>
        </p:spPr>
      </p:sp>
      <p:sp>
        <p:nvSpPr>
          <p:cNvPr id="27" name="Text 22"/>
          <p:cNvSpPr txBox="1"/>
          <p:nvPr/>
        </p:nvSpPr>
        <p:spPr>
          <a:xfrm>
            <a:off x="5715000" y="2139696"/>
            <a:ext cx="457200" cy="384048"/>
          </a:xfrm>
          <a:prstGeom prst="rect">
            <a:avLst/>
          </a:prstGeom>
          <a:noFill/>
          <a:ln/>
        </p:spPr>
        <p:txBody>
          <a:bodyPr wrap="square" lIns="0" tIns="0" rIns="0" bIns="0" rtlCol="0" anchor="ctr"/>
          <a:lstStyle/>
          <a:p>
            <a:pPr indent="0" marL="0">
              <a:buNone/>
            </a:pPr>
            <a:r>
              <a:rPr lang="en-US" sz="1400" b="1" dirty="0">
                <a:solidFill>
                  <a:srgbClr val="1E6FD9"/>
                </a:solidFill>
                <a:latin typeface="Cambria" pitchFamily="34" charset="0"/>
                <a:ea typeface="Cambria" pitchFamily="34" charset="-122"/>
                <a:cs typeface="Cambria" pitchFamily="34" charset="-120"/>
              </a:rPr>
              <a:t>70</a:t>
            </a:r>
            <a:endParaRPr lang="en-US" sz="1400" dirty="0"/>
          </a:p>
        </p:txBody>
      </p:sp>
      <p:sp>
        <p:nvSpPr>
          <p:cNvPr id="28" name="Text 23"/>
          <p:cNvSpPr txBox="1"/>
          <p:nvPr/>
        </p:nvSpPr>
        <p:spPr>
          <a:xfrm>
            <a:off x="6217920" y="2139696"/>
            <a:ext cx="2331720" cy="384048"/>
          </a:xfrm>
          <a:prstGeom prst="rect">
            <a:avLst/>
          </a:prstGeom>
          <a:noFill/>
          <a:ln/>
        </p:spPr>
        <p:txBody>
          <a:bodyPr wrap="square" lIns="0" tIns="0" rIns="0" bIns="0" rtlCol="0" anchor="ctr"/>
          <a:lstStyle/>
          <a:p>
            <a:pPr indent="0" marL="0">
              <a:buNone/>
            </a:pPr>
            <a:r>
              <a:rPr lang="en-US" sz="950" dirty="0">
                <a:solidFill>
                  <a:srgbClr val="5B6B85"/>
                </a:solidFill>
                <a:latin typeface="Calibri" pitchFamily="34" charset="0"/>
                <a:ea typeface="Calibri" pitchFamily="34" charset="-122"/>
                <a:cs typeface="Calibri" pitchFamily="34" charset="-120"/>
              </a:rPr>
              <a:t>Needed for campus access and services</a:t>
            </a:r>
            <a:endParaRPr lang="en-US" sz="950" dirty="0"/>
          </a:p>
        </p:txBody>
      </p:sp>
      <p:sp>
        <p:nvSpPr>
          <p:cNvPr id="29" name="Shape 24"/>
          <p:cNvSpPr/>
          <p:nvPr/>
        </p:nvSpPr>
        <p:spPr>
          <a:xfrm>
            <a:off x="548640" y="2569464"/>
            <a:ext cx="8046720" cy="384048"/>
          </a:xfrm>
          <a:prstGeom prst="roundRect">
            <a:avLst>
              <a:gd name="adj" fmla="val 19048"/>
            </a:avLst>
          </a:prstGeom>
          <a:solidFill>
            <a:srgbClr val="FFFFFF"/>
          </a:solidFill>
          <a:ln w="12700">
            <a:solidFill>
              <a:srgbClr val="D6E4F7"/>
            </a:solidFill>
            <a:prstDash val="solid"/>
          </a:ln>
        </p:spPr>
      </p:sp>
      <p:pic>
        <p:nvPicPr>
          <p:cNvPr id="30" name="Image 3" descr="ib_tablet.png">    </p:cNvPr>
          <p:cNvPicPr>
            <a:picLocks noChangeAspect="1"/>
          </p:cNvPicPr>
          <p:nvPr/>
        </p:nvPicPr>
        <p:blipFill>
          <a:blip r:embed="rId4"/>
          <a:stretch>
            <a:fillRect/>
          </a:stretch>
        </p:blipFill>
        <p:spPr>
          <a:xfrm>
            <a:off x="621792" y="2596896"/>
            <a:ext cx="329184" cy="329184"/>
          </a:xfrm>
          <a:prstGeom prst="rect">
            <a:avLst/>
          </a:prstGeom>
        </p:spPr>
      </p:pic>
      <p:sp>
        <p:nvSpPr>
          <p:cNvPr id="31" name="Text 25"/>
          <p:cNvSpPr txBox="1"/>
          <p:nvPr/>
        </p:nvSpPr>
        <p:spPr>
          <a:xfrm>
            <a:off x="1051560" y="2569464"/>
            <a:ext cx="2697480" cy="384048"/>
          </a:xfrm>
          <a:prstGeom prst="rect">
            <a:avLst/>
          </a:prstGeom>
          <a:noFill/>
          <a:ln/>
        </p:spPr>
        <p:txBody>
          <a:bodyPr wrap="square" lIns="0" tIns="0" rIns="0" bIns="0" rtlCol="0" anchor="ctr"/>
          <a:lstStyle/>
          <a:p>
            <a:pPr indent="0" marL="0">
              <a:buNone/>
            </a:pPr>
            <a:r>
              <a:rPr lang="en-US" sz="1100" b="1" dirty="0">
                <a:solidFill>
                  <a:srgbClr val="0B2A5B"/>
                </a:solidFill>
                <a:latin typeface="Calibri" pitchFamily="34" charset="0"/>
                <a:ea typeface="Calibri" pitchFamily="34" charset="-122"/>
                <a:cs typeface="Calibri" pitchFamily="34" charset="-120"/>
              </a:rPr>
              <a:t>Tablet</a:t>
            </a:r>
            <a:pPr indent="0" marL="0">
              <a:buNone/>
            </a:pPr>
            <a:r>
              <a:rPr lang="en-US" sz="850" dirty="0">
                <a:solidFill>
                  <a:srgbClr val="5B6B85"/>
                </a:solidFill>
                <a:latin typeface="Calibri" pitchFamily="34" charset="0"/>
                <a:ea typeface="Calibri" pitchFamily="34" charset="-122"/>
                <a:cs typeface="Calibri" pitchFamily="34" charset="-120"/>
              </a:rPr>
              <a:t>  (tablet, ipad)</a:t>
            </a:r>
            <a:endParaRPr lang="en-US" sz="1100" dirty="0"/>
          </a:p>
        </p:txBody>
      </p:sp>
      <p:sp>
        <p:nvSpPr>
          <p:cNvPr id="32" name="Shape 26"/>
          <p:cNvSpPr/>
          <p:nvPr/>
        </p:nvSpPr>
        <p:spPr>
          <a:xfrm>
            <a:off x="3794760" y="2706624"/>
            <a:ext cx="1828800" cy="109728"/>
          </a:xfrm>
          <a:prstGeom prst="rect">
            <a:avLst/>
          </a:prstGeom>
          <a:solidFill>
            <a:srgbClr val="E1ECFA"/>
          </a:solidFill>
          <a:ln w="12700">
            <a:solidFill>
              <a:srgbClr val="E1ECFA"/>
            </a:solidFill>
            <a:prstDash val="solid"/>
          </a:ln>
        </p:spPr>
      </p:sp>
      <p:sp>
        <p:nvSpPr>
          <p:cNvPr id="33" name="Shape 27"/>
          <p:cNvSpPr/>
          <p:nvPr/>
        </p:nvSpPr>
        <p:spPr>
          <a:xfrm>
            <a:off x="3794760" y="2706624"/>
            <a:ext cx="1097280" cy="109728"/>
          </a:xfrm>
          <a:prstGeom prst="rect">
            <a:avLst/>
          </a:prstGeom>
          <a:solidFill>
            <a:srgbClr val="6EB1F5"/>
          </a:solidFill>
          <a:ln w="12700">
            <a:solidFill>
              <a:srgbClr val="6EB1F5"/>
            </a:solidFill>
            <a:prstDash val="solid"/>
          </a:ln>
        </p:spPr>
      </p:sp>
      <p:sp>
        <p:nvSpPr>
          <p:cNvPr id="34" name="Text 28"/>
          <p:cNvSpPr txBox="1"/>
          <p:nvPr/>
        </p:nvSpPr>
        <p:spPr>
          <a:xfrm>
            <a:off x="5715000" y="2569464"/>
            <a:ext cx="457200" cy="384048"/>
          </a:xfrm>
          <a:prstGeom prst="rect">
            <a:avLst/>
          </a:prstGeom>
          <a:noFill/>
          <a:ln/>
        </p:spPr>
        <p:txBody>
          <a:bodyPr wrap="square" lIns="0" tIns="0" rIns="0" bIns="0" rtlCol="0" anchor="ctr"/>
          <a:lstStyle/>
          <a:p>
            <a:pPr indent="0" marL="0">
              <a:buNone/>
            </a:pPr>
            <a:r>
              <a:rPr lang="en-US" sz="1400" b="1" dirty="0">
                <a:solidFill>
                  <a:srgbClr val="1E6FD9"/>
                </a:solidFill>
                <a:latin typeface="Cambria" pitchFamily="34" charset="0"/>
                <a:ea typeface="Cambria" pitchFamily="34" charset="-122"/>
                <a:cs typeface="Cambria" pitchFamily="34" charset="-120"/>
              </a:rPr>
              <a:t>60</a:t>
            </a:r>
            <a:endParaRPr lang="en-US" sz="1400" dirty="0"/>
          </a:p>
        </p:txBody>
      </p:sp>
      <p:sp>
        <p:nvSpPr>
          <p:cNvPr id="35" name="Text 29"/>
          <p:cNvSpPr txBox="1"/>
          <p:nvPr/>
        </p:nvSpPr>
        <p:spPr>
          <a:xfrm>
            <a:off x="6217920" y="2569464"/>
            <a:ext cx="2331720" cy="384048"/>
          </a:xfrm>
          <a:prstGeom prst="rect">
            <a:avLst/>
          </a:prstGeom>
          <a:noFill/>
          <a:ln/>
        </p:spPr>
        <p:txBody>
          <a:bodyPr wrap="square" lIns="0" tIns="0" rIns="0" bIns="0" rtlCol="0" anchor="ctr"/>
          <a:lstStyle/>
          <a:p>
            <a:pPr indent="0" marL="0">
              <a:buNone/>
            </a:pPr>
            <a:r>
              <a:rPr lang="en-US" sz="950" dirty="0">
                <a:solidFill>
                  <a:srgbClr val="5B6B85"/>
                </a:solidFill>
                <a:latin typeface="Calibri" pitchFamily="34" charset="0"/>
                <a:ea typeface="Calibri" pitchFamily="34" charset="-122"/>
                <a:cs typeface="Calibri" pitchFamily="34" charset="-120"/>
              </a:rPr>
              <a:t>Possible study device</a:t>
            </a:r>
            <a:endParaRPr lang="en-US" sz="950" dirty="0"/>
          </a:p>
        </p:txBody>
      </p:sp>
      <p:sp>
        <p:nvSpPr>
          <p:cNvPr id="36" name="Shape 30"/>
          <p:cNvSpPr/>
          <p:nvPr/>
        </p:nvSpPr>
        <p:spPr>
          <a:xfrm>
            <a:off x="548640" y="2999232"/>
            <a:ext cx="8046720" cy="384048"/>
          </a:xfrm>
          <a:prstGeom prst="roundRect">
            <a:avLst>
              <a:gd name="adj" fmla="val 19048"/>
            </a:avLst>
          </a:prstGeom>
          <a:solidFill>
            <a:srgbClr val="FFFFFF"/>
          </a:solidFill>
          <a:ln w="12700">
            <a:solidFill>
              <a:srgbClr val="D6E4F7"/>
            </a:solidFill>
            <a:prstDash val="solid"/>
          </a:ln>
        </p:spPr>
      </p:sp>
      <p:pic>
        <p:nvPicPr>
          <p:cNvPr id="37" name="Image 4" descr="ib_book.png">    </p:cNvPr>
          <p:cNvPicPr>
            <a:picLocks noChangeAspect="1"/>
          </p:cNvPicPr>
          <p:nvPr/>
        </p:nvPicPr>
        <p:blipFill>
          <a:blip r:embed="rId5"/>
          <a:stretch>
            <a:fillRect/>
          </a:stretch>
        </p:blipFill>
        <p:spPr>
          <a:xfrm>
            <a:off x="621792" y="3026664"/>
            <a:ext cx="329184" cy="329184"/>
          </a:xfrm>
          <a:prstGeom prst="rect">
            <a:avLst/>
          </a:prstGeom>
        </p:spPr>
      </p:pic>
      <p:sp>
        <p:nvSpPr>
          <p:cNvPr id="38" name="Text 31"/>
          <p:cNvSpPr txBox="1"/>
          <p:nvPr/>
        </p:nvSpPr>
        <p:spPr>
          <a:xfrm>
            <a:off x="1051560" y="2999232"/>
            <a:ext cx="2697480" cy="384048"/>
          </a:xfrm>
          <a:prstGeom prst="rect">
            <a:avLst/>
          </a:prstGeom>
          <a:noFill/>
          <a:ln/>
        </p:spPr>
        <p:txBody>
          <a:bodyPr wrap="square" lIns="0" tIns="0" rIns="0" bIns="0" rtlCol="0" anchor="ctr"/>
          <a:lstStyle/>
          <a:p>
            <a:pPr indent="0" marL="0">
              <a:buNone/>
            </a:pPr>
            <a:r>
              <a:rPr lang="en-US" sz="1100" b="1" dirty="0">
                <a:solidFill>
                  <a:srgbClr val="0B2A5B"/>
                </a:solidFill>
                <a:latin typeface="Calibri" pitchFamily="34" charset="0"/>
                <a:ea typeface="Calibri" pitchFamily="34" charset="-122"/>
                <a:cs typeface="Calibri" pitchFamily="34" charset="-120"/>
              </a:rPr>
              <a:t>Book</a:t>
            </a:r>
            <a:pPr indent="0" marL="0">
              <a:buNone/>
            </a:pPr>
            <a:r>
              <a:rPr lang="en-US" sz="850" dirty="0">
                <a:solidFill>
                  <a:srgbClr val="5B6B85"/>
                </a:solidFill>
                <a:latin typeface="Calibri" pitchFamily="34" charset="0"/>
                <a:ea typeface="Calibri" pitchFamily="34" charset="-122"/>
                <a:cs typeface="Calibri" pitchFamily="34" charset="-120"/>
              </a:rPr>
              <a:t>  (textbook, notes)</a:t>
            </a:r>
            <a:endParaRPr lang="en-US" sz="1100" dirty="0"/>
          </a:p>
        </p:txBody>
      </p:sp>
      <p:sp>
        <p:nvSpPr>
          <p:cNvPr id="39" name="Shape 32"/>
          <p:cNvSpPr/>
          <p:nvPr/>
        </p:nvSpPr>
        <p:spPr>
          <a:xfrm>
            <a:off x="3794760" y="3136392"/>
            <a:ext cx="1828800" cy="109728"/>
          </a:xfrm>
          <a:prstGeom prst="rect">
            <a:avLst/>
          </a:prstGeom>
          <a:solidFill>
            <a:srgbClr val="E1ECFA"/>
          </a:solidFill>
          <a:ln w="12700">
            <a:solidFill>
              <a:srgbClr val="E1ECFA"/>
            </a:solidFill>
            <a:prstDash val="solid"/>
          </a:ln>
        </p:spPr>
      </p:sp>
      <p:sp>
        <p:nvSpPr>
          <p:cNvPr id="40" name="Shape 33"/>
          <p:cNvSpPr/>
          <p:nvPr/>
        </p:nvSpPr>
        <p:spPr>
          <a:xfrm>
            <a:off x="3794760" y="3136392"/>
            <a:ext cx="914400" cy="109728"/>
          </a:xfrm>
          <a:prstGeom prst="rect">
            <a:avLst/>
          </a:prstGeom>
          <a:solidFill>
            <a:srgbClr val="6EB1F5"/>
          </a:solidFill>
          <a:ln w="12700">
            <a:solidFill>
              <a:srgbClr val="6EB1F5"/>
            </a:solidFill>
            <a:prstDash val="solid"/>
          </a:ln>
        </p:spPr>
      </p:sp>
      <p:sp>
        <p:nvSpPr>
          <p:cNvPr id="41" name="Text 34"/>
          <p:cNvSpPr txBox="1"/>
          <p:nvPr/>
        </p:nvSpPr>
        <p:spPr>
          <a:xfrm>
            <a:off x="5715000" y="2999232"/>
            <a:ext cx="457200" cy="384048"/>
          </a:xfrm>
          <a:prstGeom prst="rect">
            <a:avLst/>
          </a:prstGeom>
          <a:noFill/>
          <a:ln/>
        </p:spPr>
        <p:txBody>
          <a:bodyPr wrap="square" lIns="0" tIns="0" rIns="0" bIns="0" rtlCol="0" anchor="ctr"/>
          <a:lstStyle/>
          <a:p>
            <a:pPr indent="0" marL="0">
              <a:buNone/>
            </a:pPr>
            <a:r>
              <a:rPr lang="en-US" sz="1400" b="1" dirty="0">
                <a:solidFill>
                  <a:srgbClr val="1E6FD9"/>
                </a:solidFill>
                <a:latin typeface="Cambria" pitchFamily="34" charset="0"/>
                <a:ea typeface="Cambria" pitchFamily="34" charset="-122"/>
                <a:cs typeface="Cambria" pitchFamily="34" charset="-120"/>
              </a:rPr>
              <a:t>50</a:t>
            </a:r>
            <a:endParaRPr lang="en-US" sz="1400" dirty="0"/>
          </a:p>
        </p:txBody>
      </p:sp>
      <p:sp>
        <p:nvSpPr>
          <p:cNvPr id="42" name="Text 35"/>
          <p:cNvSpPr txBox="1"/>
          <p:nvPr/>
        </p:nvSpPr>
        <p:spPr>
          <a:xfrm>
            <a:off x="6217920" y="2999232"/>
            <a:ext cx="2331720" cy="384048"/>
          </a:xfrm>
          <a:prstGeom prst="rect">
            <a:avLst/>
          </a:prstGeom>
          <a:noFill/>
          <a:ln/>
        </p:spPr>
        <p:txBody>
          <a:bodyPr wrap="square" lIns="0" tIns="0" rIns="0" bIns="0" rtlCol="0" anchor="ctr"/>
          <a:lstStyle/>
          <a:p>
            <a:pPr indent="0" marL="0">
              <a:buNone/>
            </a:pPr>
            <a:r>
              <a:rPr lang="en-US" sz="950" dirty="0">
                <a:solidFill>
                  <a:srgbClr val="5B6B85"/>
                </a:solidFill>
                <a:latin typeface="Calibri" pitchFamily="34" charset="0"/>
                <a:ea typeface="Calibri" pitchFamily="34" charset="-122"/>
                <a:cs typeface="Calibri" pitchFamily="34" charset="-120"/>
              </a:rPr>
              <a:t>Study material</a:t>
            </a:r>
            <a:endParaRPr lang="en-US" sz="950" dirty="0"/>
          </a:p>
        </p:txBody>
      </p:sp>
      <p:sp>
        <p:nvSpPr>
          <p:cNvPr id="43" name="Shape 36"/>
          <p:cNvSpPr/>
          <p:nvPr/>
        </p:nvSpPr>
        <p:spPr>
          <a:xfrm>
            <a:off x="548640" y="3429000"/>
            <a:ext cx="8046720" cy="384048"/>
          </a:xfrm>
          <a:prstGeom prst="roundRect">
            <a:avLst>
              <a:gd name="adj" fmla="val 19048"/>
            </a:avLst>
          </a:prstGeom>
          <a:solidFill>
            <a:srgbClr val="FFFFFF"/>
          </a:solidFill>
          <a:ln w="12700">
            <a:solidFill>
              <a:srgbClr val="D6E4F7"/>
            </a:solidFill>
            <a:prstDash val="solid"/>
          </a:ln>
        </p:spPr>
      </p:sp>
      <p:pic>
        <p:nvPicPr>
          <p:cNvPr id="44" name="Image 5" descr="ib_calculator.png">    </p:cNvPr>
          <p:cNvPicPr>
            <a:picLocks noChangeAspect="1"/>
          </p:cNvPicPr>
          <p:nvPr/>
        </p:nvPicPr>
        <p:blipFill>
          <a:blip r:embed="rId6"/>
          <a:stretch>
            <a:fillRect/>
          </a:stretch>
        </p:blipFill>
        <p:spPr>
          <a:xfrm>
            <a:off x="621792" y="3456432"/>
            <a:ext cx="329184" cy="329184"/>
          </a:xfrm>
          <a:prstGeom prst="rect">
            <a:avLst/>
          </a:prstGeom>
        </p:spPr>
      </p:pic>
      <p:sp>
        <p:nvSpPr>
          <p:cNvPr id="45" name="Text 37"/>
          <p:cNvSpPr txBox="1"/>
          <p:nvPr/>
        </p:nvSpPr>
        <p:spPr>
          <a:xfrm>
            <a:off x="1051560" y="3429000"/>
            <a:ext cx="2697480" cy="384048"/>
          </a:xfrm>
          <a:prstGeom prst="rect">
            <a:avLst/>
          </a:prstGeom>
          <a:noFill/>
          <a:ln/>
        </p:spPr>
        <p:txBody>
          <a:bodyPr wrap="square" lIns="0" tIns="0" rIns="0" bIns="0" rtlCol="0" anchor="ctr"/>
          <a:lstStyle/>
          <a:p>
            <a:pPr indent="0" marL="0">
              <a:buNone/>
            </a:pPr>
            <a:r>
              <a:rPr lang="en-US" sz="1100" b="1" dirty="0">
                <a:solidFill>
                  <a:srgbClr val="0B2A5B"/>
                </a:solidFill>
                <a:latin typeface="Calibri" pitchFamily="34" charset="0"/>
                <a:ea typeface="Calibri" pitchFamily="34" charset="-122"/>
                <a:cs typeface="Calibri" pitchFamily="34" charset="-120"/>
              </a:rPr>
              <a:t>Calculator</a:t>
            </a:r>
            <a:pPr indent="0" marL="0">
              <a:buNone/>
            </a:pPr>
            <a:endParaRPr lang="en-US" sz="1100" dirty="0"/>
          </a:p>
        </p:txBody>
      </p:sp>
      <p:sp>
        <p:nvSpPr>
          <p:cNvPr id="46" name="Shape 38"/>
          <p:cNvSpPr/>
          <p:nvPr/>
        </p:nvSpPr>
        <p:spPr>
          <a:xfrm>
            <a:off x="3794760" y="3566160"/>
            <a:ext cx="1828800" cy="109728"/>
          </a:xfrm>
          <a:prstGeom prst="rect">
            <a:avLst/>
          </a:prstGeom>
          <a:solidFill>
            <a:srgbClr val="E1ECFA"/>
          </a:solidFill>
          <a:ln w="12700">
            <a:solidFill>
              <a:srgbClr val="E1ECFA"/>
            </a:solidFill>
            <a:prstDash val="solid"/>
          </a:ln>
        </p:spPr>
      </p:sp>
      <p:sp>
        <p:nvSpPr>
          <p:cNvPr id="47" name="Shape 39"/>
          <p:cNvSpPr/>
          <p:nvPr/>
        </p:nvSpPr>
        <p:spPr>
          <a:xfrm>
            <a:off x="3794760" y="3566160"/>
            <a:ext cx="914400" cy="109728"/>
          </a:xfrm>
          <a:prstGeom prst="rect">
            <a:avLst/>
          </a:prstGeom>
          <a:solidFill>
            <a:srgbClr val="6EB1F5"/>
          </a:solidFill>
          <a:ln w="12700">
            <a:solidFill>
              <a:srgbClr val="6EB1F5"/>
            </a:solidFill>
            <a:prstDash val="solid"/>
          </a:ln>
        </p:spPr>
      </p:sp>
      <p:sp>
        <p:nvSpPr>
          <p:cNvPr id="48" name="Text 40"/>
          <p:cNvSpPr txBox="1"/>
          <p:nvPr/>
        </p:nvSpPr>
        <p:spPr>
          <a:xfrm>
            <a:off x="5715000" y="3429000"/>
            <a:ext cx="457200" cy="384048"/>
          </a:xfrm>
          <a:prstGeom prst="rect">
            <a:avLst/>
          </a:prstGeom>
          <a:noFill/>
          <a:ln/>
        </p:spPr>
        <p:txBody>
          <a:bodyPr wrap="square" lIns="0" tIns="0" rIns="0" bIns="0" rtlCol="0" anchor="ctr"/>
          <a:lstStyle/>
          <a:p>
            <a:pPr indent="0" marL="0">
              <a:buNone/>
            </a:pPr>
            <a:r>
              <a:rPr lang="en-US" sz="1400" b="1" dirty="0">
                <a:solidFill>
                  <a:srgbClr val="1E6FD9"/>
                </a:solidFill>
                <a:latin typeface="Cambria" pitchFamily="34" charset="0"/>
                <a:ea typeface="Cambria" pitchFamily="34" charset="-122"/>
                <a:cs typeface="Cambria" pitchFamily="34" charset="-120"/>
              </a:rPr>
              <a:t>50</a:t>
            </a:r>
            <a:endParaRPr lang="en-US" sz="1400" dirty="0"/>
          </a:p>
        </p:txBody>
      </p:sp>
      <p:sp>
        <p:nvSpPr>
          <p:cNvPr id="49" name="Text 41"/>
          <p:cNvSpPr txBox="1"/>
          <p:nvPr/>
        </p:nvSpPr>
        <p:spPr>
          <a:xfrm>
            <a:off x="6217920" y="3429000"/>
            <a:ext cx="2331720" cy="384048"/>
          </a:xfrm>
          <a:prstGeom prst="rect">
            <a:avLst/>
          </a:prstGeom>
          <a:noFill/>
          <a:ln/>
        </p:spPr>
        <p:txBody>
          <a:bodyPr wrap="square" lIns="0" tIns="0" rIns="0" bIns="0" rtlCol="0" anchor="ctr"/>
          <a:lstStyle/>
          <a:p>
            <a:pPr indent="0" marL="0">
              <a:buNone/>
            </a:pPr>
            <a:r>
              <a:rPr lang="en-US" sz="950" dirty="0">
                <a:solidFill>
                  <a:srgbClr val="5B6B85"/>
                </a:solidFill>
                <a:latin typeface="Calibri" pitchFamily="34" charset="0"/>
                <a:ea typeface="Calibri" pitchFamily="34" charset="-122"/>
                <a:cs typeface="Calibri" pitchFamily="34" charset="-120"/>
              </a:rPr>
              <a:t>Needed for coursework and tests</a:t>
            </a:r>
            <a:endParaRPr lang="en-US" sz="950" dirty="0"/>
          </a:p>
        </p:txBody>
      </p:sp>
      <p:sp>
        <p:nvSpPr>
          <p:cNvPr id="50" name="Shape 42"/>
          <p:cNvSpPr/>
          <p:nvPr/>
        </p:nvSpPr>
        <p:spPr>
          <a:xfrm>
            <a:off x="548640" y="3858768"/>
            <a:ext cx="8046720" cy="384048"/>
          </a:xfrm>
          <a:prstGeom prst="roundRect">
            <a:avLst>
              <a:gd name="adj" fmla="val 19048"/>
            </a:avLst>
          </a:prstGeom>
          <a:solidFill>
            <a:srgbClr val="FFFFFF"/>
          </a:solidFill>
          <a:ln w="12700">
            <a:solidFill>
              <a:srgbClr val="D6E4F7"/>
            </a:solidFill>
            <a:prstDash val="solid"/>
          </a:ln>
        </p:spPr>
      </p:sp>
      <p:pic>
        <p:nvPicPr>
          <p:cNvPr id="51" name="Image 6" descr="ib_headphones.png">    </p:cNvPr>
          <p:cNvPicPr>
            <a:picLocks noChangeAspect="1"/>
          </p:cNvPicPr>
          <p:nvPr/>
        </p:nvPicPr>
        <p:blipFill>
          <a:blip r:embed="rId7"/>
          <a:stretch>
            <a:fillRect/>
          </a:stretch>
        </p:blipFill>
        <p:spPr>
          <a:xfrm>
            <a:off x="621792" y="3886200"/>
            <a:ext cx="329184" cy="329184"/>
          </a:xfrm>
          <a:prstGeom prst="rect">
            <a:avLst/>
          </a:prstGeom>
        </p:spPr>
      </p:pic>
      <p:sp>
        <p:nvSpPr>
          <p:cNvPr id="52" name="Text 43"/>
          <p:cNvSpPr txBox="1"/>
          <p:nvPr/>
        </p:nvSpPr>
        <p:spPr>
          <a:xfrm>
            <a:off x="1051560" y="3858768"/>
            <a:ext cx="2697480" cy="384048"/>
          </a:xfrm>
          <a:prstGeom prst="rect">
            <a:avLst/>
          </a:prstGeom>
          <a:noFill/>
          <a:ln/>
        </p:spPr>
        <p:txBody>
          <a:bodyPr wrap="square" lIns="0" tIns="0" rIns="0" bIns="0" rtlCol="0" anchor="ctr"/>
          <a:lstStyle/>
          <a:p>
            <a:pPr indent="0" marL="0">
              <a:buNone/>
            </a:pPr>
            <a:r>
              <a:rPr lang="en-US" sz="1100" b="1" dirty="0">
                <a:solidFill>
                  <a:srgbClr val="0B2A5B"/>
                </a:solidFill>
                <a:latin typeface="Calibri" pitchFamily="34" charset="0"/>
                <a:ea typeface="Calibri" pitchFamily="34" charset="-122"/>
                <a:cs typeface="Calibri" pitchFamily="34" charset="-120"/>
              </a:rPr>
              <a:t>Headphones</a:t>
            </a:r>
            <a:pPr indent="0" marL="0">
              <a:buNone/>
            </a:pPr>
            <a:r>
              <a:rPr lang="en-US" sz="850" dirty="0">
                <a:solidFill>
                  <a:srgbClr val="5B6B85"/>
                </a:solidFill>
                <a:latin typeface="Calibri" pitchFamily="34" charset="0"/>
                <a:ea typeface="Calibri" pitchFamily="34" charset="-122"/>
                <a:cs typeface="Calibri" pitchFamily="34" charset="-120"/>
              </a:rPr>
              <a:t>  (earphones, earbuds)</a:t>
            </a:r>
            <a:endParaRPr lang="en-US" sz="1100" dirty="0"/>
          </a:p>
        </p:txBody>
      </p:sp>
      <p:sp>
        <p:nvSpPr>
          <p:cNvPr id="53" name="Shape 44"/>
          <p:cNvSpPr/>
          <p:nvPr/>
        </p:nvSpPr>
        <p:spPr>
          <a:xfrm>
            <a:off x="3794760" y="3995928"/>
            <a:ext cx="1828800" cy="109728"/>
          </a:xfrm>
          <a:prstGeom prst="rect">
            <a:avLst/>
          </a:prstGeom>
          <a:solidFill>
            <a:srgbClr val="E1ECFA"/>
          </a:solidFill>
          <a:ln w="12700">
            <a:solidFill>
              <a:srgbClr val="E1ECFA"/>
            </a:solidFill>
            <a:prstDash val="solid"/>
          </a:ln>
        </p:spPr>
      </p:sp>
      <p:sp>
        <p:nvSpPr>
          <p:cNvPr id="54" name="Shape 45"/>
          <p:cNvSpPr/>
          <p:nvPr/>
        </p:nvSpPr>
        <p:spPr>
          <a:xfrm>
            <a:off x="3794760" y="3995928"/>
            <a:ext cx="731520" cy="109728"/>
          </a:xfrm>
          <a:prstGeom prst="rect">
            <a:avLst/>
          </a:prstGeom>
          <a:solidFill>
            <a:srgbClr val="6EB1F5"/>
          </a:solidFill>
          <a:ln w="12700">
            <a:solidFill>
              <a:srgbClr val="6EB1F5"/>
            </a:solidFill>
            <a:prstDash val="solid"/>
          </a:ln>
        </p:spPr>
      </p:sp>
      <p:sp>
        <p:nvSpPr>
          <p:cNvPr id="55" name="Text 46"/>
          <p:cNvSpPr txBox="1"/>
          <p:nvPr/>
        </p:nvSpPr>
        <p:spPr>
          <a:xfrm>
            <a:off x="5715000" y="3858768"/>
            <a:ext cx="457200" cy="384048"/>
          </a:xfrm>
          <a:prstGeom prst="rect">
            <a:avLst/>
          </a:prstGeom>
          <a:noFill/>
          <a:ln/>
        </p:spPr>
        <p:txBody>
          <a:bodyPr wrap="square" lIns="0" tIns="0" rIns="0" bIns="0" rtlCol="0" anchor="ctr"/>
          <a:lstStyle/>
          <a:p>
            <a:pPr indent="0" marL="0">
              <a:buNone/>
            </a:pPr>
            <a:r>
              <a:rPr lang="en-US" sz="1400" b="1" dirty="0">
                <a:solidFill>
                  <a:srgbClr val="1E6FD9"/>
                </a:solidFill>
                <a:latin typeface="Cambria" pitchFamily="34" charset="0"/>
                <a:ea typeface="Cambria" pitchFamily="34" charset="-122"/>
                <a:cs typeface="Cambria" pitchFamily="34" charset="-120"/>
              </a:rPr>
              <a:t>40</a:t>
            </a:r>
            <a:endParaRPr lang="en-US" sz="1400" dirty="0"/>
          </a:p>
        </p:txBody>
      </p:sp>
      <p:sp>
        <p:nvSpPr>
          <p:cNvPr id="56" name="Text 47"/>
          <p:cNvSpPr txBox="1"/>
          <p:nvPr/>
        </p:nvSpPr>
        <p:spPr>
          <a:xfrm>
            <a:off x="6217920" y="3858768"/>
            <a:ext cx="2331720" cy="384048"/>
          </a:xfrm>
          <a:prstGeom prst="rect">
            <a:avLst/>
          </a:prstGeom>
          <a:noFill/>
          <a:ln/>
        </p:spPr>
        <p:txBody>
          <a:bodyPr wrap="square" lIns="0" tIns="0" rIns="0" bIns="0" rtlCol="0" anchor="ctr"/>
          <a:lstStyle/>
          <a:p>
            <a:pPr indent="0" marL="0">
              <a:buNone/>
            </a:pPr>
            <a:r>
              <a:rPr lang="en-US" sz="950" dirty="0">
                <a:solidFill>
                  <a:srgbClr val="5B6B85"/>
                </a:solidFill>
                <a:latin typeface="Calibri" pitchFamily="34" charset="0"/>
                <a:ea typeface="Calibri" pitchFamily="34" charset="-122"/>
                <a:cs typeface="Calibri" pitchFamily="34" charset="-120"/>
              </a:rPr>
              <a:t>Useful for study and communication</a:t>
            </a:r>
            <a:endParaRPr lang="en-US" sz="950" dirty="0"/>
          </a:p>
        </p:txBody>
      </p:sp>
      <p:sp>
        <p:nvSpPr>
          <p:cNvPr id="57" name="Shape 48"/>
          <p:cNvSpPr/>
          <p:nvPr/>
        </p:nvSpPr>
        <p:spPr>
          <a:xfrm>
            <a:off x="548640" y="4288536"/>
            <a:ext cx="8046720" cy="384048"/>
          </a:xfrm>
          <a:prstGeom prst="roundRect">
            <a:avLst>
              <a:gd name="adj" fmla="val 19048"/>
            </a:avLst>
          </a:prstGeom>
          <a:solidFill>
            <a:srgbClr val="FFFFFF"/>
          </a:solidFill>
          <a:ln w="12700">
            <a:solidFill>
              <a:srgbClr val="D6E4F7"/>
            </a:solidFill>
            <a:prstDash val="solid"/>
          </a:ln>
        </p:spPr>
      </p:sp>
      <p:sp>
        <p:nvSpPr>
          <p:cNvPr id="58" name="Shape 49"/>
          <p:cNvSpPr/>
          <p:nvPr/>
        </p:nvSpPr>
        <p:spPr>
          <a:xfrm>
            <a:off x="640080" y="4334256"/>
            <a:ext cx="292608" cy="292608"/>
          </a:xfrm>
          <a:prstGeom prst="ellipse">
            <a:avLst/>
          </a:prstGeom>
          <a:solidFill>
            <a:srgbClr val="BBD6F7"/>
          </a:solidFill>
          <a:ln w="12700">
            <a:solidFill>
              <a:srgbClr val="BBD6F7"/>
            </a:solidFill>
            <a:prstDash val="solid"/>
          </a:ln>
        </p:spPr>
      </p:sp>
      <p:pic>
        <p:nvPicPr>
          <p:cNvPr id="59" name="Image 7" descr="preencoded.png">    </p:cNvPr>
          <p:cNvPicPr>
            <a:picLocks noChangeAspect="1"/>
          </p:cNvPicPr>
          <p:nvPr/>
        </p:nvPicPr>
        <p:blipFill>
          <a:blip r:embed="rId8"/>
          <a:stretch>
            <a:fillRect/>
          </a:stretch>
        </p:blipFill>
        <p:spPr>
          <a:xfrm>
            <a:off x="713232" y="4407408"/>
            <a:ext cx="146304" cy="146304"/>
          </a:xfrm>
          <a:prstGeom prst="rect">
            <a:avLst/>
          </a:prstGeom>
        </p:spPr>
      </p:pic>
      <p:sp>
        <p:nvSpPr>
          <p:cNvPr id="60" name="Text 50"/>
          <p:cNvSpPr txBox="1"/>
          <p:nvPr/>
        </p:nvSpPr>
        <p:spPr>
          <a:xfrm>
            <a:off x="1051560" y="4288536"/>
            <a:ext cx="2697480" cy="384048"/>
          </a:xfrm>
          <a:prstGeom prst="rect">
            <a:avLst/>
          </a:prstGeom>
          <a:noFill/>
          <a:ln/>
        </p:spPr>
        <p:txBody>
          <a:bodyPr wrap="square" lIns="0" tIns="0" rIns="0" bIns="0" rtlCol="0" anchor="ctr"/>
          <a:lstStyle/>
          <a:p>
            <a:pPr indent="0" marL="0">
              <a:buNone/>
            </a:pPr>
            <a:r>
              <a:rPr lang="en-US" sz="1100" b="1" dirty="0">
                <a:solidFill>
                  <a:srgbClr val="0B2A5B"/>
                </a:solidFill>
                <a:latin typeface="Calibri" pitchFamily="34" charset="0"/>
                <a:ea typeface="Calibri" pitchFamily="34" charset="-122"/>
                <a:cs typeface="Calibri" pitchFamily="34" charset="-120"/>
              </a:rPr>
              <a:t>Anything else</a:t>
            </a:r>
            <a:pPr indent="0" marL="0">
              <a:buNone/>
            </a:pPr>
            <a:endParaRPr lang="en-US" sz="1100" dirty="0"/>
          </a:p>
        </p:txBody>
      </p:sp>
      <p:sp>
        <p:nvSpPr>
          <p:cNvPr id="61" name="Shape 51"/>
          <p:cNvSpPr/>
          <p:nvPr/>
        </p:nvSpPr>
        <p:spPr>
          <a:xfrm>
            <a:off x="3794760" y="4425696"/>
            <a:ext cx="1828800" cy="109728"/>
          </a:xfrm>
          <a:prstGeom prst="rect">
            <a:avLst/>
          </a:prstGeom>
          <a:solidFill>
            <a:srgbClr val="E1ECFA"/>
          </a:solidFill>
          <a:ln w="12700">
            <a:solidFill>
              <a:srgbClr val="E1ECFA"/>
            </a:solidFill>
            <a:prstDash val="solid"/>
          </a:ln>
        </p:spPr>
      </p:sp>
      <p:sp>
        <p:nvSpPr>
          <p:cNvPr id="62" name="Shape 52"/>
          <p:cNvSpPr/>
          <p:nvPr/>
        </p:nvSpPr>
        <p:spPr>
          <a:xfrm>
            <a:off x="3794760" y="4425696"/>
            <a:ext cx="548640" cy="109728"/>
          </a:xfrm>
          <a:prstGeom prst="rect">
            <a:avLst/>
          </a:prstGeom>
          <a:solidFill>
            <a:srgbClr val="BBD6F7"/>
          </a:solidFill>
          <a:ln w="12700">
            <a:solidFill>
              <a:srgbClr val="BBD6F7"/>
            </a:solidFill>
            <a:prstDash val="solid"/>
          </a:ln>
        </p:spPr>
      </p:sp>
      <p:sp>
        <p:nvSpPr>
          <p:cNvPr id="63" name="Text 53"/>
          <p:cNvSpPr txBox="1"/>
          <p:nvPr/>
        </p:nvSpPr>
        <p:spPr>
          <a:xfrm>
            <a:off x="5715000" y="4288536"/>
            <a:ext cx="457200" cy="384048"/>
          </a:xfrm>
          <a:prstGeom prst="rect">
            <a:avLst/>
          </a:prstGeom>
          <a:noFill/>
          <a:ln/>
        </p:spPr>
        <p:txBody>
          <a:bodyPr wrap="square" lIns="0" tIns="0" rIns="0" bIns="0" rtlCol="0" anchor="ctr"/>
          <a:lstStyle/>
          <a:p>
            <a:pPr indent="0" marL="0">
              <a:buNone/>
            </a:pPr>
            <a:r>
              <a:rPr lang="en-US" sz="1400" b="1" dirty="0">
                <a:solidFill>
                  <a:srgbClr val="1E6FD9"/>
                </a:solidFill>
                <a:latin typeface="Cambria" pitchFamily="34" charset="0"/>
                <a:ea typeface="Cambria" pitchFamily="34" charset="-122"/>
                <a:cs typeface="Cambria" pitchFamily="34" charset="-120"/>
              </a:rPr>
              <a:t>30</a:t>
            </a:r>
            <a:endParaRPr lang="en-US" sz="1400" dirty="0"/>
          </a:p>
        </p:txBody>
      </p:sp>
      <p:sp>
        <p:nvSpPr>
          <p:cNvPr id="64" name="Text 54"/>
          <p:cNvSpPr txBox="1"/>
          <p:nvPr/>
        </p:nvSpPr>
        <p:spPr>
          <a:xfrm>
            <a:off x="6217920" y="4288536"/>
            <a:ext cx="2331720" cy="384048"/>
          </a:xfrm>
          <a:prstGeom prst="rect">
            <a:avLst/>
          </a:prstGeom>
          <a:noFill/>
          <a:ln/>
        </p:spPr>
        <p:txBody>
          <a:bodyPr wrap="square" lIns="0" tIns="0" rIns="0" bIns="0" rtlCol="0" anchor="ctr"/>
          <a:lstStyle/>
          <a:p>
            <a:pPr indent="0" marL="0">
              <a:buNone/>
            </a:pPr>
            <a:r>
              <a:rPr lang="en-US" sz="950" dirty="0">
                <a:solidFill>
                  <a:srgbClr val="5B6B85"/>
                </a:solidFill>
                <a:latin typeface="Calibri" pitchFamily="34" charset="0"/>
                <a:ea typeface="Calibri" pitchFamily="34" charset="-122"/>
                <a:cs typeface="Calibri" pitchFamily="34" charset="-120"/>
              </a:rPr>
              <a:t>Does not match a higher-priority category</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9FF"/>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E6FD9"/>
          </a:solidFill>
          <a:ln w="12700">
            <a:solidFill>
              <a:srgbClr val="1E6FD9"/>
            </a:solidFill>
            <a:prstDash val="solid"/>
          </a:ln>
        </p:spPr>
      </p:sp>
      <p:sp>
        <p:nvSpPr>
          <p:cNvPr id="3" name="Text 1"/>
          <p:cNvSpPr txBox="1"/>
          <p:nvPr/>
        </p:nvSpPr>
        <p:spPr>
          <a:xfrm>
            <a:off x="548640" y="91440"/>
            <a:ext cx="7680960" cy="228600"/>
          </a:xfrm>
          <a:prstGeom prst="rect">
            <a:avLst/>
          </a:prstGeom>
          <a:noFill/>
          <a:ln/>
        </p:spPr>
        <p:txBody>
          <a:bodyPr wrap="square" lIns="0" tIns="0" rIns="0" bIns="0" rtlCol="0" anchor="ctr"/>
          <a:lstStyle/>
          <a:p>
            <a:pPr indent="0" marL="0">
              <a:buNone/>
            </a:pPr>
            <a:r>
              <a:rPr lang="en-US" sz="900" b="1" spc="200" kern="0" dirty="0">
                <a:solidFill>
                  <a:srgbClr val="1E6FD9"/>
                </a:solidFill>
                <a:latin typeface="Calibri" pitchFamily="34" charset="0"/>
                <a:ea typeface="Calibri" pitchFamily="34" charset="-122"/>
                <a:cs typeface="Calibri" pitchFamily="34" charset="-120"/>
              </a:rPr>
              <a:t>IMPLEMENTATION</a:t>
            </a:r>
            <a:endParaRPr lang="en-US" sz="900" dirty="0"/>
          </a:p>
        </p:txBody>
      </p:sp>
      <p:sp>
        <p:nvSpPr>
          <p:cNvPr id="4" name="Text 2"/>
          <p:cNvSpPr txBox="1"/>
          <p:nvPr/>
        </p:nvSpPr>
        <p:spPr>
          <a:xfrm>
            <a:off x="548640" y="320040"/>
            <a:ext cx="8229600" cy="640080"/>
          </a:xfrm>
          <a:prstGeom prst="rect">
            <a:avLst/>
          </a:prstGeom>
          <a:noFill/>
          <a:ln/>
        </p:spPr>
        <p:txBody>
          <a:bodyPr wrap="square" lIns="0" tIns="0" rIns="0" bIns="0" rtlCol="0" anchor="ctr"/>
          <a:lstStyle/>
          <a:p>
            <a:pPr indent="0" marL="0">
              <a:buNone/>
            </a:pPr>
            <a:r>
              <a:rPr lang="en-US" sz="3000" b="1" dirty="0">
                <a:solidFill>
                  <a:srgbClr val="0B2A5B"/>
                </a:solidFill>
                <a:latin typeface="Cambria" pitchFamily="34" charset="0"/>
                <a:ea typeface="Cambria" pitchFamily="34" charset="-122"/>
                <a:cs typeface="Cambria" pitchFamily="34" charset="-120"/>
              </a:rPr>
              <a:t>Priority Levels and Decisions</a:t>
            </a:r>
            <a:endParaRPr lang="en-US" sz="3000" dirty="0"/>
          </a:p>
        </p:txBody>
      </p:sp>
      <p:sp>
        <p:nvSpPr>
          <p:cNvPr id="5" name="Shape 3"/>
          <p:cNvSpPr/>
          <p:nvPr/>
        </p:nvSpPr>
        <p:spPr>
          <a:xfrm>
            <a:off x="548640" y="1188720"/>
            <a:ext cx="5120640" cy="987552"/>
          </a:xfrm>
          <a:prstGeom prst="roundRect">
            <a:avLst>
              <a:gd name="adj" fmla="val 11111"/>
            </a:avLst>
          </a:prstGeom>
          <a:solidFill>
            <a:srgbClr val="FFFFFF"/>
          </a:solidFill>
          <a:ln w="12700">
            <a:solidFill>
              <a:srgbClr val="D6E4F7"/>
            </a:solidFill>
            <a:prstDash val="solid"/>
          </a:ln>
        </p:spPr>
      </p:sp>
      <p:sp>
        <p:nvSpPr>
          <p:cNvPr id="6" name="Shape 4"/>
          <p:cNvSpPr/>
          <p:nvPr/>
        </p:nvSpPr>
        <p:spPr>
          <a:xfrm>
            <a:off x="548640" y="1188720"/>
            <a:ext cx="1463040" cy="987552"/>
          </a:xfrm>
          <a:prstGeom prst="roundRect">
            <a:avLst>
              <a:gd name="adj" fmla="val 11111"/>
            </a:avLst>
          </a:prstGeom>
          <a:solidFill>
            <a:srgbClr val="1E6FD9"/>
          </a:solidFill>
          <a:ln w="12700">
            <a:solidFill>
              <a:srgbClr val="1E6FD9"/>
            </a:solidFill>
            <a:prstDash val="solid"/>
          </a:ln>
        </p:spPr>
      </p:sp>
      <p:sp>
        <p:nvSpPr>
          <p:cNvPr id="7" name="Text 5"/>
          <p:cNvSpPr txBox="1"/>
          <p:nvPr/>
        </p:nvSpPr>
        <p:spPr>
          <a:xfrm>
            <a:off x="548640" y="1188720"/>
            <a:ext cx="1463040" cy="987552"/>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HIGH</a:t>
            </a:r>
            <a:endParaRPr lang="en-US" sz="1300" dirty="0"/>
          </a:p>
          <a:p>
            <a:pPr algn="ctr" indent="0" marL="0">
              <a:buNone/>
            </a:pPr>
            <a:r>
              <a:rPr lang="en-US" sz="1200" dirty="0">
                <a:solidFill>
                  <a:srgbClr val="FFFFFF"/>
                </a:solidFill>
                <a:latin typeface="Calibri" pitchFamily="34" charset="0"/>
                <a:ea typeface="Calibri" pitchFamily="34" charset="-122"/>
                <a:cs typeface="Calibri" pitchFamily="34" charset="-120"/>
              </a:rPr>
              <a:t>70 – 100</a:t>
            </a:r>
            <a:endParaRPr lang="en-US" sz="1300" dirty="0"/>
          </a:p>
        </p:txBody>
      </p:sp>
      <p:sp>
        <p:nvSpPr>
          <p:cNvPr id="8" name="Text 6"/>
          <p:cNvSpPr txBox="1"/>
          <p:nvPr/>
        </p:nvSpPr>
        <p:spPr>
          <a:xfrm>
            <a:off x="2194560" y="1188720"/>
            <a:ext cx="3383280" cy="987552"/>
          </a:xfrm>
          <a:prstGeom prst="rect">
            <a:avLst/>
          </a:prstGeom>
          <a:noFill/>
          <a:ln/>
        </p:spPr>
        <p:txBody>
          <a:bodyPr wrap="square" lIns="0" tIns="0" rIns="0" bIns="0" rtlCol="0" anchor="ctr"/>
          <a:lstStyle/>
          <a:p>
            <a:pPr indent="0" marL="0">
              <a:buNone/>
            </a:pPr>
            <a:r>
              <a:rPr lang="en-US" sz="1200" dirty="0">
                <a:solidFill>
                  <a:srgbClr val="14213D"/>
                </a:solidFill>
                <a:latin typeface="Calibri" pitchFamily="34" charset="0"/>
                <a:ea typeface="Calibri" pitchFamily="34" charset="-122"/>
                <a:cs typeface="Calibri" pitchFamily="34" charset="-120"/>
              </a:rPr>
              <a:t>Automatically approved if title, description and category are present and the category is not “Other”.</a:t>
            </a:r>
            <a:endParaRPr lang="en-US" sz="1200" dirty="0"/>
          </a:p>
        </p:txBody>
      </p:sp>
      <p:sp>
        <p:nvSpPr>
          <p:cNvPr id="9" name="Shape 7"/>
          <p:cNvSpPr/>
          <p:nvPr/>
        </p:nvSpPr>
        <p:spPr>
          <a:xfrm>
            <a:off x="548640" y="2286000"/>
            <a:ext cx="5120640" cy="987552"/>
          </a:xfrm>
          <a:prstGeom prst="roundRect">
            <a:avLst>
              <a:gd name="adj" fmla="val 11111"/>
            </a:avLst>
          </a:prstGeom>
          <a:solidFill>
            <a:srgbClr val="FFFFFF"/>
          </a:solidFill>
          <a:ln w="12700">
            <a:solidFill>
              <a:srgbClr val="D6E4F7"/>
            </a:solidFill>
            <a:prstDash val="solid"/>
          </a:ln>
        </p:spPr>
      </p:sp>
      <p:sp>
        <p:nvSpPr>
          <p:cNvPr id="10" name="Shape 8"/>
          <p:cNvSpPr/>
          <p:nvPr/>
        </p:nvSpPr>
        <p:spPr>
          <a:xfrm>
            <a:off x="548640" y="2286000"/>
            <a:ext cx="1463040" cy="987552"/>
          </a:xfrm>
          <a:prstGeom prst="roundRect">
            <a:avLst>
              <a:gd name="adj" fmla="val 11111"/>
            </a:avLst>
          </a:prstGeom>
          <a:solidFill>
            <a:srgbClr val="6EB1F5"/>
          </a:solidFill>
          <a:ln w="12700">
            <a:solidFill>
              <a:srgbClr val="6EB1F5"/>
            </a:solidFill>
            <a:prstDash val="solid"/>
          </a:ln>
        </p:spPr>
      </p:sp>
      <p:sp>
        <p:nvSpPr>
          <p:cNvPr id="11" name="Text 9"/>
          <p:cNvSpPr txBox="1"/>
          <p:nvPr/>
        </p:nvSpPr>
        <p:spPr>
          <a:xfrm>
            <a:off x="548640" y="2286000"/>
            <a:ext cx="1463040" cy="987552"/>
          </a:xfrm>
          <a:prstGeom prst="rect">
            <a:avLst/>
          </a:prstGeom>
          <a:noFill/>
          <a:ln/>
        </p:spPr>
        <p:txBody>
          <a:bodyPr wrap="square" lIns="0" tIns="0" rIns="0" bIns="0" rtlCol="0" anchor="ctr"/>
          <a:lstStyle/>
          <a:p>
            <a:pPr algn="ctr" indent="0" marL="0">
              <a:buNone/>
            </a:pPr>
            <a:r>
              <a:rPr lang="en-US" sz="1800" b="1" dirty="0">
                <a:solidFill>
                  <a:srgbClr val="0B2A5B"/>
                </a:solidFill>
                <a:latin typeface="Cambria" pitchFamily="34" charset="0"/>
                <a:ea typeface="Cambria" pitchFamily="34" charset="-122"/>
                <a:cs typeface="Cambria" pitchFamily="34" charset="-120"/>
              </a:rPr>
              <a:t>MEDIUM</a:t>
            </a:r>
            <a:endParaRPr lang="en-US" sz="1300" dirty="0"/>
          </a:p>
          <a:p>
            <a:pPr algn="ctr" indent="0" marL="0">
              <a:buNone/>
            </a:pPr>
            <a:r>
              <a:rPr lang="en-US" sz="1200" dirty="0">
                <a:solidFill>
                  <a:srgbClr val="0B2A5B"/>
                </a:solidFill>
                <a:latin typeface="Calibri" pitchFamily="34" charset="0"/>
                <a:ea typeface="Calibri" pitchFamily="34" charset="-122"/>
                <a:cs typeface="Calibri" pitchFamily="34" charset="-120"/>
              </a:rPr>
              <a:t>40 – 69</a:t>
            </a:r>
            <a:endParaRPr lang="en-US" sz="1300" dirty="0"/>
          </a:p>
        </p:txBody>
      </p:sp>
      <p:sp>
        <p:nvSpPr>
          <p:cNvPr id="12" name="Text 10"/>
          <p:cNvSpPr txBox="1"/>
          <p:nvPr/>
        </p:nvSpPr>
        <p:spPr>
          <a:xfrm>
            <a:off x="2194560" y="2286000"/>
            <a:ext cx="3383280" cy="987552"/>
          </a:xfrm>
          <a:prstGeom prst="rect">
            <a:avLst/>
          </a:prstGeom>
          <a:noFill/>
          <a:ln/>
        </p:spPr>
        <p:txBody>
          <a:bodyPr wrap="square" lIns="0" tIns="0" rIns="0" bIns="0" rtlCol="0" anchor="ctr"/>
          <a:lstStyle/>
          <a:p>
            <a:pPr indent="0" marL="0">
              <a:buNone/>
            </a:pPr>
            <a:r>
              <a:rPr lang="en-US" sz="1200" dirty="0">
                <a:solidFill>
                  <a:srgbClr val="14213D"/>
                </a:solidFill>
                <a:latin typeface="Calibri" pitchFamily="34" charset="0"/>
                <a:ea typeface="Calibri" pitchFamily="34" charset="-122"/>
                <a:cs typeface="Calibri" pitchFamily="34" charset="-120"/>
              </a:rPr>
              <a:t>Status Pending: sent to an administrator.</a:t>
            </a:r>
            <a:endParaRPr lang="en-US" sz="1200" dirty="0"/>
          </a:p>
        </p:txBody>
      </p:sp>
      <p:sp>
        <p:nvSpPr>
          <p:cNvPr id="13" name="Shape 11"/>
          <p:cNvSpPr/>
          <p:nvPr/>
        </p:nvSpPr>
        <p:spPr>
          <a:xfrm>
            <a:off x="548640" y="3383280"/>
            <a:ext cx="5120640" cy="987552"/>
          </a:xfrm>
          <a:prstGeom prst="roundRect">
            <a:avLst>
              <a:gd name="adj" fmla="val 11111"/>
            </a:avLst>
          </a:prstGeom>
          <a:solidFill>
            <a:srgbClr val="FFFFFF"/>
          </a:solidFill>
          <a:ln w="12700">
            <a:solidFill>
              <a:srgbClr val="D6E4F7"/>
            </a:solidFill>
            <a:prstDash val="solid"/>
          </a:ln>
        </p:spPr>
      </p:sp>
      <p:sp>
        <p:nvSpPr>
          <p:cNvPr id="14" name="Shape 12"/>
          <p:cNvSpPr/>
          <p:nvPr/>
        </p:nvSpPr>
        <p:spPr>
          <a:xfrm>
            <a:off x="548640" y="3383280"/>
            <a:ext cx="1463040" cy="987552"/>
          </a:xfrm>
          <a:prstGeom prst="roundRect">
            <a:avLst>
              <a:gd name="adj" fmla="val 11111"/>
            </a:avLst>
          </a:prstGeom>
          <a:solidFill>
            <a:srgbClr val="BBD6F7"/>
          </a:solidFill>
          <a:ln w="12700">
            <a:solidFill>
              <a:srgbClr val="BBD6F7"/>
            </a:solidFill>
            <a:prstDash val="solid"/>
          </a:ln>
        </p:spPr>
      </p:sp>
      <p:sp>
        <p:nvSpPr>
          <p:cNvPr id="15" name="Text 13"/>
          <p:cNvSpPr txBox="1"/>
          <p:nvPr/>
        </p:nvSpPr>
        <p:spPr>
          <a:xfrm>
            <a:off x="548640" y="3383280"/>
            <a:ext cx="1463040" cy="987552"/>
          </a:xfrm>
          <a:prstGeom prst="rect">
            <a:avLst/>
          </a:prstGeom>
          <a:noFill/>
          <a:ln/>
        </p:spPr>
        <p:txBody>
          <a:bodyPr wrap="square" lIns="0" tIns="0" rIns="0" bIns="0" rtlCol="0" anchor="ctr"/>
          <a:lstStyle/>
          <a:p>
            <a:pPr algn="ctr" indent="0" marL="0">
              <a:buNone/>
            </a:pPr>
            <a:r>
              <a:rPr lang="en-US" sz="1800" b="1" dirty="0">
                <a:solidFill>
                  <a:srgbClr val="0B2A5B"/>
                </a:solidFill>
                <a:latin typeface="Cambria" pitchFamily="34" charset="0"/>
                <a:ea typeface="Cambria" pitchFamily="34" charset="-122"/>
                <a:cs typeface="Cambria" pitchFamily="34" charset="-120"/>
              </a:rPr>
              <a:t>LOW</a:t>
            </a:r>
            <a:endParaRPr lang="en-US" sz="1300" dirty="0"/>
          </a:p>
          <a:p>
            <a:pPr algn="ctr" indent="0" marL="0">
              <a:buNone/>
            </a:pPr>
            <a:r>
              <a:rPr lang="en-US" sz="1200" dirty="0">
                <a:solidFill>
                  <a:srgbClr val="0B2A5B"/>
                </a:solidFill>
                <a:latin typeface="Calibri" pitchFamily="34" charset="0"/>
                <a:ea typeface="Calibri" pitchFamily="34" charset="-122"/>
                <a:cs typeface="Calibri" pitchFamily="34" charset="-120"/>
              </a:rPr>
              <a:t>0 – 39</a:t>
            </a:r>
            <a:endParaRPr lang="en-US" sz="1300" dirty="0"/>
          </a:p>
        </p:txBody>
      </p:sp>
      <p:sp>
        <p:nvSpPr>
          <p:cNvPr id="16" name="Text 14"/>
          <p:cNvSpPr txBox="1"/>
          <p:nvPr/>
        </p:nvSpPr>
        <p:spPr>
          <a:xfrm>
            <a:off x="2194560" y="3383280"/>
            <a:ext cx="3383280" cy="987552"/>
          </a:xfrm>
          <a:prstGeom prst="rect">
            <a:avLst/>
          </a:prstGeom>
          <a:noFill/>
          <a:ln/>
        </p:spPr>
        <p:txBody>
          <a:bodyPr wrap="square" lIns="0" tIns="0" rIns="0" bIns="0" rtlCol="0" anchor="ctr"/>
          <a:lstStyle/>
          <a:p>
            <a:pPr indent="0" marL="0">
              <a:buNone/>
            </a:pPr>
            <a:r>
              <a:rPr lang="en-US" sz="1200" dirty="0">
                <a:solidFill>
                  <a:srgbClr val="14213D"/>
                </a:solidFill>
                <a:latin typeface="Calibri" pitchFamily="34" charset="0"/>
                <a:ea typeface="Calibri" pitchFamily="34" charset="-122"/>
                <a:cs typeface="Calibri" pitchFamily="34" charset="-120"/>
              </a:rPr>
              <a:t>Status Pending: sent to an administrator.</a:t>
            </a:r>
            <a:endParaRPr lang="en-US" sz="1200" dirty="0"/>
          </a:p>
        </p:txBody>
      </p:sp>
      <p:sp>
        <p:nvSpPr>
          <p:cNvPr id="17" name="Text 15"/>
          <p:cNvSpPr txBox="1"/>
          <p:nvPr/>
        </p:nvSpPr>
        <p:spPr>
          <a:xfrm>
            <a:off x="548640" y="4526280"/>
            <a:ext cx="5120640" cy="457200"/>
          </a:xfrm>
          <a:prstGeom prst="rect">
            <a:avLst/>
          </a:prstGeom>
          <a:noFill/>
          <a:ln/>
        </p:spPr>
        <p:txBody>
          <a:bodyPr wrap="square" lIns="0" tIns="0" rIns="0" bIns="0" rtlCol="0" anchor="t"/>
          <a:lstStyle/>
          <a:p>
            <a:pPr indent="0" marL="0">
              <a:buNone/>
            </a:pPr>
            <a:r>
              <a:rPr lang="en-US" sz="1100" i="1" dirty="0">
                <a:solidFill>
                  <a:srgbClr val="5B6B85"/>
                </a:solidFill>
                <a:latin typeface="Calibri" pitchFamily="34" charset="0"/>
                <a:ea typeface="Calibri" pitchFamily="34" charset="-122"/>
                <a:cs typeface="Calibri" pitchFamily="34" charset="-120"/>
              </a:rPr>
              <a:t>Approved reports appear on every student's Home in real time, and the reporter receives a notification.</a:t>
            </a:r>
            <a:endParaRPr lang="en-US" sz="1100" dirty="0"/>
          </a:p>
        </p:txBody>
      </p:sp>
      <p:pic>
        <p:nvPicPr>
          <p:cNvPr id="18" name="Image 0" descr="pb_result.png">    </p:cNvPr>
          <p:cNvPicPr>
            <a:picLocks noChangeAspect="1"/>
          </p:cNvPicPr>
          <p:nvPr/>
        </p:nvPicPr>
        <p:blipFill>
          <a:blip r:embed="rId1"/>
          <a:stretch>
            <a:fillRect/>
          </a:stretch>
        </p:blipFill>
        <p:spPr>
          <a:xfrm>
            <a:off x="6309360" y="822960"/>
            <a:ext cx="1933731" cy="3931920"/>
          </a:xfrm>
          <a:prstGeom prst="rect">
            <a:avLst/>
          </a:prstGeom>
          <a:effectLst>
            <a:outerShdw sx="100000" sy="100000" kx="0" ky="0" algn="bl" rotWithShape="0" blurRad="152400" dist="50800" dir="5400000">
              <a:srgbClr val="000000">
                <a:alpha val="25000"/>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9FF"/>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E6FD9"/>
          </a:solidFill>
          <a:ln w="12700">
            <a:solidFill>
              <a:srgbClr val="1E6FD9"/>
            </a:solidFill>
            <a:prstDash val="solid"/>
          </a:ln>
        </p:spPr>
      </p:sp>
      <p:sp>
        <p:nvSpPr>
          <p:cNvPr id="3" name="Text 1"/>
          <p:cNvSpPr txBox="1"/>
          <p:nvPr/>
        </p:nvSpPr>
        <p:spPr>
          <a:xfrm>
            <a:off x="548640" y="91440"/>
            <a:ext cx="7680960" cy="228600"/>
          </a:xfrm>
          <a:prstGeom prst="rect">
            <a:avLst/>
          </a:prstGeom>
          <a:noFill/>
          <a:ln/>
        </p:spPr>
        <p:txBody>
          <a:bodyPr wrap="square" lIns="0" tIns="0" rIns="0" bIns="0" rtlCol="0" anchor="ctr"/>
          <a:lstStyle/>
          <a:p>
            <a:pPr indent="0" marL="0">
              <a:buNone/>
            </a:pPr>
            <a:r>
              <a:rPr lang="en-US" sz="900" b="1" spc="200" kern="0" dirty="0">
                <a:solidFill>
                  <a:srgbClr val="1E6FD9"/>
                </a:solidFill>
                <a:latin typeface="Calibri" pitchFamily="34" charset="0"/>
                <a:ea typeface="Calibri" pitchFamily="34" charset="-122"/>
                <a:cs typeface="Calibri" pitchFamily="34" charset="-120"/>
              </a:rPr>
              <a:t>TESTING</a:t>
            </a:r>
            <a:endParaRPr lang="en-US" sz="900" dirty="0"/>
          </a:p>
        </p:txBody>
      </p:sp>
      <p:sp>
        <p:nvSpPr>
          <p:cNvPr id="4" name="Text 2"/>
          <p:cNvSpPr txBox="1"/>
          <p:nvPr/>
        </p:nvSpPr>
        <p:spPr>
          <a:xfrm>
            <a:off x="548640" y="320040"/>
            <a:ext cx="8229600" cy="640080"/>
          </a:xfrm>
          <a:prstGeom prst="rect">
            <a:avLst/>
          </a:prstGeom>
          <a:noFill/>
          <a:ln/>
        </p:spPr>
        <p:txBody>
          <a:bodyPr wrap="square" lIns="0" tIns="0" rIns="0" bIns="0" rtlCol="0" anchor="ctr"/>
          <a:lstStyle/>
          <a:p>
            <a:pPr indent="0" marL="0">
              <a:buNone/>
            </a:pPr>
            <a:r>
              <a:rPr lang="en-US" sz="3000" b="1" dirty="0">
                <a:solidFill>
                  <a:srgbClr val="0B2A5B"/>
                </a:solidFill>
                <a:latin typeface="Cambria" pitchFamily="34" charset="0"/>
                <a:ea typeface="Cambria" pitchFamily="34" charset="-122"/>
                <a:cs typeface="Cambria" pitchFamily="34" charset="-120"/>
              </a:rPr>
              <a:t>Testing the App</a:t>
            </a:r>
            <a:endParaRPr lang="en-US" sz="3000" dirty="0"/>
          </a:p>
        </p:txBody>
      </p:sp>
      <p:sp>
        <p:nvSpPr>
          <p:cNvPr id="5" name="Shape 3"/>
          <p:cNvSpPr/>
          <p:nvPr/>
        </p:nvSpPr>
        <p:spPr>
          <a:xfrm>
            <a:off x="548640" y="1188720"/>
            <a:ext cx="2560320" cy="1417320"/>
          </a:xfrm>
          <a:prstGeom prst="roundRect">
            <a:avLst>
              <a:gd name="adj" fmla="val 7742"/>
            </a:avLst>
          </a:prstGeom>
          <a:solidFill>
            <a:srgbClr val="1E6FD9"/>
          </a:solidFill>
          <a:ln w="12700">
            <a:solidFill>
              <a:srgbClr val="1E6FD9"/>
            </a:solidFill>
            <a:prstDash val="solid"/>
          </a:ln>
        </p:spPr>
      </p:sp>
      <p:sp>
        <p:nvSpPr>
          <p:cNvPr id="6" name="Text 4"/>
          <p:cNvSpPr txBox="1"/>
          <p:nvPr/>
        </p:nvSpPr>
        <p:spPr>
          <a:xfrm>
            <a:off x="731520" y="1188720"/>
            <a:ext cx="2240280" cy="14173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18</a:t>
            </a:r>
            <a:endParaRPr lang="en-US" sz="1300" dirty="0"/>
          </a:p>
          <a:p>
            <a:pPr indent="0" marL="0">
              <a:buNone/>
            </a:pPr>
            <a:r>
              <a:rPr lang="en-US" sz="1200" b="1" dirty="0">
                <a:solidFill>
                  <a:srgbClr val="BBD6F7"/>
                </a:solidFill>
                <a:latin typeface="Calibri" pitchFamily="34" charset="0"/>
                <a:ea typeface="Calibri" pitchFamily="34" charset="-122"/>
                <a:cs typeface="Calibri" pitchFamily="34" charset="-120"/>
              </a:rPr>
              <a:t>scenarios</a:t>
            </a:r>
            <a:endParaRPr lang="en-US" sz="1300" dirty="0"/>
          </a:p>
          <a:p>
            <a:pPr indent="0" marL="0">
              <a:buNone/>
            </a:pPr>
            <a:r>
              <a:rPr lang="en-US" sz="1000" dirty="0">
                <a:solidFill>
                  <a:srgbClr val="FFFFFF"/>
                </a:solidFill>
                <a:latin typeface="Calibri" pitchFamily="34" charset="0"/>
                <a:ea typeface="Calibri" pitchFamily="34" charset="-122"/>
                <a:cs typeface="Calibri" pitchFamily="34" charset="-120"/>
              </a:rPr>
              <a:t>Defined from the behaviour of the code to verify each requirement</a:t>
            </a:r>
            <a:endParaRPr lang="en-US" sz="1300" dirty="0"/>
          </a:p>
        </p:txBody>
      </p:sp>
      <p:sp>
        <p:nvSpPr>
          <p:cNvPr id="7" name="Shape 5"/>
          <p:cNvSpPr/>
          <p:nvPr/>
        </p:nvSpPr>
        <p:spPr>
          <a:xfrm>
            <a:off x="3291840" y="1188720"/>
            <a:ext cx="2560320" cy="1417320"/>
          </a:xfrm>
          <a:prstGeom prst="roundRect">
            <a:avLst>
              <a:gd name="adj" fmla="val 7742"/>
            </a:avLst>
          </a:prstGeom>
          <a:solidFill>
            <a:srgbClr val="0B2A5B"/>
          </a:solidFill>
          <a:ln w="12700">
            <a:solidFill>
              <a:srgbClr val="0B2A5B"/>
            </a:solidFill>
            <a:prstDash val="solid"/>
          </a:ln>
        </p:spPr>
      </p:sp>
      <p:sp>
        <p:nvSpPr>
          <p:cNvPr id="8" name="Text 6"/>
          <p:cNvSpPr txBox="1"/>
          <p:nvPr/>
        </p:nvSpPr>
        <p:spPr>
          <a:xfrm>
            <a:off x="3474720" y="1188720"/>
            <a:ext cx="2240280" cy="14173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6.0+</a:t>
            </a:r>
            <a:endParaRPr lang="en-US" sz="1300" dirty="0"/>
          </a:p>
          <a:p>
            <a:pPr indent="0" marL="0">
              <a:buNone/>
            </a:pPr>
            <a:r>
              <a:rPr lang="en-US" sz="1200" b="1" dirty="0">
                <a:solidFill>
                  <a:srgbClr val="BBD6F7"/>
                </a:solidFill>
                <a:latin typeface="Calibri" pitchFamily="34" charset="0"/>
                <a:ea typeface="Calibri" pitchFamily="34" charset="-122"/>
                <a:cs typeface="Calibri" pitchFamily="34" charset="-120"/>
              </a:rPr>
              <a:t>Android</a:t>
            </a:r>
            <a:endParaRPr lang="en-US" sz="1300" dirty="0"/>
          </a:p>
          <a:p>
            <a:pPr indent="0" marL="0">
              <a:buNone/>
            </a:pPr>
            <a:r>
              <a:rPr lang="en-US" sz="1000" dirty="0">
                <a:solidFill>
                  <a:srgbClr val="FFFFFF"/>
                </a:solidFill>
                <a:latin typeface="Calibri" pitchFamily="34" charset="0"/>
                <a:ea typeface="Calibri" pitchFamily="34" charset="-122"/>
                <a:cs typeface="Calibri" pitchFamily="34" charset="-120"/>
              </a:rPr>
              <a:t>Emulator or physical device running Android 6.0 or later</a:t>
            </a:r>
            <a:endParaRPr lang="en-US" sz="1300" dirty="0"/>
          </a:p>
        </p:txBody>
      </p:sp>
      <p:sp>
        <p:nvSpPr>
          <p:cNvPr id="9" name="Shape 7"/>
          <p:cNvSpPr/>
          <p:nvPr/>
        </p:nvSpPr>
        <p:spPr>
          <a:xfrm>
            <a:off x="6035040" y="1188720"/>
            <a:ext cx="2560320" cy="1417320"/>
          </a:xfrm>
          <a:prstGeom prst="roundRect">
            <a:avLst>
              <a:gd name="adj" fmla="val 7742"/>
            </a:avLst>
          </a:prstGeom>
          <a:solidFill>
            <a:srgbClr val="1E6FD9"/>
          </a:solidFill>
          <a:ln w="12700">
            <a:solidFill>
              <a:srgbClr val="1E6FD9"/>
            </a:solidFill>
            <a:prstDash val="solid"/>
          </a:ln>
        </p:spPr>
      </p:sp>
      <p:sp>
        <p:nvSpPr>
          <p:cNvPr id="10" name="Text 8"/>
          <p:cNvSpPr txBox="1"/>
          <p:nvPr/>
        </p:nvSpPr>
        <p:spPr>
          <a:xfrm>
            <a:off x="6217920" y="1188720"/>
            <a:ext cx="2240280" cy="14173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Online</a:t>
            </a:r>
            <a:endParaRPr lang="en-US" sz="1300" dirty="0"/>
          </a:p>
          <a:p>
            <a:pPr indent="0" marL="0">
              <a:buNone/>
            </a:pPr>
            <a:r>
              <a:rPr lang="en-US" sz="1200" b="1" dirty="0">
                <a:solidFill>
                  <a:srgbClr val="BBD6F7"/>
                </a:solidFill>
                <a:latin typeface="Calibri" pitchFamily="34" charset="0"/>
                <a:ea typeface="Calibri" pitchFamily="34" charset="-122"/>
                <a:cs typeface="Calibri" pitchFamily="34" charset="-120"/>
              </a:rPr>
              <a:t>internet needed</a:t>
            </a:r>
            <a:endParaRPr lang="en-US" sz="1300" dirty="0"/>
          </a:p>
          <a:p>
            <a:pPr indent="0" marL="0">
              <a:buNone/>
            </a:pPr>
            <a:r>
              <a:rPr lang="en-US" sz="1000" dirty="0">
                <a:solidFill>
                  <a:srgbClr val="FFFFFF"/>
                </a:solidFill>
                <a:latin typeface="Calibri" pitchFamily="34" charset="0"/>
                <a:ea typeface="Calibri" pitchFamily="34" charset="-122"/>
                <a:cs typeface="Calibri" pitchFamily="34" charset="-120"/>
              </a:rPr>
              <a:t>Scenarios need an internet connection</a:t>
            </a:r>
            <a:endParaRPr lang="en-US" sz="1300" dirty="0"/>
          </a:p>
        </p:txBody>
      </p:sp>
      <p:sp>
        <p:nvSpPr>
          <p:cNvPr id="11" name="Text 9"/>
          <p:cNvSpPr txBox="1"/>
          <p:nvPr/>
        </p:nvSpPr>
        <p:spPr>
          <a:xfrm>
            <a:off x="548640" y="2788920"/>
            <a:ext cx="5486400" cy="274320"/>
          </a:xfrm>
          <a:prstGeom prst="rect">
            <a:avLst/>
          </a:prstGeom>
          <a:noFill/>
          <a:ln/>
        </p:spPr>
        <p:txBody>
          <a:bodyPr wrap="square" lIns="0" tIns="0" rIns="0" bIns="0" rtlCol="0" anchor="ctr"/>
          <a:lstStyle/>
          <a:p>
            <a:pPr indent="0" marL="0">
              <a:buNone/>
            </a:pPr>
            <a:r>
              <a:rPr lang="en-US" sz="1300" b="1" dirty="0">
                <a:solidFill>
                  <a:srgbClr val="0B2A5B"/>
                </a:solidFill>
                <a:latin typeface="Calibri" pitchFamily="34" charset="0"/>
                <a:ea typeface="Calibri" pitchFamily="34" charset="-122"/>
                <a:cs typeface="Calibri" pitchFamily="34" charset="-120"/>
              </a:rPr>
              <a:t>What the scenarios cover</a:t>
            </a:r>
            <a:endParaRPr lang="en-US" sz="1300" dirty="0"/>
          </a:p>
        </p:txBody>
      </p:sp>
      <p:sp>
        <p:nvSpPr>
          <p:cNvPr id="12" name="Shape 10"/>
          <p:cNvSpPr/>
          <p:nvPr/>
        </p:nvSpPr>
        <p:spPr>
          <a:xfrm>
            <a:off x="548640" y="3154680"/>
            <a:ext cx="2560320" cy="713232"/>
          </a:xfrm>
          <a:prstGeom prst="roundRect">
            <a:avLst>
              <a:gd name="adj" fmla="val 15385"/>
            </a:avLst>
          </a:prstGeom>
          <a:solidFill>
            <a:srgbClr val="FFFFFF"/>
          </a:solidFill>
          <a:ln w="12700">
            <a:solidFill>
              <a:srgbClr val="D6E4F7"/>
            </a:solidFill>
            <a:prstDash val="solid"/>
          </a:ln>
        </p:spPr>
      </p:sp>
      <p:sp>
        <p:nvSpPr>
          <p:cNvPr id="13" name="Shape 11"/>
          <p:cNvSpPr/>
          <p:nvPr/>
        </p:nvSpPr>
        <p:spPr>
          <a:xfrm>
            <a:off x="658368" y="3282696"/>
            <a:ext cx="457200" cy="457200"/>
          </a:xfrm>
          <a:prstGeom prst="ellipse">
            <a:avLst/>
          </a:prstGeom>
          <a:solidFill>
            <a:srgbClr val="1E6FD9"/>
          </a:solidFill>
          <a:ln w="12700">
            <a:solidFill>
              <a:srgbClr val="1E6FD9"/>
            </a:solidFill>
            <a:prstDash val="solid"/>
          </a:ln>
        </p:spPr>
      </p:sp>
      <p:pic>
        <p:nvPicPr>
          <p:cNvPr id="14" name="Image 0" descr="preencoded.png">    </p:cNvPr>
          <p:cNvPicPr>
            <a:picLocks noChangeAspect="1"/>
          </p:cNvPicPr>
          <p:nvPr/>
        </p:nvPicPr>
        <p:blipFill>
          <a:blip r:embed="rId1"/>
          <a:stretch>
            <a:fillRect/>
          </a:stretch>
        </p:blipFill>
        <p:spPr>
          <a:xfrm>
            <a:off x="772668" y="3396996"/>
            <a:ext cx="228600" cy="228600"/>
          </a:xfrm>
          <a:prstGeom prst="rect">
            <a:avLst/>
          </a:prstGeom>
        </p:spPr>
      </p:pic>
      <p:sp>
        <p:nvSpPr>
          <p:cNvPr id="15" name="Text 12"/>
          <p:cNvSpPr txBox="1"/>
          <p:nvPr/>
        </p:nvSpPr>
        <p:spPr>
          <a:xfrm>
            <a:off x="1234440" y="3154680"/>
            <a:ext cx="1828800" cy="713232"/>
          </a:xfrm>
          <a:prstGeom prst="rect">
            <a:avLst/>
          </a:prstGeom>
          <a:noFill/>
          <a:ln/>
        </p:spPr>
        <p:txBody>
          <a:bodyPr wrap="square" lIns="0" tIns="0" rIns="0" bIns="0" rtlCol="0" anchor="ctr"/>
          <a:lstStyle/>
          <a:p>
            <a:pPr indent="0" marL="0">
              <a:buNone/>
            </a:pPr>
            <a:r>
              <a:rPr lang="en-US" sz="1150" b="1" dirty="0">
                <a:solidFill>
                  <a:srgbClr val="0B2A5B"/>
                </a:solidFill>
                <a:latin typeface="Calibri" pitchFamily="34" charset="0"/>
                <a:ea typeface="Calibri" pitchFamily="34" charset="-122"/>
                <a:cs typeface="Calibri" pitchFamily="34" charset="-120"/>
              </a:rPr>
              <a:t>Accounts and login</a:t>
            </a:r>
            <a:endParaRPr lang="en-US" sz="1300" dirty="0"/>
          </a:p>
          <a:p>
            <a:pPr indent="0" marL="0">
              <a:buNone/>
            </a:pPr>
            <a:r>
              <a:rPr lang="en-US" sz="1000" dirty="0">
                <a:solidFill>
                  <a:srgbClr val="5B6B85"/>
                </a:solidFill>
                <a:latin typeface="Calibri" pitchFamily="34" charset="0"/>
                <a:ea typeface="Calibri" pitchFamily="34" charset="-122"/>
                <a:cs typeface="Calibri" pitchFamily="34" charset="-120"/>
              </a:rPr>
              <a:t>Scenarios 1–5</a:t>
            </a:r>
            <a:endParaRPr lang="en-US" sz="1300" dirty="0"/>
          </a:p>
        </p:txBody>
      </p:sp>
      <p:sp>
        <p:nvSpPr>
          <p:cNvPr id="16" name="Shape 13"/>
          <p:cNvSpPr/>
          <p:nvPr/>
        </p:nvSpPr>
        <p:spPr>
          <a:xfrm>
            <a:off x="3291840" y="3154680"/>
            <a:ext cx="2560320" cy="713232"/>
          </a:xfrm>
          <a:prstGeom prst="roundRect">
            <a:avLst>
              <a:gd name="adj" fmla="val 15385"/>
            </a:avLst>
          </a:prstGeom>
          <a:solidFill>
            <a:srgbClr val="FFFFFF"/>
          </a:solidFill>
          <a:ln w="12700">
            <a:solidFill>
              <a:srgbClr val="D6E4F7"/>
            </a:solidFill>
            <a:prstDash val="solid"/>
          </a:ln>
        </p:spPr>
      </p:sp>
      <p:sp>
        <p:nvSpPr>
          <p:cNvPr id="17" name="Shape 14"/>
          <p:cNvSpPr/>
          <p:nvPr/>
        </p:nvSpPr>
        <p:spPr>
          <a:xfrm>
            <a:off x="3401568" y="3282696"/>
            <a:ext cx="457200" cy="457200"/>
          </a:xfrm>
          <a:prstGeom prst="ellipse">
            <a:avLst/>
          </a:prstGeom>
          <a:solidFill>
            <a:srgbClr val="3B9CF0"/>
          </a:solidFill>
          <a:ln w="12700">
            <a:solidFill>
              <a:srgbClr val="3B9CF0"/>
            </a:solidFill>
            <a:prstDash val="solid"/>
          </a:ln>
        </p:spPr>
      </p:sp>
      <p:pic>
        <p:nvPicPr>
          <p:cNvPr id="18" name="Image 1" descr="preencoded.png">    </p:cNvPr>
          <p:cNvPicPr>
            <a:picLocks noChangeAspect="1"/>
          </p:cNvPicPr>
          <p:nvPr/>
        </p:nvPicPr>
        <p:blipFill>
          <a:blip r:embed="rId2"/>
          <a:stretch>
            <a:fillRect/>
          </a:stretch>
        </p:blipFill>
        <p:spPr>
          <a:xfrm>
            <a:off x="3515868" y="3396996"/>
            <a:ext cx="228600" cy="228600"/>
          </a:xfrm>
          <a:prstGeom prst="rect">
            <a:avLst/>
          </a:prstGeom>
        </p:spPr>
      </p:pic>
      <p:sp>
        <p:nvSpPr>
          <p:cNvPr id="19" name="Text 15"/>
          <p:cNvSpPr txBox="1"/>
          <p:nvPr/>
        </p:nvSpPr>
        <p:spPr>
          <a:xfrm>
            <a:off x="3977640" y="3154680"/>
            <a:ext cx="1828800" cy="713232"/>
          </a:xfrm>
          <a:prstGeom prst="rect">
            <a:avLst/>
          </a:prstGeom>
          <a:noFill/>
          <a:ln/>
        </p:spPr>
        <p:txBody>
          <a:bodyPr wrap="square" lIns="0" tIns="0" rIns="0" bIns="0" rtlCol="0" anchor="ctr"/>
          <a:lstStyle/>
          <a:p>
            <a:pPr indent="0" marL="0">
              <a:buNone/>
            </a:pPr>
            <a:r>
              <a:rPr lang="en-US" sz="1150" b="1" dirty="0">
                <a:solidFill>
                  <a:srgbClr val="0B2A5B"/>
                </a:solidFill>
                <a:latin typeface="Calibri" pitchFamily="34" charset="0"/>
                <a:ea typeface="Calibri" pitchFamily="34" charset="-122"/>
                <a:cs typeface="Calibri" pitchFamily="34" charset="-120"/>
              </a:rPr>
              <a:t>Administrator roles</a:t>
            </a:r>
            <a:endParaRPr lang="en-US" sz="1300" dirty="0"/>
          </a:p>
          <a:p>
            <a:pPr indent="0" marL="0">
              <a:buNone/>
            </a:pPr>
            <a:r>
              <a:rPr lang="en-US" sz="1000" dirty="0">
                <a:solidFill>
                  <a:srgbClr val="5B6B85"/>
                </a:solidFill>
                <a:latin typeface="Calibri" pitchFamily="34" charset="0"/>
                <a:ea typeface="Calibri" pitchFamily="34" charset="-122"/>
                <a:cs typeface="Calibri" pitchFamily="34" charset="-120"/>
              </a:rPr>
              <a:t>Scenarios 6–8, 17</a:t>
            </a:r>
            <a:endParaRPr lang="en-US" sz="1300" dirty="0"/>
          </a:p>
        </p:txBody>
      </p:sp>
      <p:sp>
        <p:nvSpPr>
          <p:cNvPr id="20" name="Shape 16"/>
          <p:cNvSpPr/>
          <p:nvPr/>
        </p:nvSpPr>
        <p:spPr>
          <a:xfrm>
            <a:off x="6035040" y="3154680"/>
            <a:ext cx="2560320" cy="713232"/>
          </a:xfrm>
          <a:prstGeom prst="roundRect">
            <a:avLst>
              <a:gd name="adj" fmla="val 15385"/>
            </a:avLst>
          </a:prstGeom>
          <a:solidFill>
            <a:srgbClr val="FFFFFF"/>
          </a:solidFill>
          <a:ln w="12700">
            <a:solidFill>
              <a:srgbClr val="D6E4F7"/>
            </a:solidFill>
            <a:prstDash val="solid"/>
          </a:ln>
        </p:spPr>
      </p:sp>
      <p:sp>
        <p:nvSpPr>
          <p:cNvPr id="21" name="Shape 17"/>
          <p:cNvSpPr/>
          <p:nvPr/>
        </p:nvSpPr>
        <p:spPr>
          <a:xfrm>
            <a:off x="6144768" y="3282696"/>
            <a:ext cx="457200" cy="457200"/>
          </a:xfrm>
          <a:prstGeom prst="ellipse">
            <a:avLst/>
          </a:prstGeom>
          <a:solidFill>
            <a:srgbClr val="1E6FD9"/>
          </a:solidFill>
          <a:ln w="12700">
            <a:solidFill>
              <a:srgbClr val="1E6FD9"/>
            </a:solidFill>
            <a:prstDash val="solid"/>
          </a:ln>
        </p:spPr>
      </p:sp>
      <p:pic>
        <p:nvPicPr>
          <p:cNvPr id="22" name="Image 2" descr="preencoded.png">    </p:cNvPr>
          <p:cNvPicPr>
            <a:picLocks noChangeAspect="1"/>
          </p:cNvPicPr>
          <p:nvPr/>
        </p:nvPicPr>
        <p:blipFill>
          <a:blip r:embed="rId3"/>
          <a:stretch>
            <a:fillRect/>
          </a:stretch>
        </p:blipFill>
        <p:spPr>
          <a:xfrm>
            <a:off x="6259068" y="3396996"/>
            <a:ext cx="228600" cy="228600"/>
          </a:xfrm>
          <a:prstGeom prst="rect">
            <a:avLst/>
          </a:prstGeom>
        </p:spPr>
      </p:pic>
      <p:sp>
        <p:nvSpPr>
          <p:cNvPr id="23" name="Text 18"/>
          <p:cNvSpPr txBox="1"/>
          <p:nvPr/>
        </p:nvSpPr>
        <p:spPr>
          <a:xfrm>
            <a:off x="6720840" y="3154680"/>
            <a:ext cx="1828800" cy="713232"/>
          </a:xfrm>
          <a:prstGeom prst="rect">
            <a:avLst/>
          </a:prstGeom>
          <a:noFill/>
          <a:ln/>
        </p:spPr>
        <p:txBody>
          <a:bodyPr wrap="square" lIns="0" tIns="0" rIns="0" bIns="0" rtlCol="0" anchor="ctr"/>
          <a:lstStyle/>
          <a:p>
            <a:pPr indent="0" marL="0">
              <a:buNone/>
            </a:pPr>
            <a:r>
              <a:rPr lang="en-US" sz="1150" b="1" dirty="0">
                <a:solidFill>
                  <a:srgbClr val="0B2A5B"/>
                </a:solidFill>
                <a:latin typeface="Calibri" pitchFamily="34" charset="0"/>
                <a:ea typeface="Calibri" pitchFamily="34" charset="-122"/>
                <a:cs typeface="Calibri" pitchFamily="34" charset="-120"/>
              </a:rPr>
              <a:t>Reporting and AI priority</a:t>
            </a:r>
            <a:endParaRPr lang="en-US" sz="1300" dirty="0"/>
          </a:p>
          <a:p>
            <a:pPr indent="0" marL="0">
              <a:buNone/>
            </a:pPr>
            <a:r>
              <a:rPr lang="en-US" sz="1000" dirty="0">
                <a:solidFill>
                  <a:srgbClr val="5B6B85"/>
                </a:solidFill>
                <a:latin typeface="Calibri" pitchFamily="34" charset="0"/>
                <a:ea typeface="Calibri" pitchFamily="34" charset="-122"/>
                <a:cs typeface="Calibri" pitchFamily="34" charset="-120"/>
              </a:rPr>
              <a:t>Scenarios 9–12</a:t>
            </a:r>
            <a:endParaRPr lang="en-US" sz="1300" dirty="0"/>
          </a:p>
        </p:txBody>
      </p:sp>
      <p:sp>
        <p:nvSpPr>
          <p:cNvPr id="24" name="Shape 19"/>
          <p:cNvSpPr/>
          <p:nvPr/>
        </p:nvSpPr>
        <p:spPr>
          <a:xfrm>
            <a:off x="548640" y="3977640"/>
            <a:ext cx="2560320" cy="713232"/>
          </a:xfrm>
          <a:prstGeom prst="roundRect">
            <a:avLst>
              <a:gd name="adj" fmla="val 15385"/>
            </a:avLst>
          </a:prstGeom>
          <a:solidFill>
            <a:srgbClr val="FFFFFF"/>
          </a:solidFill>
          <a:ln w="12700">
            <a:solidFill>
              <a:srgbClr val="D6E4F7"/>
            </a:solidFill>
            <a:prstDash val="solid"/>
          </a:ln>
        </p:spPr>
      </p:sp>
      <p:sp>
        <p:nvSpPr>
          <p:cNvPr id="25" name="Shape 20"/>
          <p:cNvSpPr/>
          <p:nvPr/>
        </p:nvSpPr>
        <p:spPr>
          <a:xfrm>
            <a:off x="658368" y="4105656"/>
            <a:ext cx="457200" cy="457200"/>
          </a:xfrm>
          <a:prstGeom prst="ellipse">
            <a:avLst/>
          </a:prstGeom>
          <a:solidFill>
            <a:srgbClr val="3B9CF0"/>
          </a:solidFill>
          <a:ln w="12700">
            <a:solidFill>
              <a:srgbClr val="3B9CF0"/>
            </a:solidFill>
            <a:prstDash val="solid"/>
          </a:ln>
        </p:spPr>
      </p:sp>
      <p:pic>
        <p:nvPicPr>
          <p:cNvPr id="26" name="Image 3" descr="preencoded.png">    </p:cNvPr>
          <p:cNvPicPr>
            <a:picLocks noChangeAspect="1"/>
          </p:cNvPicPr>
          <p:nvPr/>
        </p:nvPicPr>
        <p:blipFill>
          <a:blip r:embed="rId4"/>
          <a:stretch>
            <a:fillRect/>
          </a:stretch>
        </p:blipFill>
        <p:spPr>
          <a:xfrm>
            <a:off x="772668" y="4219956"/>
            <a:ext cx="228600" cy="228600"/>
          </a:xfrm>
          <a:prstGeom prst="rect">
            <a:avLst/>
          </a:prstGeom>
        </p:spPr>
      </p:pic>
      <p:sp>
        <p:nvSpPr>
          <p:cNvPr id="27" name="Text 21"/>
          <p:cNvSpPr txBox="1"/>
          <p:nvPr/>
        </p:nvSpPr>
        <p:spPr>
          <a:xfrm>
            <a:off x="1234440" y="3977640"/>
            <a:ext cx="1828800" cy="713232"/>
          </a:xfrm>
          <a:prstGeom prst="rect">
            <a:avLst/>
          </a:prstGeom>
          <a:noFill/>
          <a:ln/>
        </p:spPr>
        <p:txBody>
          <a:bodyPr wrap="square" lIns="0" tIns="0" rIns="0" bIns="0" rtlCol="0" anchor="ctr"/>
          <a:lstStyle/>
          <a:p>
            <a:pPr indent="0" marL="0">
              <a:buNone/>
            </a:pPr>
            <a:r>
              <a:rPr lang="en-US" sz="1150" b="1" dirty="0">
                <a:solidFill>
                  <a:srgbClr val="0B2A5B"/>
                </a:solidFill>
                <a:latin typeface="Calibri" pitchFamily="34" charset="0"/>
                <a:ea typeface="Calibri" pitchFamily="34" charset="-122"/>
                <a:cs typeface="Calibri" pitchFamily="34" charset="-120"/>
              </a:rPr>
              <a:t>Search and categories</a:t>
            </a:r>
            <a:endParaRPr lang="en-US" sz="1300" dirty="0"/>
          </a:p>
          <a:p>
            <a:pPr indent="0" marL="0">
              <a:buNone/>
            </a:pPr>
            <a:r>
              <a:rPr lang="en-US" sz="1000" dirty="0">
                <a:solidFill>
                  <a:srgbClr val="5B6B85"/>
                </a:solidFill>
                <a:latin typeface="Calibri" pitchFamily="34" charset="0"/>
                <a:ea typeface="Calibri" pitchFamily="34" charset="-122"/>
                <a:cs typeface="Calibri" pitchFamily="34" charset="-120"/>
              </a:rPr>
              <a:t>Scenarios 13–14</a:t>
            </a:r>
            <a:endParaRPr lang="en-US" sz="1300" dirty="0"/>
          </a:p>
        </p:txBody>
      </p:sp>
      <p:sp>
        <p:nvSpPr>
          <p:cNvPr id="28" name="Shape 22"/>
          <p:cNvSpPr/>
          <p:nvPr/>
        </p:nvSpPr>
        <p:spPr>
          <a:xfrm>
            <a:off x="3291840" y="3977640"/>
            <a:ext cx="2560320" cy="713232"/>
          </a:xfrm>
          <a:prstGeom prst="roundRect">
            <a:avLst>
              <a:gd name="adj" fmla="val 15385"/>
            </a:avLst>
          </a:prstGeom>
          <a:solidFill>
            <a:srgbClr val="FFFFFF"/>
          </a:solidFill>
          <a:ln w="12700">
            <a:solidFill>
              <a:srgbClr val="D6E4F7"/>
            </a:solidFill>
            <a:prstDash val="solid"/>
          </a:ln>
        </p:spPr>
      </p:sp>
      <p:sp>
        <p:nvSpPr>
          <p:cNvPr id="29" name="Shape 23"/>
          <p:cNvSpPr/>
          <p:nvPr/>
        </p:nvSpPr>
        <p:spPr>
          <a:xfrm>
            <a:off x="3401568" y="4105656"/>
            <a:ext cx="457200" cy="457200"/>
          </a:xfrm>
          <a:prstGeom prst="ellipse">
            <a:avLst/>
          </a:prstGeom>
          <a:solidFill>
            <a:srgbClr val="1E6FD9"/>
          </a:solidFill>
          <a:ln w="12700">
            <a:solidFill>
              <a:srgbClr val="1E6FD9"/>
            </a:solidFill>
            <a:prstDash val="solid"/>
          </a:ln>
        </p:spPr>
      </p:sp>
      <p:pic>
        <p:nvPicPr>
          <p:cNvPr id="30" name="Image 4" descr="preencoded.png">    </p:cNvPr>
          <p:cNvPicPr>
            <a:picLocks noChangeAspect="1"/>
          </p:cNvPicPr>
          <p:nvPr/>
        </p:nvPicPr>
        <p:blipFill>
          <a:blip r:embed="rId5"/>
          <a:stretch>
            <a:fillRect/>
          </a:stretch>
        </p:blipFill>
        <p:spPr>
          <a:xfrm>
            <a:off x="3515868" y="4219956"/>
            <a:ext cx="228600" cy="228600"/>
          </a:xfrm>
          <a:prstGeom prst="rect">
            <a:avLst/>
          </a:prstGeom>
        </p:spPr>
      </p:pic>
      <p:sp>
        <p:nvSpPr>
          <p:cNvPr id="31" name="Text 24"/>
          <p:cNvSpPr txBox="1"/>
          <p:nvPr/>
        </p:nvSpPr>
        <p:spPr>
          <a:xfrm>
            <a:off x="3977640" y="3977640"/>
            <a:ext cx="1828800" cy="713232"/>
          </a:xfrm>
          <a:prstGeom prst="rect">
            <a:avLst/>
          </a:prstGeom>
          <a:noFill/>
          <a:ln/>
        </p:spPr>
        <p:txBody>
          <a:bodyPr wrap="square" lIns="0" tIns="0" rIns="0" bIns="0" rtlCol="0" anchor="ctr"/>
          <a:lstStyle/>
          <a:p>
            <a:pPr indent="0" marL="0">
              <a:buNone/>
            </a:pPr>
            <a:r>
              <a:rPr lang="en-US" sz="1150" b="1" dirty="0">
                <a:solidFill>
                  <a:srgbClr val="0B2A5B"/>
                </a:solidFill>
                <a:latin typeface="Calibri" pitchFamily="34" charset="0"/>
                <a:ea typeface="Calibri" pitchFamily="34" charset="-122"/>
                <a:cs typeface="Calibri" pitchFamily="34" charset="-120"/>
              </a:rPr>
              <a:t>Resolve and messaging</a:t>
            </a:r>
            <a:endParaRPr lang="en-US" sz="1300" dirty="0"/>
          </a:p>
          <a:p>
            <a:pPr indent="0" marL="0">
              <a:buNone/>
            </a:pPr>
            <a:r>
              <a:rPr lang="en-US" sz="1000" dirty="0">
                <a:solidFill>
                  <a:srgbClr val="5B6B85"/>
                </a:solidFill>
                <a:latin typeface="Calibri" pitchFamily="34" charset="0"/>
                <a:ea typeface="Calibri" pitchFamily="34" charset="-122"/>
                <a:cs typeface="Calibri" pitchFamily="34" charset="-120"/>
              </a:rPr>
              <a:t>Scenarios 15–16</a:t>
            </a:r>
            <a:endParaRPr lang="en-US" sz="1300" dirty="0"/>
          </a:p>
        </p:txBody>
      </p:sp>
      <p:sp>
        <p:nvSpPr>
          <p:cNvPr id="32" name="Shape 25"/>
          <p:cNvSpPr/>
          <p:nvPr/>
        </p:nvSpPr>
        <p:spPr>
          <a:xfrm>
            <a:off x="6035040" y="3977640"/>
            <a:ext cx="2560320" cy="713232"/>
          </a:xfrm>
          <a:prstGeom prst="roundRect">
            <a:avLst>
              <a:gd name="adj" fmla="val 15385"/>
            </a:avLst>
          </a:prstGeom>
          <a:solidFill>
            <a:srgbClr val="FFFFFF"/>
          </a:solidFill>
          <a:ln w="12700">
            <a:solidFill>
              <a:srgbClr val="D6E4F7"/>
            </a:solidFill>
            <a:prstDash val="solid"/>
          </a:ln>
        </p:spPr>
      </p:sp>
      <p:sp>
        <p:nvSpPr>
          <p:cNvPr id="33" name="Shape 26"/>
          <p:cNvSpPr/>
          <p:nvPr/>
        </p:nvSpPr>
        <p:spPr>
          <a:xfrm>
            <a:off x="6144768" y="4105656"/>
            <a:ext cx="457200" cy="457200"/>
          </a:xfrm>
          <a:prstGeom prst="ellipse">
            <a:avLst/>
          </a:prstGeom>
          <a:solidFill>
            <a:srgbClr val="3B9CF0"/>
          </a:solidFill>
          <a:ln w="12700">
            <a:solidFill>
              <a:srgbClr val="3B9CF0"/>
            </a:solidFill>
            <a:prstDash val="solid"/>
          </a:ln>
        </p:spPr>
      </p:sp>
      <p:pic>
        <p:nvPicPr>
          <p:cNvPr id="34" name="Image 5" descr="preencoded.png">    </p:cNvPr>
          <p:cNvPicPr>
            <a:picLocks noChangeAspect="1"/>
          </p:cNvPicPr>
          <p:nvPr/>
        </p:nvPicPr>
        <p:blipFill>
          <a:blip r:embed="rId6"/>
          <a:stretch>
            <a:fillRect/>
          </a:stretch>
        </p:blipFill>
        <p:spPr>
          <a:xfrm>
            <a:off x="6259068" y="4219956"/>
            <a:ext cx="228600" cy="228600"/>
          </a:xfrm>
          <a:prstGeom prst="rect">
            <a:avLst/>
          </a:prstGeom>
        </p:spPr>
      </p:pic>
      <p:sp>
        <p:nvSpPr>
          <p:cNvPr id="35" name="Text 27"/>
          <p:cNvSpPr txBox="1"/>
          <p:nvPr/>
        </p:nvSpPr>
        <p:spPr>
          <a:xfrm>
            <a:off x="6720840" y="3977640"/>
            <a:ext cx="1828800" cy="713232"/>
          </a:xfrm>
          <a:prstGeom prst="rect">
            <a:avLst/>
          </a:prstGeom>
          <a:noFill/>
          <a:ln/>
        </p:spPr>
        <p:txBody>
          <a:bodyPr wrap="square" lIns="0" tIns="0" rIns="0" bIns="0" rtlCol="0" anchor="ctr"/>
          <a:lstStyle/>
          <a:p>
            <a:pPr indent="0" marL="0">
              <a:buNone/>
            </a:pPr>
            <a:r>
              <a:rPr lang="en-US" sz="1150" b="1" dirty="0">
                <a:solidFill>
                  <a:srgbClr val="0B2A5B"/>
                </a:solidFill>
                <a:latin typeface="Calibri" pitchFamily="34" charset="0"/>
                <a:ea typeface="Calibri" pitchFamily="34" charset="-122"/>
                <a:cs typeface="Calibri" pitchFamily="34" charset="-120"/>
              </a:rPr>
              <a:t>Session and navigation</a:t>
            </a:r>
            <a:endParaRPr lang="en-US" sz="1300" dirty="0"/>
          </a:p>
          <a:p>
            <a:pPr indent="0" marL="0">
              <a:buNone/>
            </a:pPr>
            <a:r>
              <a:rPr lang="en-US" sz="1000" dirty="0">
                <a:solidFill>
                  <a:srgbClr val="5B6B85"/>
                </a:solidFill>
                <a:latin typeface="Calibri" pitchFamily="34" charset="0"/>
                <a:ea typeface="Calibri" pitchFamily="34" charset="-122"/>
                <a:cs typeface="Calibri" pitchFamily="34" charset="-120"/>
              </a:rPr>
              <a:t>Scenario 18</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9FF"/>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E6FD9"/>
          </a:solidFill>
          <a:ln w="12700">
            <a:solidFill>
              <a:srgbClr val="1E6FD9"/>
            </a:solidFill>
            <a:prstDash val="solid"/>
          </a:ln>
        </p:spPr>
      </p:sp>
      <p:sp>
        <p:nvSpPr>
          <p:cNvPr id="3" name="Text 1"/>
          <p:cNvSpPr txBox="1"/>
          <p:nvPr/>
        </p:nvSpPr>
        <p:spPr>
          <a:xfrm>
            <a:off x="548640" y="91440"/>
            <a:ext cx="7680960" cy="228600"/>
          </a:xfrm>
          <a:prstGeom prst="rect">
            <a:avLst/>
          </a:prstGeom>
          <a:noFill/>
          <a:ln/>
        </p:spPr>
        <p:txBody>
          <a:bodyPr wrap="square" lIns="0" tIns="0" rIns="0" bIns="0" rtlCol="0" anchor="ctr"/>
          <a:lstStyle/>
          <a:p>
            <a:pPr indent="0" marL="0">
              <a:buNone/>
            </a:pPr>
            <a:r>
              <a:rPr lang="en-US" sz="900" b="1" spc="200" kern="0" dirty="0">
                <a:solidFill>
                  <a:srgbClr val="1E6FD9"/>
                </a:solidFill>
                <a:latin typeface="Calibri" pitchFamily="34" charset="0"/>
                <a:ea typeface="Calibri" pitchFamily="34" charset="-122"/>
                <a:cs typeface="Calibri" pitchFamily="34" charset="-120"/>
              </a:rPr>
              <a:t>TESTING</a:t>
            </a:r>
            <a:endParaRPr lang="en-US" sz="900" dirty="0"/>
          </a:p>
        </p:txBody>
      </p:sp>
      <p:sp>
        <p:nvSpPr>
          <p:cNvPr id="4" name="Text 2"/>
          <p:cNvSpPr txBox="1"/>
          <p:nvPr/>
        </p:nvSpPr>
        <p:spPr>
          <a:xfrm>
            <a:off x="548640" y="320040"/>
            <a:ext cx="8229600" cy="640080"/>
          </a:xfrm>
          <a:prstGeom prst="rect">
            <a:avLst/>
          </a:prstGeom>
          <a:noFill/>
          <a:ln/>
        </p:spPr>
        <p:txBody>
          <a:bodyPr wrap="square" lIns="0" tIns="0" rIns="0" bIns="0" rtlCol="0" anchor="ctr"/>
          <a:lstStyle/>
          <a:p>
            <a:pPr indent="0" marL="0">
              <a:buNone/>
            </a:pPr>
            <a:r>
              <a:rPr lang="en-US" sz="3000" b="1" dirty="0">
                <a:solidFill>
                  <a:srgbClr val="0B2A5B"/>
                </a:solidFill>
                <a:latin typeface="Cambria" pitchFamily="34" charset="0"/>
                <a:ea typeface="Cambria" pitchFamily="34" charset="-122"/>
                <a:cs typeface="Cambria" pitchFamily="34" charset="-120"/>
              </a:rPr>
              <a:t>Test Scenarios 1–9</a:t>
            </a:r>
            <a:endParaRPr lang="en-US" sz="3000" dirty="0"/>
          </a:p>
        </p:txBody>
      </p:sp>
      <p:sp>
        <p:nvSpPr>
          <p:cNvPr id="5" name="Text 3"/>
          <p:cNvSpPr txBox="1"/>
          <p:nvPr/>
        </p:nvSpPr>
        <p:spPr>
          <a:xfrm>
            <a:off x="1005840" y="1005840"/>
            <a:ext cx="3383280" cy="228600"/>
          </a:xfrm>
          <a:prstGeom prst="rect">
            <a:avLst/>
          </a:prstGeom>
          <a:noFill/>
          <a:ln/>
        </p:spPr>
        <p:txBody>
          <a:bodyPr wrap="square" lIns="0" tIns="0" rIns="0" bIns="0" rtlCol="0" anchor="ctr"/>
          <a:lstStyle/>
          <a:p>
            <a:pPr indent="0" marL="0">
              <a:buNone/>
            </a:pPr>
            <a:r>
              <a:rPr lang="en-US" sz="950" b="1" dirty="0">
                <a:solidFill>
                  <a:srgbClr val="5B6B85"/>
                </a:solidFill>
                <a:latin typeface="Calibri" pitchFamily="34" charset="0"/>
                <a:ea typeface="Calibri" pitchFamily="34" charset="-122"/>
                <a:cs typeface="Calibri" pitchFamily="34" charset="-120"/>
              </a:rPr>
              <a:t>Scenario</a:t>
            </a:r>
            <a:endParaRPr lang="en-US" sz="950" dirty="0"/>
          </a:p>
        </p:txBody>
      </p:sp>
      <p:sp>
        <p:nvSpPr>
          <p:cNvPr id="6" name="Text 4"/>
          <p:cNvSpPr txBox="1"/>
          <p:nvPr/>
        </p:nvSpPr>
        <p:spPr>
          <a:xfrm>
            <a:off x="4572000" y="1005840"/>
            <a:ext cx="3931920" cy="228600"/>
          </a:xfrm>
          <a:prstGeom prst="rect">
            <a:avLst/>
          </a:prstGeom>
          <a:noFill/>
          <a:ln/>
        </p:spPr>
        <p:txBody>
          <a:bodyPr wrap="square" lIns="0" tIns="0" rIns="0" bIns="0" rtlCol="0" anchor="ctr"/>
          <a:lstStyle/>
          <a:p>
            <a:pPr indent="0" marL="0">
              <a:buNone/>
            </a:pPr>
            <a:r>
              <a:rPr lang="en-US" sz="950" b="1" dirty="0">
                <a:solidFill>
                  <a:srgbClr val="5B6B85"/>
                </a:solidFill>
                <a:latin typeface="Calibri" pitchFamily="34" charset="0"/>
                <a:ea typeface="Calibri" pitchFamily="34" charset="-122"/>
                <a:cs typeface="Calibri" pitchFamily="34" charset="-120"/>
              </a:rPr>
              <a:t>Expected result</a:t>
            </a:r>
            <a:endParaRPr lang="en-US" sz="950" dirty="0"/>
          </a:p>
        </p:txBody>
      </p:sp>
      <p:sp>
        <p:nvSpPr>
          <p:cNvPr id="7" name="Shape 5"/>
          <p:cNvSpPr/>
          <p:nvPr/>
        </p:nvSpPr>
        <p:spPr>
          <a:xfrm>
            <a:off x="548640" y="1261872"/>
            <a:ext cx="8046720" cy="365760"/>
          </a:xfrm>
          <a:prstGeom prst="roundRect">
            <a:avLst>
              <a:gd name="adj" fmla="val 20000"/>
            </a:avLst>
          </a:prstGeom>
          <a:solidFill>
            <a:srgbClr val="FFFFFF"/>
          </a:solidFill>
          <a:ln w="12700">
            <a:solidFill>
              <a:srgbClr val="D6E4F7"/>
            </a:solidFill>
            <a:prstDash val="solid"/>
          </a:ln>
        </p:spPr>
      </p:sp>
      <p:sp>
        <p:nvSpPr>
          <p:cNvPr id="8" name="Shape 6"/>
          <p:cNvSpPr/>
          <p:nvPr/>
        </p:nvSpPr>
        <p:spPr>
          <a:xfrm>
            <a:off x="612648" y="1307592"/>
            <a:ext cx="274320" cy="274320"/>
          </a:xfrm>
          <a:prstGeom prst="ellipse">
            <a:avLst/>
          </a:prstGeom>
          <a:solidFill>
            <a:srgbClr val="1E6FD9"/>
          </a:solidFill>
          <a:ln w="12700">
            <a:solidFill>
              <a:srgbClr val="1E6FD9"/>
            </a:solidFill>
            <a:prstDash val="solid"/>
          </a:ln>
        </p:spPr>
      </p:sp>
      <p:sp>
        <p:nvSpPr>
          <p:cNvPr id="9" name="Text 7"/>
          <p:cNvSpPr txBox="1"/>
          <p:nvPr/>
        </p:nvSpPr>
        <p:spPr>
          <a:xfrm>
            <a:off x="612648" y="130759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1</a:t>
            </a:r>
            <a:endParaRPr lang="en-US" sz="1000" dirty="0"/>
          </a:p>
        </p:txBody>
      </p:sp>
      <p:sp>
        <p:nvSpPr>
          <p:cNvPr id="10" name="Text 8"/>
          <p:cNvSpPr txBox="1"/>
          <p:nvPr/>
        </p:nvSpPr>
        <p:spPr>
          <a:xfrm>
            <a:off x="1005840" y="1261872"/>
            <a:ext cx="3474720" cy="365760"/>
          </a:xfrm>
          <a:prstGeom prst="rect">
            <a:avLst/>
          </a:prstGeom>
          <a:noFill/>
          <a:ln/>
        </p:spPr>
        <p:txBody>
          <a:bodyPr wrap="square" lIns="0" tIns="0" rIns="0" bIns="0" rtlCol="0" anchor="ctr"/>
          <a:lstStyle/>
          <a:p>
            <a:pPr indent="0" marL="0">
              <a:buNone/>
            </a:pPr>
            <a:r>
              <a:rPr lang="en-US" sz="950" b="1" dirty="0">
                <a:solidFill>
                  <a:srgbClr val="0B2A5B"/>
                </a:solidFill>
                <a:latin typeface="Calibri" pitchFamily="34" charset="0"/>
                <a:ea typeface="Calibri" pitchFamily="34" charset="-122"/>
                <a:cs typeface="Calibri" pitchFamily="34" charset="-120"/>
              </a:rPr>
              <a:t>Register with an invalid email or a phone under 10 digits</a:t>
            </a:r>
            <a:endParaRPr lang="en-US" sz="950" dirty="0"/>
          </a:p>
        </p:txBody>
      </p:sp>
      <p:sp>
        <p:nvSpPr>
          <p:cNvPr id="11" name="Text 9"/>
          <p:cNvSpPr txBox="1"/>
          <p:nvPr/>
        </p:nvSpPr>
        <p:spPr>
          <a:xfrm>
            <a:off x="4572000" y="1261872"/>
            <a:ext cx="3931920" cy="365760"/>
          </a:xfrm>
          <a:prstGeom prst="rect">
            <a:avLst/>
          </a:prstGeom>
          <a:noFill/>
          <a:ln/>
        </p:spPr>
        <p:txBody>
          <a:bodyPr wrap="square" lIns="0" tIns="0" rIns="0" bIns="0" rtlCol="0" anchor="ctr"/>
          <a:lstStyle/>
          <a:p>
            <a:pPr indent="0" marL="0">
              <a:buNone/>
            </a:pPr>
            <a:r>
              <a:rPr lang="en-US" sz="950" dirty="0">
                <a:solidFill>
                  <a:srgbClr val="14213D"/>
                </a:solidFill>
                <a:latin typeface="Calibri" pitchFamily="34" charset="0"/>
                <a:ea typeface="Calibri" pitchFamily="34" charset="-122"/>
                <a:cs typeface="Calibri" pitchFamily="34" charset="-120"/>
              </a:rPr>
              <a:t>A message explains the problem; no account is created.</a:t>
            </a:r>
            <a:endParaRPr lang="en-US" sz="950" dirty="0"/>
          </a:p>
        </p:txBody>
      </p:sp>
      <p:sp>
        <p:nvSpPr>
          <p:cNvPr id="12" name="Shape 10"/>
          <p:cNvSpPr/>
          <p:nvPr/>
        </p:nvSpPr>
        <p:spPr>
          <a:xfrm>
            <a:off x="548640" y="1664208"/>
            <a:ext cx="8046720" cy="365760"/>
          </a:xfrm>
          <a:prstGeom prst="roundRect">
            <a:avLst>
              <a:gd name="adj" fmla="val 20000"/>
            </a:avLst>
          </a:prstGeom>
          <a:solidFill>
            <a:srgbClr val="FFFFFF"/>
          </a:solidFill>
          <a:ln w="12700">
            <a:solidFill>
              <a:srgbClr val="D6E4F7"/>
            </a:solidFill>
            <a:prstDash val="solid"/>
          </a:ln>
        </p:spPr>
      </p:sp>
      <p:sp>
        <p:nvSpPr>
          <p:cNvPr id="13" name="Shape 11"/>
          <p:cNvSpPr/>
          <p:nvPr/>
        </p:nvSpPr>
        <p:spPr>
          <a:xfrm>
            <a:off x="612648" y="1709928"/>
            <a:ext cx="274320" cy="274320"/>
          </a:xfrm>
          <a:prstGeom prst="ellipse">
            <a:avLst/>
          </a:prstGeom>
          <a:solidFill>
            <a:srgbClr val="3B9CF0"/>
          </a:solidFill>
          <a:ln w="12700">
            <a:solidFill>
              <a:srgbClr val="3B9CF0"/>
            </a:solidFill>
            <a:prstDash val="solid"/>
          </a:ln>
        </p:spPr>
      </p:sp>
      <p:sp>
        <p:nvSpPr>
          <p:cNvPr id="14" name="Text 12"/>
          <p:cNvSpPr txBox="1"/>
          <p:nvPr/>
        </p:nvSpPr>
        <p:spPr>
          <a:xfrm>
            <a:off x="612648" y="170992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2</a:t>
            </a:r>
            <a:endParaRPr lang="en-US" sz="1000" dirty="0"/>
          </a:p>
        </p:txBody>
      </p:sp>
      <p:sp>
        <p:nvSpPr>
          <p:cNvPr id="15" name="Text 13"/>
          <p:cNvSpPr txBox="1"/>
          <p:nvPr/>
        </p:nvSpPr>
        <p:spPr>
          <a:xfrm>
            <a:off x="1005840" y="1664208"/>
            <a:ext cx="3474720" cy="365760"/>
          </a:xfrm>
          <a:prstGeom prst="rect">
            <a:avLst/>
          </a:prstGeom>
          <a:noFill/>
          <a:ln/>
        </p:spPr>
        <p:txBody>
          <a:bodyPr wrap="square" lIns="0" tIns="0" rIns="0" bIns="0" rtlCol="0" anchor="ctr"/>
          <a:lstStyle/>
          <a:p>
            <a:pPr indent="0" marL="0">
              <a:buNone/>
            </a:pPr>
            <a:r>
              <a:rPr lang="en-US" sz="950" b="1" dirty="0">
                <a:solidFill>
                  <a:srgbClr val="0B2A5B"/>
                </a:solidFill>
                <a:latin typeface="Calibri" pitchFamily="34" charset="0"/>
                <a:ea typeface="Calibri" pitchFamily="34" charset="-122"/>
                <a:cs typeface="Calibri" pitchFamily="34" charset="-120"/>
              </a:rPr>
              <a:t>Register with mismatching passwords</a:t>
            </a:r>
            <a:endParaRPr lang="en-US" sz="950" dirty="0"/>
          </a:p>
        </p:txBody>
      </p:sp>
      <p:sp>
        <p:nvSpPr>
          <p:cNvPr id="16" name="Text 14"/>
          <p:cNvSpPr txBox="1"/>
          <p:nvPr/>
        </p:nvSpPr>
        <p:spPr>
          <a:xfrm>
            <a:off x="4572000" y="1664208"/>
            <a:ext cx="3931920" cy="365760"/>
          </a:xfrm>
          <a:prstGeom prst="rect">
            <a:avLst/>
          </a:prstGeom>
          <a:noFill/>
          <a:ln/>
        </p:spPr>
        <p:txBody>
          <a:bodyPr wrap="square" lIns="0" tIns="0" rIns="0" bIns="0" rtlCol="0" anchor="ctr"/>
          <a:lstStyle/>
          <a:p>
            <a:pPr indent="0" marL="0">
              <a:buNone/>
            </a:pPr>
            <a:r>
              <a:rPr lang="en-US" sz="950" dirty="0">
                <a:solidFill>
                  <a:srgbClr val="14213D"/>
                </a:solidFill>
                <a:latin typeface="Calibri" pitchFamily="34" charset="0"/>
                <a:ea typeface="Calibri" pitchFamily="34" charset="-122"/>
                <a:cs typeface="Calibri" pitchFamily="34" charset="-120"/>
              </a:rPr>
              <a:t>“Passwords do not match.”</a:t>
            </a:r>
            <a:endParaRPr lang="en-US" sz="950" dirty="0"/>
          </a:p>
        </p:txBody>
      </p:sp>
      <p:sp>
        <p:nvSpPr>
          <p:cNvPr id="17" name="Shape 15"/>
          <p:cNvSpPr/>
          <p:nvPr/>
        </p:nvSpPr>
        <p:spPr>
          <a:xfrm>
            <a:off x="548640" y="2066544"/>
            <a:ext cx="8046720" cy="365760"/>
          </a:xfrm>
          <a:prstGeom prst="roundRect">
            <a:avLst>
              <a:gd name="adj" fmla="val 20000"/>
            </a:avLst>
          </a:prstGeom>
          <a:solidFill>
            <a:srgbClr val="FFFFFF"/>
          </a:solidFill>
          <a:ln w="12700">
            <a:solidFill>
              <a:srgbClr val="D6E4F7"/>
            </a:solidFill>
            <a:prstDash val="solid"/>
          </a:ln>
        </p:spPr>
      </p:sp>
      <p:sp>
        <p:nvSpPr>
          <p:cNvPr id="18" name="Shape 16"/>
          <p:cNvSpPr/>
          <p:nvPr/>
        </p:nvSpPr>
        <p:spPr>
          <a:xfrm>
            <a:off x="612648" y="2112264"/>
            <a:ext cx="274320" cy="274320"/>
          </a:xfrm>
          <a:prstGeom prst="ellipse">
            <a:avLst/>
          </a:prstGeom>
          <a:solidFill>
            <a:srgbClr val="1E6FD9"/>
          </a:solidFill>
          <a:ln w="12700">
            <a:solidFill>
              <a:srgbClr val="1E6FD9"/>
            </a:solidFill>
            <a:prstDash val="solid"/>
          </a:ln>
        </p:spPr>
      </p:sp>
      <p:sp>
        <p:nvSpPr>
          <p:cNvPr id="19" name="Text 17"/>
          <p:cNvSpPr txBox="1"/>
          <p:nvPr/>
        </p:nvSpPr>
        <p:spPr>
          <a:xfrm>
            <a:off x="612648" y="211226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3</a:t>
            </a:r>
            <a:endParaRPr lang="en-US" sz="1000" dirty="0"/>
          </a:p>
        </p:txBody>
      </p:sp>
      <p:sp>
        <p:nvSpPr>
          <p:cNvPr id="20" name="Text 18"/>
          <p:cNvSpPr txBox="1"/>
          <p:nvPr/>
        </p:nvSpPr>
        <p:spPr>
          <a:xfrm>
            <a:off x="1005840" y="2066544"/>
            <a:ext cx="3474720" cy="365760"/>
          </a:xfrm>
          <a:prstGeom prst="rect">
            <a:avLst/>
          </a:prstGeom>
          <a:noFill/>
          <a:ln/>
        </p:spPr>
        <p:txBody>
          <a:bodyPr wrap="square" lIns="0" tIns="0" rIns="0" bIns="0" rtlCol="0" anchor="ctr"/>
          <a:lstStyle/>
          <a:p>
            <a:pPr indent="0" marL="0">
              <a:buNone/>
            </a:pPr>
            <a:r>
              <a:rPr lang="en-US" sz="950" b="1" dirty="0">
                <a:solidFill>
                  <a:srgbClr val="0B2A5B"/>
                </a:solidFill>
                <a:latin typeface="Calibri" pitchFamily="34" charset="0"/>
                <a:ea typeface="Calibri" pitchFamily="34" charset="-122"/>
                <a:cs typeface="Calibri" pitchFamily="34" charset="-120"/>
              </a:rPr>
              <a:t>Register with valid details</a:t>
            </a:r>
            <a:endParaRPr lang="en-US" sz="950" dirty="0"/>
          </a:p>
        </p:txBody>
      </p:sp>
      <p:sp>
        <p:nvSpPr>
          <p:cNvPr id="21" name="Text 19"/>
          <p:cNvSpPr txBox="1"/>
          <p:nvPr/>
        </p:nvSpPr>
        <p:spPr>
          <a:xfrm>
            <a:off x="4572000" y="2066544"/>
            <a:ext cx="3931920" cy="365760"/>
          </a:xfrm>
          <a:prstGeom prst="rect">
            <a:avLst/>
          </a:prstGeom>
          <a:noFill/>
          <a:ln/>
        </p:spPr>
        <p:txBody>
          <a:bodyPr wrap="square" lIns="0" tIns="0" rIns="0" bIns="0" rtlCol="0" anchor="ctr"/>
          <a:lstStyle/>
          <a:p>
            <a:pPr indent="0" marL="0">
              <a:buNone/>
            </a:pPr>
            <a:r>
              <a:rPr lang="en-US" sz="950" dirty="0">
                <a:solidFill>
                  <a:srgbClr val="14213D"/>
                </a:solidFill>
                <a:latin typeface="Calibri" pitchFamily="34" charset="0"/>
                <a:ea typeface="Calibri" pitchFamily="34" charset="-122"/>
                <a:cs typeface="Calibri" pitchFamily="34" charset="-120"/>
              </a:rPr>
              <a:t>Firebase account and users/{uid} document created with role user; Home opens.</a:t>
            </a:r>
            <a:endParaRPr lang="en-US" sz="950" dirty="0"/>
          </a:p>
        </p:txBody>
      </p:sp>
      <p:sp>
        <p:nvSpPr>
          <p:cNvPr id="22" name="Shape 20"/>
          <p:cNvSpPr/>
          <p:nvPr/>
        </p:nvSpPr>
        <p:spPr>
          <a:xfrm>
            <a:off x="548640" y="2468880"/>
            <a:ext cx="8046720" cy="365760"/>
          </a:xfrm>
          <a:prstGeom prst="roundRect">
            <a:avLst>
              <a:gd name="adj" fmla="val 20000"/>
            </a:avLst>
          </a:prstGeom>
          <a:solidFill>
            <a:srgbClr val="FFFFFF"/>
          </a:solidFill>
          <a:ln w="12700">
            <a:solidFill>
              <a:srgbClr val="D6E4F7"/>
            </a:solidFill>
            <a:prstDash val="solid"/>
          </a:ln>
        </p:spPr>
      </p:sp>
      <p:sp>
        <p:nvSpPr>
          <p:cNvPr id="23" name="Shape 21"/>
          <p:cNvSpPr/>
          <p:nvPr/>
        </p:nvSpPr>
        <p:spPr>
          <a:xfrm>
            <a:off x="612648" y="2514600"/>
            <a:ext cx="274320" cy="274320"/>
          </a:xfrm>
          <a:prstGeom prst="ellipse">
            <a:avLst/>
          </a:prstGeom>
          <a:solidFill>
            <a:srgbClr val="3B9CF0"/>
          </a:solidFill>
          <a:ln w="12700">
            <a:solidFill>
              <a:srgbClr val="3B9CF0"/>
            </a:solidFill>
            <a:prstDash val="solid"/>
          </a:ln>
        </p:spPr>
      </p:sp>
      <p:sp>
        <p:nvSpPr>
          <p:cNvPr id="24" name="Text 22"/>
          <p:cNvSpPr txBox="1"/>
          <p:nvPr/>
        </p:nvSpPr>
        <p:spPr>
          <a:xfrm>
            <a:off x="612648" y="251460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4</a:t>
            </a:r>
            <a:endParaRPr lang="en-US" sz="1000" dirty="0"/>
          </a:p>
        </p:txBody>
      </p:sp>
      <p:sp>
        <p:nvSpPr>
          <p:cNvPr id="25" name="Text 23"/>
          <p:cNvSpPr txBox="1"/>
          <p:nvPr/>
        </p:nvSpPr>
        <p:spPr>
          <a:xfrm>
            <a:off x="1005840" y="2468880"/>
            <a:ext cx="3474720" cy="365760"/>
          </a:xfrm>
          <a:prstGeom prst="rect">
            <a:avLst/>
          </a:prstGeom>
          <a:noFill/>
          <a:ln/>
        </p:spPr>
        <p:txBody>
          <a:bodyPr wrap="square" lIns="0" tIns="0" rIns="0" bIns="0" rtlCol="0" anchor="ctr"/>
          <a:lstStyle/>
          <a:p>
            <a:pPr indent="0" marL="0">
              <a:buNone/>
            </a:pPr>
            <a:r>
              <a:rPr lang="en-US" sz="950" b="1" dirty="0">
                <a:solidFill>
                  <a:srgbClr val="0B2A5B"/>
                </a:solidFill>
                <a:latin typeface="Calibri" pitchFamily="34" charset="0"/>
                <a:ea typeface="Calibri" pitchFamily="34" charset="-122"/>
                <a:cs typeface="Calibri" pitchFamily="34" charset="-120"/>
              </a:rPr>
              <a:t>Log in with a wrong password</a:t>
            </a:r>
            <a:endParaRPr lang="en-US" sz="950" dirty="0"/>
          </a:p>
        </p:txBody>
      </p:sp>
      <p:sp>
        <p:nvSpPr>
          <p:cNvPr id="26" name="Text 24"/>
          <p:cNvSpPr txBox="1"/>
          <p:nvPr/>
        </p:nvSpPr>
        <p:spPr>
          <a:xfrm>
            <a:off x="4572000" y="2468880"/>
            <a:ext cx="3931920" cy="365760"/>
          </a:xfrm>
          <a:prstGeom prst="rect">
            <a:avLst/>
          </a:prstGeom>
          <a:noFill/>
          <a:ln/>
        </p:spPr>
        <p:txBody>
          <a:bodyPr wrap="square" lIns="0" tIns="0" rIns="0" bIns="0" rtlCol="0" anchor="ctr"/>
          <a:lstStyle/>
          <a:p>
            <a:pPr indent="0" marL="0">
              <a:buNone/>
            </a:pPr>
            <a:r>
              <a:rPr lang="en-US" sz="950" dirty="0">
                <a:solidFill>
                  <a:srgbClr val="14213D"/>
                </a:solidFill>
                <a:latin typeface="Calibri" pitchFamily="34" charset="0"/>
                <a:ea typeface="Calibri" pitchFamily="34" charset="-122"/>
                <a:cs typeface="Calibri" pitchFamily="34" charset="-120"/>
              </a:rPr>
              <a:t>Error message from Firebase; stays on the login form.</a:t>
            </a:r>
            <a:endParaRPr lang="en-US" sz="950" dirty="0"/>
          </a:p>
        </p:txBody>
      </p:sp>
      <p:sp>
        <p:nvSpPr>
          <p:cNvPr id="27" name="Shape 25"/>
          <p:cNvSpPr/>
          <p:nvPr/>
        </p:nvSpPr>
        <p:spPr>
          <a:xfrm>
            <a:off x="548640" y="2871216"/>
            <a:ext cx="8046720" cy="365760"/>
          </a:xfrm>
          <a:prstGeom prst="roundRect">
            <a:avLst>
              <a:gd name="adj" fmla="val 20000"/>
            </a:avLst>
          </a:prstGeom>
          <a:solidFill>
            <a:srgbClr val="FFFFFF"/>
          </a:solidFill>
          <a:ln w="12700">
            <a:solidFill>
              <a:srgbClr val="D6E4F7"/>
            </a:solidFill>
            <a:prstDash val="solid"/>
          </a:ln>
        </p:spPr>
      </p:sp>
      <p:sp>
        <p:nvSpPr>
          <p:cNvPr id="28" name="Shape 26"/>
          <p:cNvSpPr/>
          <p:nvPr/>
        </p:nvSpPr>
        <p:spPr>
          <a:xfrm>
            <a:off x="612648" y="2916936"/>
            <a:ext cx="274320" cy="274320"/>
          </a:xfrm>
          <a:prstGeom prst="ellipse">
            <a:avLst/>
          </a:prstGeom>
          <a:solidFill>
            <a:srgbClr val="1E6FD9"/>
          </a:solidFill>
          <a:ln w="12700">
            <a:solidFill>
              <a:srgbClr val="1E6FD9"/>
            </a:solidFill>
            <a:prstDash val="solid"/>
          </a:ln>
        </p:spPr>
      </p:sp>
      <p:sp>
        <p:nvSpPr>
          <p:cNvPr id="29" name="Text 27"/>
          <p:cNvSpPr txBox="1"/>
          <p:nvPr/>
        </p:nvSpPr>
        <p:spPr>
          <a:xfrm>
            <a:off x="612648" y="291693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5</a:t>
            </a:r>
            <a:endParaRPr lang="en-US" sz="1000" dirty="0"/>
          </a:p>
        </p:txBody>
      </p:sp>
      <p:sp>
        <p:nvSpPr>
          <p:cNvPr id="30" name="Text 28"/>
          <p:cNvSpPr txBox="1"/>
          <p:nvPr/>
        </p:nvSpPr>
        <p:spPr>
          <a:xfrm>
            <a:off x="1005840" y="2871216"/>
            <a:ext cx="3474720" cy="365760"/>
          </a:xfrm>
          <a:prstGeom prst="rect">
            <a:avLst/>
          </a:prstGeom>
          <a:noFill/>
          <a:ln/>
        </p:spPr>
        <p:txBody>
          <a:bodyPr wrap="square" lIns="0" tIns="0" rIns="0" bIns="0" rtlCol="0" anchor="ctr"/>
          <a:lstStyle/>
          <a:p>
            <a:pPr indent="0" marL="0">
              <a:buNone/>
            </a:pPr>
            <a:r>
              <a:rPr lang="en-US" sz="950" b="1" dirty="0">
                <a:solidFill>
                  <a:srgbClr val="0B2A5B"/>
                </a:solidFill>
                <a:latin typeface="Calibri" pitchFamily="34" charset="0"/>
                <a:ea typeface="Calibri" pitchFamily="34" charset="-122"/>
                <a:cs typeface="Calibri" pitchFamily="34" charset="-120"/>
              </a:rPr>
              <a:t>Use Forgot password with a valid email</a:t>
            </a:r>
            <a:endParaRPr lang="en-US" sz="950" dirty="0"/>
          </a:p>
        </p:txBody>
      </p:sp>
      <p:sp>
        <p:nvSpPr>
          <p:cNvPr id="31" name="Text 29"/>
          <p:cNvSpPr txBox="1"/>
          <p:nvPr/>
        </p:nvSpPr>
        <p:spPr>
          <a:xfrm>
            <a:off x="4572000" y="2871216"/>
            <a:ext cx="3931920" cy="365760"/>
          </a:xfrm>
          <a:prstGeom prst="rect">
            <a:avLst/>
          </a:prstGeom>
          <a:noFill/>
          <a:ln/>
        </p:spPr>
        <p:txBody>
          <a:bodyPr wrap="square" lIns="0" tIns="0" rIns="0" bIns="0" rtlCol="0" anchor="ctr"/>
          <a:lstStyle/>
          <a:p>
            <a:pPr indent="0" marL="0">
              <a:buNone/>
            </a:pPr>
            <a:r>
              <a:rPr lang="en-US" sz="950" dirty="0">
                <a:solidFill>
                  <a:srgbClr val="14213D"/>
                </a:solidFill>
                <a:latin typeface="Calibri" pitchFamily="34" charset="0"/>
                <a:ea typeface="Calibri" pitchFamily="34" charset="-122"/>
                <a:cs typeface="Calibri" pitchFamily="34" charset="-120"/>
              </a:rPr>
              <a:t>A reset email is sent.</a:t>
            </a:r>
            <a:endParaRPr lang="en-US" sz="950" dirty="0"/>
          </a:p>
        </p:txBody>
      </p:sp>
      <p:sp>
        <p:nvSpPr>
          <p:cNvPr id="32" name="Shape 30"/>
          <p:cNvSpPr/>
          <p:nvPr/>
        </p:nvSpPr>
        <p:spPr>
          <a:xfrm>
            <a:off x="548640" y="3273552"/>
            <a:ext cx="8046720" cy="365760"/>
          </a:xfrm>
          <a:prstGeom prst="roundRect">
            <a:avLst>
              <a:gd name="adj" fmla="val 20000"/>
            </a:avLst>
          </a:prstGeom>
          <a:solidFill>
            <a:srgbClr val="FFFFFF"/>
          </a:solidFill>
          <a:ln w="12700">
            <a:solidFill>
              <a:srgbClr val="D6E4F7"/>
            </a:solidFill>
            <a:prstDash val="solid"/>
          </a:ln>
        </p:spPr>
      </p:sp>
      <p:sp>
        <p:nvSpPr>
          <p:cNvPr id="33" name="Shape 31"/>
          <p:cNvSpPr/>
          <p:nvPr/>
        </p:nvSpPr>
        <p:spPr>
          <a:xfrm>
            <a:off x="612648" y="3319272"/>
            <a:ext cx="274320" cy="274320"/>
          </a:xfrm>
          <a:prstGeom prst="ellipse">
            <a:avLst/>
          </a:prstGeom>
          <a:solidFill>
            <a:srgbClr val="3B9CF0"/>
          </a:solidFill>
          <a:ln w="12700">
            <a:solidFill>
              <a:srgbClr val="3B9CF0"/>
            </a:solidFill>
            <a:prstDash val="solid"/>
          </a:ln>
        </p:spPr>
      </p:sp>
      <p:sp>
        <p:nvSpPr>
          <p:cNvPr id="34" name="Text 32"/>
          <p:cNvSpPr txBox="1"/>
          <p:nvPr/>
        </p:nvSpPr>
        <p:spPr>
          <a:xfrm>
            <a:off x="612648" y="331927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6</a:t>
            </a:r>
            <a:endParaRPr lang="en-US" sz="1000" dirty="0"/>
          </a:p>
        </p:txBody>
      </p:sp>
      <p:sp>
        <p:nvSpPr>
          <p:cNvPr id="35" name="Text 33"/>
          <p:cNvSpPr txBox="1"/>
          <p:nvPr/>
        </p:nvSpPr>
        <p:spPr>
          <a:xfrm>
            <a:off x="1005840" y="3273552"/>
            <a:ext cx="3474720" cy="365760"/>
          </a:xfrm>
          <a:prstGeom prst="rect">
            <a:avLst/>
          </a:prstGeom>
          <a:noFill/>
          <a:ln/>
        </p:spPr>
        <p:txBody>
          <a:bodyPr wrap="square" lIns="0" tIns="0" rIns="0" bIns="0" rtlCol="0" anchor="ctr"/>
          <a:lstStyle/>
          <a:p>
            <a:pPr indent="0" marL="0">
              <a:buNone/>
            </a:pPr>
            <a:r>
              <a:rPr lang="en-US" sz="950" b="1" dirty="0">
                <a:solidFill>
                  <a:srgbClr val="0B2A5B"/>
                </a:solidFill>
                <a:latin typeface="Calibri" pitchFamily="34" charset="0"/>
                <a:ea typeface="Calibri" pitchFamily="34" charset="-122"/>
                <a:cs typeface="Calibri" pitchFamily="34" charset="-120"/>
              </a:rPr>
              <a:t>Create an admin account, then log in as admin</a:t>
            </a:r>
            <a:endParaRPr lang="en-US" sz="950" dirty="0"/>
          </a:p>
        </p:txBody>
      </p:sp>
      <p:sp>
        <p:nvSpPr>
          <p:cNvPr id="36" name="Text 34"/>
          <p:cNvSpPr txBox="1"/>
          <p:nvPr/>
        </p:nvSpPr>
        <p:spPr>
          <a:xfrm>
            <a:off x="4572000" y="3273552"/>
            <a:ext cx="3931920" cy="365760"/>
          </a:xfrm>
          <a:prstGeom prst="rect">
            <a:avLst/>
          </a:prstGeom>
          <a:noFill/>
          <a:ln/>
        </p:spPr>
        <p:txBody>
          <a:bodyPr wrap="square" lIns="0" tIns="0" rIns="0" bIns="0" rtlCol="0" anchor="ctr"/>
          <a:lstStyle/>
          <a:p>
            <a:pPr indent="0" marL="0">
              <a:buNone/>
            </a:pPr>
            <a:r>
              <a:rPr lang="en-US" sz="950" dirty="0">
                <a:solidFill>
                  <a:srgbClr val="14213D"/>
                </a:solidFill>
                <a:latin typeface="Calibri" pitchFamily="34" charset="0"/>
                <a:ea typeface="Calibri" pitchFamily="34" charset="-122"/>
                <a:cs typeface="Calibri" pitchFamily="34" charset="-120"/>
              </a:rPr>
              <a:t>Message that the account awaits approval; no admin access.</a:t>
            </a:r>
            <a:endParaRPr lang="en-US" sz="950" dirty="0"/>
          </a:p>
        </p:txBody>
      </p:sp>
      <p:sp>
        <p:nvSpPr>
          <p:cNvPr id="37" name="Shape 35"/>
          <p:cNvSpPr/>
          <p:nvPr/>
        </p:nvSpPr>
        <p:spPr>
          <a:xfrm>
            <a:off x="548640" y="3675888"/>
            <a:ext cx="8046720" cy="365760"/>
          </a:xfrm>
          <a:prstGeom prst="roundRect">
            <a:avLst>
              <a:gd name="adj" fmla="val 20000"/>
            </a:avLst>
          </a:prstGeom>
          <a:solidFill>
            <a:srgbClr val="FFFFFF"/>
          </a:solidFill>
          <a:ln w="12700">
            <a:solidFill>
              <a:srgbClr val="D6E4F7"/>
            </a:solidFill>
            <a:prstDash val="solid"/>
          </a:ln>
        </p:spPr>
      </p:sp>
      <p:sp>
        <p:nvSpPr>
          <p:cNvPr id="38" name="Shape 36"/>
          <p:cNvSpPr/>
          <p:nvPr/>
        </p:nvSpPr>
        <p:spPr>
          <a:xfrm>
            <a:off x="612648" y="3721608"/>
            <a:ext cx="274320" cy="274320"/>
          </a:xfrm>
          <a:prstGeom prst="ellipse">
            <a:avLst/>
          </a:prstGeom>
          <a:solidFill>
            <a:srgbClr val="1E6FD9"/>
          </a:solidFill>
          <a:ln w="12700">
            <a:solidFill>
              <a:srgbClr val="1E6FD9"/>
            </a:solidFill>
            <a:prstDash val="solid"/>
          </a:ln>
        </p:spPr>
      </p:sp>
      <p:sp>
        <p:nvSpPr>
          <p:cNvPr id="39" name="Text 37"/>
          <p:cNvSpPr txBox="1"/>
          <p:nvPr/>
        </p:nvSpPr>
        <p:spPr>
          <a:xfrm>
            <a:off x="612648" y="3721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7</a:t>
            </a:r>
            <a:endParaRPr lang="en-US" sz="1000" dirty="0"/>
          </a:p>
        </p:txBody>
      </p:sp>
      <p:sp>
        <p:nvSpPr>
          <p:cNvPr id="40" name="Text 38"/>
          <p:cNvSpPr txBox="1"/>
          <p:nvPr/>
        </p:nvSpPr>
        <p:spPr>
          <a:xfrm>
            <a:off x="1005840" y="3675888"/>
            <a:ext cx="3474720" cy="365760"/>
          </a:xfrm>
          <a:prstGeom prst="rect">
            <a:avLst/>
          </a:prstGeom>
          <a:noFill/>
          <a:ln/>
        </p:spPr>
        <p:txBody>
          <a:bodyPr wrap="square" lIns="0" tIns="0" rIns="0" bIns="0" rtlCol="0" anchor="ctr"/>
          <a:lstStyle/>
          <a:p>
            <a:pPr indent="0" marL="0">
              <a:buNone/>
            </a:pPr>
            <a:r>
              <a:rPr lang="en-US" sz="950" b="1" dirty="0">
                <a:solidFill>
                  <a:srgbClr val="0B2A5B"/>
                </a:solidFill>
                <a:latin typeface="Calibri" pitchFamily="34" charset="0"/>
                <a:ea typeface="Calibri" pitchFamily="34" charset="-122"/>
                <a:cs typeface="Calibri" pitchFamily="34" charset="-120"/>
              </a:rPr>
              <a:t>Main admin approves the pending admin in Manage Users</a:t>
            </a:r>
            <a:endParaRPr lang="en-US" sz="950" dirty="0"/>
          </a:p>
        </p:txBody>
      </p:sp>
      <p:sp>
        <p:nvSpPr>
          <p:cNvPr id="41" name="Text 39"/>
          <p:cNvSpPr txBox="1"/>
          <p:nvPr/>
        </p:nvSpPr>
        <p:spPr>
          <a:xfrm>
            <a:off x="4572000" y="3675888"/>
            <a:ext cx="3931920" cy="365760"/>
          </a:xfrm>
          <a:prstGeom prst="rect">
            <a:avLst/>
          </a:prstGeom>
          <a:noFill/>
          <a:ln/>
        </p:spPr>
        <p:txBody>
          <a:bodyPr wrap="square" lIns="0" tIns="0" rIns="0" bIns="0" rtlCol="0" anchor="ctr"/>
          <a:lstStyle/>
          <a:p>
            <a:pPr indent="0" marL="0">
              <a:buNone/>
            </a:pPr>
            <a:r>
              <a:rPr lang="en-US" sz="950" dirty="0">
                <a:solidFill>
                  <a:srgbClr val="14213D"/>
                </a:solidFill>
                <a:latin typeface="Calibri" pitchFamily="34" charset="0"/>
                <a:ea typeface="Calibri" pitchFamily="34" charset="-122"/>
                <a:cs typeface="Calibri" pitchFamily="34" charset="-120"/>
              </a:rPr>
              <a:t>Role changes to admin; the person can now log in as admin.</a:t>
            </a:r>
            <a:endParaRPr lang="en-US" sz="950" dirty="0"/>
          </a:p>
        </p:txBody>
      </p:sp>
      <p:sp>
        <p:nvSpPr>
          <p:cNvPr id="42" name="Shape 40"/>
          <p:cNvSpPr/>
          <p:nvPr/>
        </p:nvSpPr>
        <p:spPr>
          <a:xfrm>
            <a:off x="548640" y="4078224"/>
            <a:ext cx="8046720" cy="365760"/>
          </a:xfrm>
          <a:prstGeom prst="roundRect">
            <a:avLst>
              <a:gd name="adj" fmla="val 20000"/>
            </a:avLst>
          </a:prstGeom>
          <a:solidFill>
            <a:srgbClr val="FFFFFF"/>
          </a:solidFill>
          <a:ln w="12700">
            <a:solidFill>
              <a:srgbClr val="D6E4F7"/>
            </a:solidFill>
            <a:prstDash val="solid"/>
          </a:ln>
        </p:spPr>
      </p:sp>
      <p:sp>
        <p:nvSpPr>
          <p:cNvPr id="43" name="Shape 41"/>
          <p:cNvSpPr/>
          <p:nvPr/>
        </p:nvSpPr>
        <p:spPr>
          <a:xfrm>
            <a:off x="612648" y="4123944"/>
            <a:ext cx="274320" cy="274320"/>
          </a:xfrm>
          <a:prstGeom prst="ellipse">
            <a:avLst/>
          </a:prstGeom>
          <a:solidFill>
            <a:srgbClr val="3B9CF0"/>
          </a:solidFill>
          <a:ln w="12700">
            <a:solidFill>
              <a:srgbClr val="3B9CF0"/>
            </a:solidFill>
            <a:prstDash val="solid"/>
          </a:ln>
        </p:spPr>
      </p:sp>
      <p:sp>
        <p:nvSpPr>
          <p:cNvPr id="44" name="Text 42"/>
          <p:cNvSpPr txBox="1"/>
          <p:nvPr/>
        </p:nvSpPr>
        <p:spPr>
          <a:xfrm>
            <a:off x="612648" y="412394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8</a:t>
            </a:r>
            <a:endParaRPr lang="en-US" sz="1000" dirty="0"/>
          </a:p>
        </p:txBody>
      </p:sp>
      <p:sp>
        <p:nvSpPr>
          <p:cNvPr id="45" name="Text 43"/>
          <p:cNvSpPr txBox="1"/>
          <p:nvPr/>
        </p:nvSpPr>
        <p:spPr>
          <a:xfrm>
            <a:off x="1005840" y="4078224"/>
            <a:ext cx="3474720" cy="365760"/>
          </a:xfrm>
          <a:prstGeom prst="rect">
            <a:avLst/>
          </a:prstGeom>
          <a:noFill/>
          <a:ln/>
        </p:spPr>
        <p:txBody>
          <a:bodyPr wrap="square" lIns="0" tIns="0" rIns="0" bIns="0" rtlCol="0" anchor="ctr"/>
          <a:lstStyle/>
          <a:p>
            <a:pPr indent="0" marL="0">
              <a:buNone/>
            </a:pPr>
            <a:r>
              <a:rPr lang="en-US" sz="950" b="1" dirty="0">
                <a:solidFill>
                  <a:srgbClr val="0B2A5B"/>
                </a:solidFill>
                <a:latin typeface="Calibri" pitchFamily="34" charset="0"/>
                <a:ea typeface="Calibri" pitchFamily="34" charset="-122"/>
                <a:cs typeface="Calibri" pitchFamily="34" charset="-120"/>
              </a:rPr>
              <a:t>Student logs in through Admin Login</a:t>
            </a:r>
            <a:endParaRPr lang="en-US" sz="950" dirty="0"/>
          </a:p>
        </p:txBody>
      </p:sp>
      <p:sp>
        <p:nvSpPr>
          <p:cNvPr id="46" name="Text 44"/>
          <p:cNvSpPr txBox="1"/>
          <p:nvPr/>
        </p:nvSpPr>
        <p:spPr>
          <a:xfrm>
            <a:off x="4572000" y="4078224"/>
            <a:ext cx="3931920" cy="365760"/>
          </a:xfrm>
          <a:prstGeom prst="rect">
            <a:avLst/>
          </a:prstGeom>
          <a:noFill/>
          <a:ln/>
        </p:spPr>
        <p:txBody>
          <a:bodyPr wrap="square" lIns="0" tIns="0" rIns="0" bIns="0" rtlCol="0" anchor="ctr"/>
          <a:lstStyle/>
          <a:p>
            <a:pPr indent="0" marL="0">
              <a:buNone/>
            </a:pPr>
            <a:r>
              <a:rPr lang="en-US" sz="950" dirty="0">
                <a:solidFill>
                  <a:srgbClr val="14213D"/>
                </a:solidFill>
                <a:latin typeface="Calibri" pitchFamily="34" charset="0"/>
                <a:ea typeface="Calibri" pitchFamily="34" charset="-122"/>
                <a:cs typeface="Calibri" pitchFamily="34" charset="-120"/>
              </a:rPr>
              <a:t>“Not an approved administrator account”; signed out.</a:t>
            </a:r>
            <a:endParaRPr lang="en-US" sz="950" dirty="0"/>
          </a:p>
        </p:txBody>
      </p:sp>
      <p:sp>
        <p:nvSpPr>
          <p:cNvPr id="47" name="Shape 45"/>
          <p:cNvSpPr/>
          <p:nvPr/>
        </p:nvSpPr>
        <p:spPr>
          <a:xfrm>
            <a:off x="548640" y="4480560"/>
            <a:ext cx="8046720" cy="365760"/>
          </a:xfrm>
          <a:prstGeom prst="roundRect">
            <a:avLst>
              <a:gd name="adj" fmla="val 20000"/>
            </a:avLst>
          </a:prstGeom>
          <a:solidFill>
            <a:srgbClr val="FFFFFF"/>
          </a:solidFill>
          <a:ln w="12700">
            <a:solidFill>
              <a:srgbClr val="D6E4F7"/>
            </a:solidFill>
            <a:prstDash val="solid"/>
          </a:ln>
        </p:spPr>
      </p:sp>
      <p:sp>
        <p:nvSpPr>
          <p:cNvPr id="48" name="Shape 46"/>
          <p:cNvSpPr/>
          <p:nvPr/>
        </p:nvSpPr>
        <p:spPr>
          <a:xfrm>
            <a:off x="612648" y="4526280"/>
            <a:ext cx="274320" cy="274320"/>
          </a:xfrm>
          <a:prstGeom prst="ellipse">
            <a:avLst/>
          </a:prstGeom>
          <a:solidFill>
            <a:srgbClr val="1E6FD9"/>
          </a:solidFill>
          <a:ln w="12700">
            <a:solidFill>
              <a:srgbClr val="1E6FD9"/>
            </a:solidFill>
            <a:prstDash val="solid"/>
          </a:ln>
        </p:spPr>
      </p:sp>
      <p:sp>
        <p:nvSpPr>
          <p:cNvPr id="49" name="Text 47"/>
          <p:cNvSpPr txBox="1"/>
          <p:nvPr/>
        </p:nvSpPr>
        <p:spPr>
          <a:xfrm>
            <a:off x="612648" y="452628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9</a:t>
            </a:r>
            <a:endParaRPr lang="en-US" sz="1000" dirty="0"/>
          </a:p>
        </p:txBody>
      </p:sp>
      <p:sp>
        <p:nvSpPr>
          <p:cNvPr id="50" name="Text 48"/>
          <p:cNvSpPr txBox="1"/>
          <p:nvPr/>
        </p:nvSpPr>
        <p:spPr>
          <a:xfrm>
            <a:off x="1005840" y="4480560"/>
            <a:ext cx="3474720" cy="365760"/>
          </a:xfrm>
          <a:prstGeom prst="rect">
            <a:avLst/>
          </a:prstGeom>
          <a:noFill/>
          <a:ln/>
        </p:spPr>
        <p:txBody>
          <a:bodyPr wrap="square" lIns="0" tIns="0" rIns="0" bIns="0" rtlCol="0" anchor="ctr"/>
          <a:lstStyle/>
          <a:p>
            <a:pPr indent="0" marL="0">
              <a:buNone/>
            </a:pPr>
            <a:r>
              <a:rPr lang="en-US" sz="950" b="1" dirty="0">
                <a:solidFill>
                  <a:srgbClr val="0B2A5B"/>
                </a:solidFill>
                <a:latin typeface="Calibri" pitchFamily="34" charset="0"/>
                <a:ea typeface="Calibri" pitchFamily="34" charset="-122"/>
                <a:cs typeface="Calibri" pitchFamily="34" charset="-120"/>
              </a:rPr>
              <a:t>Report a Laptop with all fields filled in</a:t>
            </a:r>
            <a:endParaRPr lang="en-US" sz="950" dirty="0"/>
          </a:p>
        </p:txBody>
      </p:sp>
      <p:sp>
        <p:nvSpPr>
          <p:cNvPr id="51" name="Text 49"/>
          <p:cNvSpPr txBox="1"/>
          <p:nvPr/>
        </p:nvSpPr>
        <p:spPr>
          <a:xfrm>
            <a:off x="4572000" y="4480560"/>
            <a:ext cx="3931920" cy="365760"/>
          </a:xfrm>
          <a:prstGeom prst="rect">
            <a:avLst/>
          </a:prstGeom>
          <a:noFill/>
          <a:ln/>
        </p:spPr>
        <p:txBody>
          <a:bodyPr wrap="square" lIns="0" tIns="0" rIns="0" bIns="0" rtlCol="0" anchor="ctr"/>
          <a:lstStyle/>
          <a:p>
            <a:pPr indent="0" marL="0">
              <a:buNone/>
            </a:pPr>
            <a:r>
              <a:rPr lang="en-US" sz="950" dirty="0">
                <a:solidFill>
                  <a:srgbClr val="14213D"/>
                </a:solidFill>
                <a:latin typeface="Calibri" pitchFamily="34" charset="0"/>
                <a:ea typeface="Calibri" pitchFamily="34" charset="-122"/>
                <a:cs typeface="Calibri" pitchFamily="34" charset="-120"/>
              </a:rPr>
              <a:t>Score 90, HIGH, automatically approved; status Approved and visible on Home.</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9FF"/>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E6FD9"/>
          </a:solidFill>
          <a:ln w="12700">
            <a:solidFill>
              <a:srgbClr val="1E6FD9"/>
            </a:solidFill>
            <a:prstDash val="solid"/>
          </a:ln>
        </p:spPr>
      </p:sp>
      <p:sp>
        <p:nvSpPr>
          <p:cNvPr id="3" name="Text 1"/>
          <p:cNvSpPr txBox="1"/>
          <p:nvPr/>
        </p:nvSpPr>
        <p:spPr>
          <a:xfrm>
            <a:off x="548640" y="91440"/>
            <a:ext cx="7680960" cy="228600"/>
          </a:xfrm>
          <a:prstGeom prst="rect">
            <a:avLst/>
          </a:prstGeom>
          <a:noFill/>
          <a:ln/>
        </p:spPr>
        <p:txBody>
          <a:bodyPr wrap="square" lIns="0" tIns="0" rIns="0" bIns="0" rtlCol="0" anchor="ctr"/>
          <a:lstStyle/>
          <a:p>
            <a:pPr indent="0" marL="0">
              <a:buNone/>
            </a:pPr>
            <a:r>
              <a:rPr lang="en-US" sz="900" b="1" spc="200" kern="0" dirty="0">
                <a:solidFill>
                  <a:srgbClr val="1E6FD9"/>
                </a:solidFill>
                <a:latin typeface="Calibri" pitchFamily="34" charset="0"/>
                <a:ea typeface="Calibri" pitchFamily="34" charset="-122"/>
                <a:cs typeface="Calibri" pitchFamily="34" charset="-120"/>
              </a:rPr>
              <a:t>TESTING</a:t>
            </a:r>
            <a:endParaRPr lang="en-US" sz="900" dirty="0"/>
          </a:p>
        </p:txBody>
      </p:sp>
      <p:sp>
        <p:nvSpPr>
          <p:cNvPr id="4" name="Text 2"/>
          <p:cNvSpPr txBox="1"/>
          <p:nvPr/>
        </p:nvSpPr>
        <p:spPr>
          <a:xfrm>
            <a:off x="548640" y="320040"/>
            <a:ext cx="8229600" cy="640080"/>
          </a:xfrm>
          <a:prstGeom prst="rect">
            <a:avLst/>
          </a:prstGeom>
          <a:noFill/>
          <a:ln/>
        </p:spPr>
        <p:txBody>
          <a:bodyPr wrap="square" lIns="0" tIns="0" rIns="0" bIns="0" rtlCol="0" anchor="ctr"/>
          <a:lstStyle/>
          <a:p>
            <a:pPr indent="0" marL="0">
              <a:buNone/>
            </a:pPr>
            <a:r>
              <a:rPr lang="en-US" sz="3000" b="1" dirty="0">
                <a:solidFill>
                  <a:srgbClr val="0B2A5B"/>
                </a:solidFill>
                <a:latin typeface="Cambria" pitchFamily="34" charset="0"/>
                <a:ea typeface="Cambria" pitchFamily="34" charset="-122"/>
                <a:cs typeface="Cambria" pitchFamily="34" charset="-120"/>
              </a:rPr>
              <a:t>Test Scenarios 10–18</a:t>
            </a:r>
            <a:endParaRPr lang="en-US" sz="3000" dirty="0"/>
          </a:p>
        </p:txBody>
      </p:sp>
      <p:sp>
        <p:nvSpPr>
          <p:cNvPr id="5" name="Text 3"/>
          <p:cNvSpPr txBox="1"/>
          <p:nvPr/>
        </p:nvSpPr>
        <p:spPr>
          <a:xfrm>
            <a:off x="1005840" y="1005840"/>
            <a:ext cx="3383280" cy="228600"/>
          </a:xfrm>
          <a:prstGeom prst="rect">
            <a:avLst/>
          </a:prstGeom>
          <a:noFill/>
          <a:ln/>
        </p:spPr>
        <p:txBody>
          <a:bodyPr wrap="square" lIns="0" tIns="0" rIns="0" bIns="0" rtlCol="0" anchor="ctr"/>
          <a:lstStyle/>
          <a:p>
            <a:pPr indent="0" marL="0">
              <a:buNone/>
            </a:pPr>
            <a:r>
              <a:rPr lang="en-US" sz="950" b="1" dirty="0">
                <a:solidFill>
                  <a:srgbClr val="5B6B85"/>
                </a:solidFill>
                <a:latin typeface="Calibri" pitchFamily="34" charset="0"/>
                <a:ea typeface="Calibri" pitchFamily="34" charset="-122"/>
                <a:cs typeface="Calibri" pitchFamily="34" charset="-120"/>
              </a:rPr>
              <a:t>Scenario</a:t>
            </a:r>
            <a:endParaRPr lang="en-US" sz="950" dirty="0"/>
          </a:p>
        </p:txBody>
      </p:sp>
      <p:sp>
        <p:nvSpPr>
          <p:cNvPr id="6" name="Text 4"/>
          <p:cNvSpPr txBox="1"/>
          <p:nvPr/>
        </p:nvSpPr>
        <p:spPr>
          <a:xfrm>
            <a:off x="4572000" y="1005840"/>
            <a:ext cx="3931920" cy="228600"/>
          </a:xfrm>
          <a:prstGeom prst="rect">
            <a:avLst/>
          </a:prstGeom>
          <a:noFill/>
          <a:ln/>
        </p:spPr>
        <p:txBody>
          <a:bodyPr wrap="square" lIns="0" tIns="0" rIns="0" bIns="0" rtlCol="0" anchor="ctr"/>
          <a:lstStyle/>
          <a:p>
            <a:pPr indent="0" marL="0">
              <a:buNone/>
            </a:pPr>
            <a:r>
              <a:rPr lang="en-US" sz="950" b="1" dirty="0">
                <a:solidFill>
                  <a:srgbClr val="5B6B85"/>
                </a:solidFill>
                <a:latin typeface="Calibri" pitchFamily="34" charset="0"/>
                <a:ea typeface="Calibri" pitchFamily="34" charset="-122"/>
                <a:cs typeface="Calibri" pitchFamily="34" charset="-120"/>
              </a:rPr>
              <a:t>Expected result</a:t>
            </a:r>
            <a:endParaRPr lang="en-US" sz="950" dirty="0"/>
          </a:p>
        </p:txBody>
      </p:sp>
      <p:sp>
        <p:nvSpPr>
          <p:cNvPr id="7" name="Shape 5"/>
          <p:cNvSpPr/>
          <p:nvPr/>
        </p:nvSpPr>
        <p:spPr>
          <a:xfrm>
            <a:off x="548640" y="1261872"/>
            <a:ext cx="8046720" cy="365760"/>
          </a:xfrm>
          <a:prstGeom prst="roundRect">
            <a:avLst>
              <a:gd name="adj" fmla="val 20000"/>
            </a:avLst>
          </a:prstGeom>
          <a:solidFill>
            <a:srgbClr val="FFFFFF"/>
          </a:solidFill>
          <a:ln w="12700">
            <a:solidFill>
              <a:srgbClr val="D6E4F7"/>
            </a:solidFill>
            <a:prstDash val="solid"/>
          </a:ln>
        </p:spPr>
      </p:sp>
      <p:sp>
        <p:nvSpPr>
          <p:cNvPr id="8" name="Shape 6"/>
          <p:cNvSpPr/>
          <p:nvPr/>
        </p:nvSpPr>
        <p:spPr>
          <a:xfrm>
            <a:off x="612648" y="1307592"/>
            <a:ext cx="274320" cy="274320"/>
          </a:xfrm>
          <a:prstGeom prst="ellipse">
            <a:avLst/>
          </a:prstGeom>
          <a:solidFill>
            <a:srgbClr val="3B9CF0"/>
          </a:solidFill>
          <a:ln w="12700">
            <a:solidFill>
              <a:srgbClr val="3B9CF0"/>
            </a:solidFill>
            <a:prstDash val="solid"/>
          </a:ln>
        </p:spPr>
      </p:sp>
      <p:sp>
        <p:nvSpPr>
          <p:cNvPr id="9" name="Text 7"/>
          <p:cNvSpPr txBox="1"/>
          <p:nvPr/>
        </p:nvSpPr>
        <p:spPr>
          <a:xfrm>
            <a:off x="612648" y="130759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10</a:t>
            </a:r>
            <a:endParaRPr lang="en-US" sz="1000" dirty="0"/>
          </a:p>
        </p:txBody>
      </p:sp>
      <p:sp>
        <p:nvSpPr>
          <p:cNvPr id="10" name="Text 8"/>
          <p:cNvSpPr txBox="1"/>
          <p:nvPr/>
        </p:nvSpPr>
        <p:spPr>
          <a:xfrm>
            <a:off x="1005840" y="1261872"/>
            <a:ext cx="3474720" cy="365760"/>
          </a:xfrm>
          <a:prstGeom prst="rect">
            <a:avLst/>
          </a:prstGeom>
          <a:noFill/>
          <a:ln/>
        </p:spPr>
        <p:txBody>
          <a:bodyPr wrap="square" lIns="0" tIns="0" rIns="0" bIns="0" rtlCol="0" anchor="ctr"/>
          <a:lstStyle/>
          <a:p>
            <a:pPr indent="0" marL="0">
              <a:buNone/>
            </a:pPr>
            <a:r>
              <a:rPr lang="en-US" sz="950" b="1" dirty="0">
                <a:solidFill>
                  <a:srgbClr val="0B2A5B"/>
                </a:solidFill>
                <a:latin typeface="Calibri" pitchFamily="34" charset="0"/>
                <a:ea typeface="Calibri" pitchFamily="34" charset="-122"/>
                <a:cs typeface="Calibri" pitchFamily="34" charset="-120"/>
              </a:rPr>
              <a:t>Report a Book or an Other item</a:t>
            </a:r>
            <a:endParaRPr lang="en-US" sz="950" dirty="0"/>
          </a:p>
        </p:txBody>
      </p:sp>
      <p:sp>
        <p:nvSpPr>
          <p:cNvPr id="11" name="Text 9"/>
          <p:cNvSpPr txBox="1"/>
          <p:nvPr/>
        </p:nvSpPr>
        <p:spPr>
          <a:xfrm>
            <a:off x="4572000" y="1261872"/>
            <a:ext cx="3931920" cy="365760"/>
          </a:xfrm>
          <a:prstGeom prst="rect">
            <a:avLst/>
          </a:prstGeom>
          <a:noFill/>
          <a:ln/>
        </p:spPr>
        <p:txBody>
          <a:bodyPr wrap="square" lIns="0" tIns="0" rIns="0" bIns="0" rtlCol="0" anchor="ctr"/>
          <a:lstStyle/>
          <a:p>
            <a:pPr indent="0" marL="0">
              <a:buNone/>
            </a:pPr>
            <a:r>
              <a:rPr lang="en-US" sz="950" dirty="0">
                <a:solidFill>
                  <a:srgbClr val="14213D"/>
                </a:solidFill>
                <a:latin typeface="Calibri" pitchFamily="34" charset="0"/>
                <a:ea typeface="Calibri" pitchFamily="34" charset="-122"/>
                <a:cs typeface="Calibri" pitchFamily="34" charset="-120"/>
              </a:rPr>
              <a:t>Not auto-approved; status Pending and not visible on Home.</a:t>
            </a:r>
            <a:endParaRPr lang="en-US" sz="950" dirty="0"/>
          </a:p>
        </p:txBody>
      </p:sp>
      <p:sp>
        <p:nvSpPr>
          <p:cNvPr id="12" name="Shape 10"/>
          <p:cNvSpPr/>
          <p:nvPr/>
        </p:nvSpPr>
        <p:spPr>
          <a:xfrm>
            <a:off x="548640" y="1664208"/>
            <a:ext cx="8046720" cy="365760"/>
          </a:xfrm>
          <a:prstGeom prst="roundRect">
            <a:avLst>
              <a:gd name="adj" fmla="val 20000"/>
            </a:avLst>
          </a:prstGeom>
          <a:solidFill>
            <a:srgbClr val="FFFFFF"/>
          </a:solidFill>
          <a:ln w="12700">
            <a:solidFill>
              <a:srgbClr val="D6E4F7"/>
            </a:solidFill>
            <a:prstDash val="solid"/>
          </a:ln>
        </p:spPr>
      </p:sp>
      <p:sp>
        <p:nvSpPr>
          <p:cNvPr id="13" name="Shape 11"/>
          <p:cNvSpPr/>
          <p:nvPr/>
        </p:nvSpPr>
        <p:spPr>
          <a:xfrm>
            <a:off x="612648" y="1709928"/>
            <a:ext cx="274320" cy="274320"/>
          </a:xfrm>
          <a:prstGeom prst="ellipse">
            <a:avLst/>
          </a:prstGeom>
          <a:solidFill>
            <a:srgbClr val="1E6FD9"/>
          </a:solidFill>
          <a:ln w="12700">
            <a:solidFill>
              <a:srgbClr val="1E6FD9"/>
            </a:solidFill>
            <a:prstDash val="solid"/>
          </a:ln>
        </p:spPr>
      </p:sp>
      <p:sp>
        <p:nvSpPr>
          <p:cNvPr id="14" name="Text 12"/>
          <p:cNvSpPr txBox="1"/>
          <p:nvPr/>
        </p:nvSpPr>
        <p:spPr>
          <a:xfrm>
            <a:off x="612648" y="170992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11</a:t>
            </a:r>
            <a:endParaRPr lang="en-US" sz="1000" dirty="0"/>
          </a:p>
        </p:txBody>
      </p:sp>
      <p:sp>
        <p:nvSpPr>
          <p:cNvPr id="15" name="Text 13"/>
          <p:cNvSpPr txBox="1"/>
          <p:nvPr/>
        </p:nvSpPr>
        <p:spPr>
          <a:xfrm>
            <a:off x="1005840" y="1664208"/>
            <a:ext cx="3474720" cy="365760"/>
          </a:xfrm>
          <a:prstGeom prst="rect">
            <a:avLst/>
          </a:prstGeom>
          <a:noFill/>
          <a:ln/>
        </p:spPr>
        <p:txBody>
          <a:bodyPr wrap="square" lIns="0" tIns="0" rIns="0" bIns="0" rtlCol="0" anchor="ctr"/>
          <a:lstStyle/>
          <a:p>
            <a:pPr indent="0" marL="0">
              <a:buNone/>
            </a:pPr>
            <a:r>
              <a:rPr lang="en-US" sz="950" b="1" dirty="0">
                <a:solidFill>
                  <a:srgbClr val="0B2A5B"/>
                </a:solidFill>
                <a:latin typeface="Calibri" pitchFamily="34" charset="0"/>
                <a:ea typeface="Calibri" pitchFamily="34" charset="-122"/>
                <a:cs typeface="Calibri" pitchFamily="34" charset="-120"/>
              </a:rPr>
              <a:t>Admin approves a pending report</a:t>
            </a:r>
            <a:endParaRPr lang="en-US" sz="950" dirty="0"/>
          </a:p>
        </p:txBody>
      </p:sp>
      <p:sp>
        <p:nvSpPr>
          <p:cNvPr id="16" name="Text 14"/>
          <p:cNvSpPr txBox="1"/>
          <p:nvPr/>
        </p:nvSpPr>
        <p:spPr>
          <a:xfrm>
            <a:off x="4572000" y="1664208"/>
            <a:ext cx="3931920" cy="365760"/>
          </a:xfrm>
          <a:prstGeom prst="rect">
            <a:avLst/>
          </a:prstGeom>
          <a:noFill/>
          <a:ln/>
        </p:spPr>
        <p:txBody>
          <a:bodyPr wrap="square" lIns="0" tIns="0" rIns="0" bIns="0" rtlCol="0" anchor="ctr"/>
          <a:lstStyle/>
          <a:p>
            <a:pPr indent="0" marL="0">
              <a:buNone/>
            </a:pPr>
            <a:r>
              <a:rPr lang="en-US" sz="950" dirty="0">
                <a:solidFill>
                  <a:srgbClr val="14213D"/>
                </a:solidFill>
                <a:latin typeface="Calibri" pitchFamily="34" charset="0"/>
                <a:ea typeface="Calibri" pitchFamily="34" charset="-122"/>
                <a:cs typeface="Calibri" pitchFamily="34" charset="-120"/>
              </a:rPr>
              <a:t>Report appears on every student's Home in real time; reporter receives a notification.</a:t>
            </a:r>
            <a:endParaRPr lang="en-US" sz="950" dirty="0"/>
          </a:p>
        </p:txBody>
      </p:sp>
      <p:sp>
        <p:nvSpPr>
          <p:cNvPr id="17" name="Shape 15"/>
          <p:cNvSpPr/>
          <p:nvPr/>
        </p:nvSpPr>
        <p:spPr>
          <a:xfrm>
            <a:off x="548640" y="2066544"/>
            <a:ext cx="8046720" cy="365760"/>
          </a:xfrm>
          <a:prstGeom prst="roundRect">
            <a:avLst>
              <a:gd name="adj" fmla="val 20000"/>
            </a:avLst>
          </a:prstGeom>
          <a:solidFill>
            <a:srgbClr val="FFFFFF"/>
          </a:solidFill>
          <a:ln w="12700">
            <a:solidFill>
              <a:srgbClr val="D6E4F7"/>
            </a:solidFill>
            <a:prstDash val="solid"/>
          </a:ln>
        </p:spPr>
      </p:sp>
      <p:sp>
        <p:nvSpPr>
          <p:cNvPr id="18" name="Shape 16"/>
          <p:cNvSpPr/>
          <p:nvPr/>
        </p:nvSpPr>
        <p:spPr>
          <a:xfrm>
            <a:off x="612648" y="2112264"/>
            <a:ext cx="274320" cy="274320"/>
          </a:xfrm>
          <a:prstGeom prst="ellipse">
            <a:avLst/>
          </a:prstGeom>
          <a:solidFill>
            <a:srgbClr val="3B9CF0"/>
          </a:solidFill>
          <a:ln w="12700">
            <a:solidFill>
              <a:srgbClr val="3B9CF0"/>
            </a:solidFill>
            <a:prstDash val="solid"/>
          </a:ln>
        </p:spPr>
      </p:sp>
      <p:sp>
        <p:nvSpPr>
          <p:cNvPr id="19" name="Text 17"/>
          <p:cNvSpPr txBox="1"/>
          <p:nvPr/>
        </p:nvSpPr>
        <p:spPr>
          <a:xfrm>
            <a:off x="612648" y="211226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12</a:t>
            </a:r>
            <a:endParaRPr lang="en-US" sz="1000" dirty="0"/>
          </a:p>
        </p:txBody>
      </p:sp>
      <p:sp>
        <p:nvSpPr>
          <p:cNvPr id="20" name="Text 18"/>
          <p:cNvSpPr txBox="1"/>
          <p:nvPr/>
        </p:nvSpPr>
        <p:spPr>
          <a:xfrm>
            <a:off x="1005840" y="2066544"/>
            <a:ext cx="3474720" cy="365760"/>
          </a:xfrm>
          <a:prstGeom prst="rect">
            <a:avLst/>
          </a:prstGeom>
          <a:noFill/>
          <a:ln/>
        </p:spPr>
        <p:txBody>
          <a:bodyPr wrap="square" lIns="0" tIns="0" rIns="0" bIns="0" rtlCol="0" anchor="ctr"/>
          <a:lstStyle/>
          <a:p>
            <a:pPr indent="0" marL="0">
              <a:buNone/>
            </a:pPr>
            <a:r>
              <a:rPr lang="en-US" sz="950" b="1" dirty="0">
                <a:solidFill>
                  <a:srgbClr val="0B2A5B"/>
                </a:solidFill>
                <a:latin typeface="Calibri" pitchFamily="34" charset="0"/>
                <a:ea typeface="Calibri" pitchFamily="34" charset="-122"/>
                <a:cs typeface="Calibri" pitchFamily="34" charset="-120"/>
              </a:rPr>
              <a:t>Admin rejects a pending report</a:t>
            </a:r>
            <a:endParaRPr lang="en-US" sz="950" dirty="0"/>
          </a:p>
        </p:txBody>
      </p:sp>
      <p:sp>
        <p:nvSpPr>
          <p:cNvPr id="21" name="Text 19"/>
          <p:cNvSpPr txBox="1"/>
          <p:nvPr/>
        </p:nvSpPr>
        <p:spPr>
          <a:xfrm>
            <a:off x="4572000" y="2066544"/>
            <a:ext cx="3931920" cy="365760"/>
          </a:xfrm>
          <a:prstGeom prst="rect">
            <a:avLst/>
          </a:prstGeom>
          <a:noFill/>
          <a:ln/>
        </p:spPr>
        <p:txBody>
          <a:bodyPr wrap="square" lIns="0" tIns="0" rIns="0" bIns="0" rtlCol="0" anchor="ctr"/>
          <a:lstStyle/>
          <a:p>
            <a:pPr indent="0" marL="0">
              <a:buNone/>
            </a:pPr>
            <a:r>
              <a:rPr lang="en-US" sz="950" dirty="0">
                <a:solidFill>
                  <a:srgbClr val="14213D"/>
                </a:solidFill>
                <a:latin typeface="Calibri" pitchFamily="34" charset="0"/>
                <a:ea typeface="Calibri" pitchFamily="34" charset="-122"/>
                <a:cs typeface="Calibri" pitchFamily="34" charset="-120"/>
              </a:rPr>
              <a:t>Reporter's notification says it was rejected; report never appears on Home.</a:t>
            </a:r>
            <a:endParaRPr lang="en-US" sz="950" dirty="0"/>
          </a:p>
        </p:txBody>
      </p:sp>
      <p:sp>
        <p:nvSpPr>
          <p:cNvPr id="22" name="Shape 20"/>
          <p:cNvSpPr/>
          <p:nvPr/>
        </p:nvSpPr>
        <p:spPr>
          <a:xfrm>
            <a:off x="548640" y="2468880"/>
            <a:ext cx="8046720" cy="365760"/>
          </a:xfrm>
          <a:prstGeom prst="roundRect">
            <a:avLst>
              <a:gd name="adj" fmla="val 20000"/>
            </a:avLst>
          </a:prstGeom>
          <a:solidFill>
            <a:srgbClr val="FFFFFF"/>
          </a:solidFill>
          <a:ln w="12700">
            <a:solidFill>
              <a:srgbClr val="D6E4F7"/>
            </a:solidFill>
            <a:prstDash val="solid"/>
          </a:ln>
        </p:spPr>
      </p:sp>
      <p:sp>
        <p:nvSpPr>
          <p:cNvPr id="23" name="Shape 21"/>
          <p:cNvSpPr/>
          <p:nvPr/>
        </p:nvSpPr>
        <p:spPr>
          <a:xfrm>
            <a:off x="612648" y="2514600"/>
            <a:ext cx="274320" cy="274320"/>
          </a:xfrm>
          <a:prstGeom prst="ellipse">
            <a:avLst/>
          </a:prstGeom>
          <a:solidFill>
            <a:srgbClr val="1E6FD9"/>
          </a:solidFill>
          <a:ln w="12700">
            <a:solidFill>
              <a:srgbClr val="1E6FD9"/>
            </a:solidFill>
            <a:prstDash val="solid"/>
          </a:ln>
        </p:spPr>
      </p:sp>
      <p:sp>
        <p:nvSpPr>
          <p:cNvPr id="24" name="Text 22"/>
          <p:cNvSpPr txBox="1"/>
          <p:nvPr/>
        </p:nvSpPr>
        <p:spPr>
          <a:xfrm>
            <a:off x="612648" y="251460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13</a:t>
            </a:r>
            <a:endParaRPr lang="en-US" sz="1000" dirty="0"/>
          </a:p>
        </p:txBody>
      </p:sp>
      <p:sp>
        <p:nvSpPr>
          <p:cNvPr id="25" name="Text 23"/>
          <p:cNvSpPr txBox="1"/>
          <p:nvPr/>
        </p:nvSpPr>
        <p:spPr>
          <a:xfrm>
            <a:off x="1005840" y="2468880"/>
            <a:ext cx="3474720" cy="365760"/>
          </a:xfrm>
          <a:prstGeom prst="rect">
            <a:avLst/>
          </a:prstGeom>
          <a:noFill/>
          <a:ln/>
        </p:spPr>
        <p:txBody>
          <a:bodyPr wrap="square" lIns="0" tIns="0" rIns="0" bIns="0" rtlCol="0" anchor="ctr"/>
          <a:lstStyle/>
          <a:p>
            <a:pPr indent="0" marL="0">
              <a:buNone/>
            </a:pPr>
            <a:r>
              <a:rPr lang="en-US" sz="950" b="1" dirty="0">
                <a:solidFill>
                  <a:srgbClr val="0B2A5B"/>
                </a:solidFill>
                <a:latin typeface="Calibri" pitchFamily="34" charset="0"/>
                <a:ea typeface="Calibri" pitchFamily="34" charset="-122"/>
                <a:cs typeface="Calibri" pitchFamily="34" charset="-120"/>
              </a:rPr>
              <a:t>Type part of a title or location in the search bar</a:t>
            </a:r>
            <a:endParaRPr lang="en-US" sz="950" dirty="0"/>
          </a:p>
        </p:txBody>
      </p:sp>
      <p:sp>
        <p:nvSpPr>
          <p:cNvPr id="26" name="Text 24"/>
          <p:cNvSpPr txBox="1"/>
          <p:nvPr/>
        </p:nvSpPr>
        <p:spPr>
          <a:xfrm>
            <a:off x="4572000" y="2468880"/>
            <a:ext cx="3931920" cy="365760"/>
          </a:xfrm>
          <a:prstGeom prst="rect">
            <a:avLst/>
          </a:prstGeom>
          <a:noFill/>
          <a:ln/>
        </p:spPr>
        <p:txBody>
          <a:bodyPr wrap="square" lIns="0" tIns="0" rIns="0" bIns="0" rtlCol="0" anchor="ctr"/>
          <a:lstStyle/>
          <a:p>
            <a:pPr indent="0" marL="0">
              <a:buNone/>
            </a:pPr>
            <a:r>
              <a:rPr lang="en-US" sz="950" dirty="0">
                <a:solidFill>
                  <a:srgbClr val="14213D"/>
                </a:solidFill>
                <a:latin typeface="Calibri" pitchFamily="34" charset="0"/>
                <a:ea typeface="Calibri" pitchFamily="34" charset="-122"/>
                <a:cs typeface="Calibri" pitchFamily="34" charset="-120"/>
              </a:rPr>
              <a:t>The list narrows instantly.</a:t>
            </a:r>
            <a:endParaRPr lang="en-US" sz="950" dirty="0"/>
          </a:p>
        </p:txBody>
      </p:sp>
      <p:sp>
        <p:nvSpPr>
          <p:cNvPr id="27" name="Shape 25"/>
          <p:cNvSpPr/>
          <p:nvPr/>
        </p:nvSpPr>
        <p:spPr>
          <a:xfrm>
            <a:off x="548640" y="2871216"/>
            <a:ext cx="8046720" cy="365760"/>
          </a:xfrm>
          <a:prstGeom prst="roundRect">
            <a:avLst>
              <a:gd name="adj" fmla="val 20000"/>
            </a:avLst>
          </a:prstGeom>
          <a:solidFill>
            <a:srgbClr val="FFFFFF"/>
          </a:solidFill>
          <a:ln w="12700">
            <a:solidFill>
              <a:srgbClr val="D6E4F7"/>
            </a:solidFill>
            <a:prstDash val="solid"/>
          </a:ln>
        </p:spPr>
      </p:sp>
      <p:sp>
        <p:nvSpPr>
          <p:cNvPr id="28" name="Shape 26"/>
          <p:cNvSpPr/>
          <p:nvPr/>
        </p:nvSpPr>
        <p:spPr>
          <a:xfrm>
            <a:off x="612648" y="2916936"/>
            <a:ext cx="274320" cy="274320"/>
          </a:xfrm>
          <a:prstGeom prst="ellipse">
            <a:avLst/>
          </a:prstGeom>
          <a:solidFill>
            <a:srgbClr val="3B9CF0"/>
          </a:solidFill>
          <a:ln w="12700">
            <a:solidFill>
              <a:srgbClr val="3B9CF0"/>
            </a:solidFill>
            <a:prstDash val="solid"/>
          </a:ln>
        </p:spPr>
      </p:sp>
      <p:sp>
        <p:nvSpPr>
          <p:cNvPr id="29" name="Text 27"/>
          <p:cNvSpPr txBox="1"/>
          <p:nvPr/>
        </p:nvSpPr>
        <p:spPr>
          <a:xfrm>
            <a:off x="612648" y="291693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14</a:t>
            </a:r>
            <a:endParaRPr lang="en-US" sz="1000" dirty="0"/>
          </a:p>
        </p:txBody>
      </p:sp>
      <p:sp>
        <p:nvSpPr>
          <p:cNvPr id="30" name="Text 28"/>
          <p:cNvSpPr txBox="1"/>
          <p:nvPr/>
        </p:nvSpPr>
        <p:spPr>
          <a:xfrm>
            <a:off x="1005840" y="2871216"/>
            <a:ext cx="3474720" cy="365760"/>
          </a:xfrm>
          <a:prstGeom prst="rect">
            <a:avLst/>
          </a:prstGeom>
          <a:noFill/>
          <a:ln/>
        </p:spPr>
        <p:txBody>
          <a:bodyPr wrap="square" lIns="0" tIns="0" rIns="0" bIns="0" rtlCol="0" anchor="ctr"/>
          <a:lstStyle/>
          <a:p>
            <a:pPr indent="0" marL="0">
              <a:buNone/>
            </a:pPr>
            <a:r>
              <a:rPr lang="en-US" sz="950" b="1" dirty="0">
                <a:solidFill>
                  <a:srgbClr val="0B2A5B"/>
                </a:solidFill>
                <a:latin typeface="Calibri" pitchFamily="34" charset="0"/>
                <a:ea typeface="Calibri" pitchFamily="34" charset="-122"/>
                <a:cs typeface="Calibri" pitchFamily="34" charset="-120"/>
              </a:rPr>
              <a:t>Tap the Books category card</a:t>
            </a:r>
            <a:endParaRPr lang="en-US" sz="950" dirty="0"/>
          </a:p>
        </p:txBody>
      </p:sp>
      <p:sp>
        <p:nvSpPr>
          <p:cNvPr id="31" name="Text 29"/>
          <p:cNvSpPr txBox="1"/>
          <p:nvPr/>
        </p:nvSpPr>
        <p:spPr>
          <a:xfrm>
            <a:off x="4572000" y="2871216"/>
            <a:ext cx="3931920" cy="365760"/>
          </a:xfrm>
          <a:prstGeom prst="rect">
            <a:avLst/>
          </a:prstGeom>
          <a:noFill/>
          <a:ln/>
        </p:spPr>
        <p:txBody>
          <a:bodyPr wrap="square" lIns="0" tIns="0" rIns="0" bIns="0" rtlCol="0" anchor="ctr"/>
          <a:lstStyle/>
          <a:p>
            <a:pPr indent="0" marL="0">
              <a:buNone/>
            </a:pPr>
            <a:r>
              <a:rPr lang="en-US" sz="950" dirty="0">
                <a:solidFill>
                  <a:srgbClr val="14213D"/>
                </a:solidFill>
                <a:latin typeface="Calibri" pitchFamily="34" charset="0"/>
                <a:ea typeface="Calibri" pitchFamily="34" charset="-122"/>
                <a:cs typeface="Calibri" pitchFamily="34" charset="-120"/>
              </a:rPr>
              <a:t>Only Book reports are listed.</a:t>
            </a:r>
            <a:endParaRPr lang="en-US" sz="950" dirty="0"/>
          </a:p>
        </p:txBody>
      </p:sp>
      <p:sp>
        <p:nvSpPr>
          <p:cNvPr id="32" name="Shape 30"/>
          <p:cNvSpPr/>
          <p:nvPr/>
        </p:nvSpPr>
        <p:spPr>
          <a:xfrm>
            <a:off x="548640" y="3273552"/>
            <a:ext cx="8046720" cy="365760"/>
          </a:xfrm>
          <a:prstGeom prst="roundRect">
            <a:avLst>
              <a:gd name="adj" fmla="val 20000"/>
            </a:avLst>
          </a:prstGeom>
          <a:solidFill>
            <a:srgbClr val="FFFFFF"/>
          </a:solidFill>
          <a:ln w="12700">
            <a:solidFill>
              <a:srgbClr val="D6E4F7"/>
            </a:solidFill>
            <a:prstDash val="solid"/>
          </a:ln>
        </p:spPr>
      </p:sp>
      <p:sp>
        <p:nvSpPr>
          <p:cNvPr id="33" name="Shape 31"/>
          <p:cNvSpPr/>
          <p:nvPr/>
        </p:nvSpPr>
        <p:spPr>
          <a:xfrm>
            <a:off x="612648" y="3319272"/>
            <a:ext cx="274320" cy="274320"/>
          </a:xfrm>
          <a:prstGeom prst="ellipse">
            <a:avLst/>
          </a:prstGeom>
          <a:solidFill>
            <a:srgbClr val="1E6FD9"/>
          </a:solidFill>
          <a:ln w="12700">
            <a:solidFill>
              <a:srgbClr val="1E6FD9"/>
            </a:solidFill>
            <a:prstDash val="solid"/>
          </a:ln>
        </p:spPr>
      </p:sp>
      <p:sp>
        <p:nvSpPr>
          <p:cNvPr id="34" name="Text 32"/>
          <p:cNvSpPr txBox="1"/>
          <p:nvPr/>
        </p:nvSpPr>
        <p:spPr>
          <a:xfrm>
            <a:off x="612648" y="331927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15</a:t>
            </a:r>
            <a:endParaRPr lang="en-US" sz="1000" dirty="0"/>
          </a:p>
        </p:txBody>
      </p:sp>
      <p:sp>
        <p:nvSpPr>
          <p:cNvPr id="35" name="Text 33"/>
          <p:cNvSpPr txBox="1"/>
          <p:nvPr/>
        </p:nvSpPr>
        <p:spPr>
          <a:xfrm>
            <a:off x="1005840" y="3273552"/>
            <a:ext cx="3474720" cy="365760"/>
          </a:xfrm>
          <a:prstGeom prst="rect">
            <a:avLst/>
          </a:prstGeom>
          <a:noFill/>
          <a:ln/>
        </p:spPr>
        <p:txBody>
          <a:bodyPr wrap="square" lIns="0" tIns="0" rIns="0" bIns="0" rtlCol="0" anchor="ctr"/>
          <a:lstStyle/>
          <a:p>
            <a:pPr indent="0" marL="0">
              <a:buNone/>
            </a:pPr>
            <a:r>
              <a:rPr lang="en-US" sz="950" b="1" dirty="0">
                <a:solidFill>
                  <a:srgbClr val="0B2A5B"/>
                </a:solidFill>
                <a:latin typeface="Calibri" pitchFamily="34" charset="0"/>
                <a:ea typeface="Calibri" pitchFamily="34" charset="-122"/>
                <a:cs typeface="Calibri" pitchFamily="34" charset="-120"/>
              </a:rPr>
              <a:t>Owner opens an approved report and presses Mark as Resolved / Claimed</a:t>
            </a:r>
            <a:endParaRPr lang="en-US" sz="950" dirty="0"/>
          </a:p>
        </p:txBody>
      </p:sp>
      <p:sp>
        <p:nvSpPr>
          <p:cNvPr id="36" name="Text 34"/>
          <p:cNvSpPr txBox="1"/>
          <p:nvPr/>
        </p:nvSpPr>
        <p:spPr>
          <a:xfrm>
            <a:off x="4572000" y="3273552"/>
            <a:ext cx="3931920" cy="365760"/>
          </a:xfrm>
          <a:prstGeom prst="rect">
            <a:avLst/>
          </a:prstGeom>
          <a:noFill/>
          <a:ln/>
        </p:spPr>
        <p:txBody>
          <a:bodyPr wrap="square" lIns="0" tIns="0" rIns="0" bIns="0" rtlCol="0" anchor="ctr"/>
          <a:lstStyle/>
          <a:p>
            <a:pPr indent="0" marL="0">
              <a:buNone/>
            </a:pPr>
            <a:r>
              <a:rPr lang="en-US" sz="950" dirty="0">
                <a:solidFill>
                  <a:srgbClr val="14213D"/>
                </a:solidFill>
                <a:latin typeface="Calibri" pitchFamily="34" charset="0"/>
                <a:ea typeface="Calibri" pitchFamily="34" charset="-122"/>
                <a:cs typeface="Calibri" pitchFamily="34" charset="-120"/>
              </a:rPr>
              <a:t>Status changes; report leaves the Home and My Reports lists.</a:t>
            </a:r>
            <a:endParaRPr lang="en-US" sz="950" dirty="0"/>
          </a:p>
        </p:txBody>
      </p:sp>
      <p:sp>
        <p:nvSpPr>
          <p:cNvPr id="37" name="Shape 35"/>
          <p:cNvSpPr/>
          <p:nvPr/>
        </p:nvSpPr>
        <p:spPr>
          <a:xfrm>
            <a:off x="548640" y="3675888"/>
            <a:ext cx="8046720" cy="365760"/>
          </a:xfrm>
          <a:prstGeom prst="roundRect">
            <a:avLst>
              <a:gd name="adj" fmla="val 20000"/>
            </a:avLst>
          </a:prstGeom>
          <a:solidFill>
            <a:srgbClr val="FFFFFF"/>
          </a:solidFill>
          <a:ln w="12700">
            <a:solidFill>
              <a:srgbClr val="D6E4F7"/>
            </a:solidFill>
            <a:prstDash val="solid"/>
          </a:ln>
        </p:spPr>
      </p:sp>
      <p:sp>
        <p:nvSpPr>
          <p:cNvPr id="38" name="Shape 36"/>
          <p:cNvSpPr/>
          <p:nvPr/>
        </p:nvSpPr>
        <p:spPr>
          <a:xfrm>
            <a:off x="612648" y="3721608"/>
            <a:ext cx="274320" cy="274320"/>
          </a:xfrm>
          <a:prstGeom prst="ellipse">
            <a:avLst/>
          </a:prstGeom>
          <a:solidFill>
            <a:srgbClr val="3B9CF0"/>
          </a:solidFill>
          <a:ln w="12700">
            <a:solidFill>
              <a:srgbClr val="3B9CF0"/>
            </a:solidFill>
            <a:prstDash val="solid"/>
          </a:ln>
        </p:spPr>
      </p:sp>
      <p:sp>
        <p:nvSpPr>
          <p:cNvPr id="39" name="Text 37"/>
          <p:cNvSpPr txBox="1"/>
          <p:nvPr/>
        </p:nvSpPr>
        <p:spPr>
          <a:xfrm>
            <a:off x="612648" y="3721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16</a:t>
            </a:r>
            <a:endParaRPr lang="en-US" sz="1000" dirty="0"/>
          </a:p>
        </p:txBody>
      </p:sp>
      <p:sp>
        <p:nvSpPr>
          <p:cNvPr id="40" name="Text 38"/>
          <p:cNvSpPr txBox="1"/>
          <p:nvPr/>
        </p:nvSpPr>
        <p:spPr>
          <a:xfrm>
            <a:off x="1005840" y="3675888"/>
            <a:ext cx="3474720" cy="365760"/>
          </a:xfrm>
          <a:prstGeom prst="rect">
            <a:avLst/>
          </a:prstGeom>
          <a:noFill/>
          <a:ln/>
        </p:spPr>
        <p:txBody>
          <a:bodyPr wrap="square" lIns="0" tIns="0" rIns="0" bIns="0" rtlCol="0" anchor="ctr"/>
          <a:lstStyle/>
          <a:p>
            <a:pPr indent="0" marL="0">
              <a:buNone/>
            </a:pPr>
            <a:r>
              <a:rPr lang="en-US" sz="950" b="1" dirty="0">
                <a:solidFill>
                  <a:srgbClr val="0B2A5B"/>
                </a:solidFill>
                <a:latin typeface="Calibri" pitchFamily="34" charset="0"/>
                <a:ea typeface="Calibri" pitchFamily="34" charset="-122"/>
                <a:cs typeface="Calibri" pitchFamily="34" charset="-120"/>
              </a:rPr>
              <a:t>Student sends a message; admin replies</a:t>
            </a:r>
            <a:endParaRPr lang="en-US" sz="950" dirty="0"/>
          </a:p>
        </p:txBody>
      </p:sp>
      <p:sp>
        <p:nvSpPr>
          <p:cNvPr id="41" name="Text 39"/>
          <p:cNvSpPr txBox="1"/>
          <p:nvPr/>
        </p:nvSpPr>
        <p:spPr>
          <a:xfrm>
            <a:off x="4572000" y="3675888"/>
            <a:ext cx="3931920" cy="365760"/>
          </a:xfrm>
          <a:prstGeom prst="rect">
            <a:avLst/>
          </a:prstGeom>
          <a:noFill/>
          <a:ln/>
        </p:spPr>
        <p:txBody>
          <a:bodyPr wrap="square" lIns="0" tIns="0" rIns="0" bIns="0" rtlCol="0" anchor="ctr"/>
          <a:lstStyle/>
          <a:p>
            <a:pPr indent="0" marL="0">
              <a:buNone/>
            </a:pPr>
            <a:r>
              <a:rPr lang="en-US" sz="950" dirty="0">
                <a:solidFill>
                  <a:srgbClr val="14213D"/>
                </a:solidFill>
                <a:latin typeface="Calibri" pitchFamily="34" charset="0"/>
                <a:ea typeface="Calibri" pitchFamily="34" charset="-122"/>
                <a:cs typeface="Calibri" pitchFamily="34" charset="-120"/>
              </a:rPr>
              <a:t>Reply appears in the student's Messages screen; unread badge shows on Home until it is read.</a:t>
            </a:r>
            <a:endParaRPr lang="en-US" sz="950" dirty="0"/>
          </a:p>
        </p:txBody>
      </p:sp>
      <p:sp>
        <p:nvSpPr>
          <p:cNvPr id="42" name="Shape 40"/>
          <p:cNvSpPr/>
          <p:nvPr/>
        </p:nvSpPr>
        <p:spPr>
          <a:xfrm>
            <a:off x="548640" y="4078224"/>
            <a:ext cx="8046720" cy="365760"/>
          </a:xfrm>
          <a:prstGeom prst="roundRect">
            <a:avLst>
              <a:gd name="adj" fmla="val 20000"/>
            </a:avLst>
          </a:prstGeom>
          <a:solidFill>
            <a:srgbClr val="FFFFFF"/>
          </a:solidFill>
          <a:ln w="12700">
            <a:solidFill>
              <a:srgbClr val="D6E4F7"/>
            </a:solidFill>
            <a:prstDash val="solid"/>
          </a:ln>
        </p:spPr>
      </p:sp>
      <p:sp>
        <p:nvSpPr>
          <p:cNvPr id="43" name="Shape 41"/>
          <p:cNvSpPr/>
          <p:nvPr/>
        </p:nvSpPr>
        <p:spPr>
          <a:xfrm>
            <a:off x="612648" y="4123944"/>
            <a:ext cx="274320" cy="274320"/>
          </a:xfrm>
          <a:prstGeom prst="ellipse">
            <a:avLst/>
          </a:prstGeom>
          <a:solidFill>
            <a:srgbClr val="1E6FD9"/>
          </a:solidFill>
          <a:ln w="12700">
            <a:solidFill>
              <a:srgbClr val="1E6FD9"/>
            </a:solidFill>
            <a:prstDash val="solid"/>
          </a:ln>
        </p:spPr>
      </p:sp>
      <p:sp>
        <p:nvSpPr>
          <p:cNvPr id="44" name="Text 42"/>
          <p:cNvSpPr txBox="1"/>
          <p:nvPr/>
        </p:nvSpPr>
        <p:spPr>
          <a:xfrm>
            <a:off x="612648" y="412394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17</a:t>
            </a:r>
            <a:endParaRPr lang="en-US" sz="1000" dirty="0"/>
          </a:p>
        </p:txBody>
      </p:sp>
      <p:sp>
        <p:nvSpPr>
          <p:cNvPr id="45" name="Text 43"/>
          <p:cNvSpPr txBox="1"/>
          <p:nvPr/>
        </p:nvSpPr>
        <p:spPr>
          <a:xfrm>
            <a:off x="1005840" y="4078224"/>
            <a:ext cx="3474720" cy="365760"/>
          </a:xfrm>
          <a:prstGeom prst="rect">
            <a:avLst/>
          </a:prstGeom>
          <a:noFill/>
          <a:ln/>
        </p:spPr>
        <p:txBody>
          <a:bodyPr wrap="square" lIns="0" tIns="0" rIns="0" bIns="0" rtlCol="0" anchor="ctr"/>
          <a:lstStyle/>
          <a:p>
            <a:pPr indent="0" marL="0">
              <a:buNone/>
            </a:pPr>
            <a:r>
              <a:rPr lang="en-US" sz="950" b="1" dirty="0">
                <a:solidFill>
                  <a:srgbClr val="0B2A5B"/>
                </a:solidFill>
                <a:latin typeface="Calibri" pitchFamily="34" charset="0"/>
                <a:ea typeface="Calibri" pitchFamily="34" charset="-122"/>
                <a:cs typeface="Calibri" pitchFamily="34" charset="-120"/>
              </a:rPr>
              <a:t>Open Manage Users with a normal admin account</a:t>
            </a:r>
            <a:endParaRPr lang="en-US" sz="950" dirty="0"/>
          </a:p>
        </p:txBody>
      </p:sp>
      <p:sp>
        <p:nvSpPr>
          <p:cNvPr id="46" name="Text 44"/>
          <p:cNvSpPr txBox="1"/>
          <p:nvPr/>
        </p:nvSpPr>
        <p:spPr>
          <a:xfrm>
            <a:off x="4572000" y="4078224"/>
            <a:ext cx="3931920" cy="365760"/>
          </a:xfrm>
          <a:prstGeom prst="rect">
            <a:avLst/>
          </a:prstGeom>
          <a:noFill/>
          <a:ln/>
        </p:spPr>
        <p:txBody>
          <a:bodyPr wrap="square" lIns="0" tIns="0" rIns="0" bIns="0" rtlCol="0" anchor="ctr"/>
          <a:lstStyle/>
          <a:p>
            <a:pPr indent="0" marL="0">
              <a:buNone/>
            </a:pPr>
            <a:r>
              <a:rPr lang="en-US" sz="950" dirty="0">
                <a:solidFill>
                  <a:srgbClr val="14213D"/>
                </a:solidFill>
                <a:latin typeface="Calibri" pitchFamily="34" charset="0"/>
                <a:ea typeface="Calibri" pitchFamily="34" charset="-122"/>
                <a:cs typeface="Calibri" pitchFamily="34" charset="-120"/>
              </a:rPr>
              <a:t>Access denied and signed out.</a:t>
            </a:r>
            <a:endParaRPr lang="en-US" sz="950" dirty="0"/>
          </a:p>
        </p:txBody>
      </p:sp>
      <p:sp>
        <p:nvSpPr>
          <p:cNvPr id="47" name="Shape 45"/>
          <p:cNvSpPr/>
          <p:nvPr/>
        </p:nvSpPr>
        <p:spPr>
          <a:xfrm>
            <a:off x="548640" y="4480560"/>
            <a:ext cx="8046720" cy="365760"/>
          </a:xfrm>
          <a:prstGeom prst="roundRect">
            <a:avLst>
              <a:gd name="adj" fmla="val 20000"/>
            </a:avLst>
          </a:prstGeom>
          <a:solidFill>
            <a:srgbClr val="FFFFFF"/>
          </a:solidFill>
          <a:ln w="12700">
            <a:solidFill>
              <a:srgbClr val="D6E4F7"/>
            </a:solidFill>
            <a:prstDash val="solid"/>
          </a:ln>
        </p:spPr>
      </p:sp>
      <p:sp>
        <p:nvSpPr>
          <p:cNvPr id="48" name="Shape 46"/>
          <p:cNvSpPr/>
          <p:nvPr/>
        </p:nvSpPr>
        <p:spPr>
          <a:xfrm>
            <a:off x="612648" y="4526280"/>
            <a:ext cx="274320" cy="274320"/>
          </a:xfrm>
          <a:prstGeom prst="ellipse">
            <a:avLst/>
          </a:prstGeom>
          <a:solidFill>
            <a:srgbClr val="3B9CF0"/>
          </a:solidFill>
          <a:ln w="12700">
            <a:solidFill>
              <a:srgbClr val="3B9CF0"/>
            </a:solidFill>
            <a:prstDash val="solid"/>
          </a:ln>
        </p:spPr>
      </p:sp>
      <p:sp>
        <p:nvSpPr>
          <p:cNvPr id="49" name="Text 47"/>
          <p:cNvSpPr txBox="1"/>
          <p:nvPr/>
        </p:nvSpPr>
        <p:spPr>
          <a:xfrm>
            <a:off x="612648" y="452628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18</a:t>
            </a:r>
            <a:endParaRPr lang="en-US" sz="1000" dirty="0"/>
          </a:p>
        </p:txBody>
      </p:sp>
      <p:sp>
        <p:nvSpPr>
          <p:cNvPr id="50" name="Text 48"/>
          <p:cNvSpPr txBox="1"/>
          <p:nvPr/>
        </p:nvSpPr>
        <p:spPr>
          <a:xfrm>
            <a:off x="1005840" y="4480560"/>
            <a:ext cx="3474720" cy="365760"/>
          </a:xfrm>
          <a:prstGeom prst="rect">
            <a:avLst/>
          </a:prstGeom>
          <a:noFill/>
          <a:ln/>
        </p:spPr>
        <p:txBody>
          <a:bodyPr wrap="square" lIns="0" tIns="0" rIns="0" bIns="0" rtlCol="0" anchor="ctr"/>
          <a:lstStyle/>
          <a:p>
            <a:pPr indent="0" marL="0">
              <a:buNone/>
            </a:pPr>
            <a:r>
              <a:rPr lang="en-US" sz="950" b="1" dirty="0">
                <a:solidFill>
                  <a:srgbClr val="0B2A5B"/>
                </a:solidFill>
                <a:latin typeface="Calibri" pitchFamily="34" charset="0"/>
                <a:ea typeface="Calibri" pitchFamily="34" charset="-122"/>
                <a:cs typeface="Calibri" pitchFamily="34" charset="-120"/>
              </a:rPr>
              <a:t>Log out, then press Back</a:t>
            </a:r>
            <a:endParaRPr lang="en-US" sz="950" dirty="0"/>
          </a:p>
        </p:txBody>
      </p:sp>
      <p:sp>
        <p:nvSpPr>
          <p:cNvPr id="51" name="Text 49"/>
          <p:cNvSpPr txBox="1"/>
          <p:nvPr/>
        </p:nvSpPr>
        <p:spPr>
          <a:xfrm>
            <a:off x="4572000" y="4480560"/>
            <a:ext cx="3931920" cy="365760"/>
          </a:xfrm>
          <a:prstGeom prst="rect">
            <a:avLst/>
          </a:prstGeom>
          <a:noFill/>
          <a:ln/>
        </p:spPr>
        <p:txBody>
          <a:bodyPr wrap="square" lIns="0" tIns="0" rIns="0" bIns="0" rtlCol="0" anchor="ctr"/>
          <a:lstStyle/>
          <a:p>
            <a:pPr indent="0" marL="0">
              <a:buNone/>
            </a:pPr>
            <a:r>
              <a:rPr lang="en-US" sz="950" dirty="0">
                <a:solidFill>
                  <a:srgbClr val="14213D"/>
                </a:solidFill>
                <a:latin typeface="Calibri" pitchFamily="34" charset="0"/>
                <a:ea typeface="Calibri" pitchFamily="34" charset="-122"/>
                <a:cs typeface="Calibri" pitchFamily="34" charset="-120"/>
              </a:rPr>
              <a:t>Login screen remains; signed-in screens are not shown.</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9FF"/>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E6FD9"/>
          </a:solidFill>
          <a:ln w="12700">
            <a:solidFill>
              <a:srgbClr val="1E6FD9"/>
            </a:solidFill>
            <a:prstDash val="solid"/>
          </a:ln>
        </p:spPr>
      </p:sp>
      <p:sp>
        <p:nvSpPr>
          <p:cNvPr id="3" name="Text 1"/>
          <p:cNvSpPr txBox="1"/>
          <p:nvPr/>
        </p:nvSpPr>
        <p:spPr>
          <a:xfrm>
            <a:off x="548640" y="91440"/>
            <a:ext cx="7680960" cy="228600"/>
          </a:xfrm>
          <a:prstGeom prst="rect">
            <a:avLst/>
          </a:prstGeom>
          <a:noFill/>
          <a:ln/>
        </p:spPr>
        <p:txBody>
          <a:bodyPr wrap="square" lIns="0" tIns="0" rIns="0" bIns="0" rtlCol="0" anchor="ctr"/>
          <a:lstStyle/>
          <a:p>
            <a:pPr indent="0" marL="0">
              <a:buNone/>
            </a:pPr>
            <a:r>
              <a:rPr lang="en-US" sz="900" b="1" spc="200" kern="0" dirty="0">
                <a:solidFill>
                  <a:srgbClr val="1E6FD9"/>
                </a:solidFill>
                <a:latin typeface="Calibri" pitchFamily="34" charset="0"/>
                <a:ea typeface="Calibri" pitchFamily="34" charset="-122"/>
                <a:cs typeface="Calibri" pitchFamily="34" charset="-120"/>
              </a:rPr>
              <a:t>CHALLENGES AND LIMITATIONS</a:t>
            </a:r>
            <a:endParaRPr lang="en-US" sz="900" dirty="0"/>
          </a:p>
        </p:txBody>
      </p:sp>
      <p:sp>
        <p:nvSpPr>
          <p:cNvPr id="4" name="Text 2"/>
          <p:cNvSpPr txBox="1"/>
          <p:nvPr/>
        </p:nvSpPr>
        <p:spPr>
          <a:xfrm>
            <a:off x="548640" y="320040"/>
            <a:ext cx="8229600" cy="640080"/>
          </a:xfrm>
          <a:prstGeom prst="rect">
            <a:avLst/>
          </a:prstGeom>
          <a:noFill/>
          <a:ln/>
        </p:spPr>
        <p:txBody>
          <a:bodyPr wrap="square" lIns="0" tIns="0" rIns="0" bIns="0" rtlCol="0" anchor="ctr"/>
          <a:lstStyle/>
          <a:p>
            <a:pPr indent="0" marL="0">
              <a:buNone/>
            </a:pPr>
            <a:r>
              <a:rPr lang="en-US" sz="3000" b="1" dirty="0">
                <a:solidFill>
                  <a:srgbClr val="0B2A5B"/>
                </a:solidFill>
                <a:latin typeface="Cambria" pitchFamily="34" charset="0"/>
                <a:ea typeface="Cambria" pitchFamily="34" charset="-122"/>
                <a:cs typeface="Cambria" pitchFamily="34" charset="-120"/>
              </a:rPr>
              <a:t>Challenges and Limitations</a:t>
            </a:r>
            <a:endParaRPr lang="en-US" sz="3000" dirty="0"/>
          </a:p>
        </p:txBody>
      </p:sp>
      <p:sp>
        <p:nvSpPr>
          <p:cNvPr id="5" name="Shape 3"/>
          <p:cNvSpPr/>
          <p:nvPr/>
        </p:nvSpPr>
        <p:spPr>
          <a:xfrm>
            <a:off x="548640" y="1097280"/>
            <a:ext cx="3931920" cy="859536"/>
          </a:xfrm>
          <a:prstGeom prst="roundRect">
            <a:avLst>
              <a:gd name="adj" fmla="val 10638"/>
            </a:avLst>
          </a:prstGeom>
          <a:solidFill>
            <a:srgbClr val="EEF5FF"/>
          </a:solidFill>
          <a:ln w="12700">
            <a:solidFill>
              <a:srgbClr val="BBD6F7"/>
            </a:solidFill>
            <a:prstDash val="solid"/>
          </a:ln>
        </p:spPr>
      </p:sp>
      <p:sp>
        <p:nvSpPr>
          <p:cNvPr id="6" name="Shape 4"/>
          <p:cNvSpPr/>
          <p:nvPr/>
        </p:nvSpPr>
        <p:spPr>
          <a:xfrm>
            <a:off x="658368" y="1207008"/>
            <a:ext cx="347472" cy="347472"/>
          </a:xfrm>
          <a:prstGeom prst="ellipse">
            <a:avLst/>
          </a:prstGeom>
          <a:solidFill>
            <a:srgbClr val="FFC145"/>
          </a:solidFill>
          <a:ln w="12700">
            <a:solidFill>
              <a:srgbClr val="FFC145"/>
            </a:solidFill>
            <a:prstDash val="solid"/>
          </a:ln>
        </p:spPr>
      </p:sp>
      <p:pic>
        <p:nvPicPr>
          <p:cNvPr id="7" name="Image 0" descr="preencoded.png">    </p:cNvPr>
          <p:cNvPicPr>
            <a:picLocks noChangeAspect="1"/>
          </p:cNvPicPr>
          <p:nvPr/>
        </p:nvPicPr>
        <p:blipFill>
          <a:blip r:embed="rId1"/>
          <a:stretch>
            <a:fillRect/>
          </a:stretch>
        </p:blipFill>
        <p:spPr>
          <a:xfrm>
            <a:off x="749808" y="1298448"/>
            <a:ext cx="164592" cy="164592"/>
          </a:xfrm>
          <a:prstGeom prst="rect">
            <a:avLst/>
          </a:prstGeom>
        </p:spPr>
      </p:pic>
      <p:sp>
        <p:nvSpPr>
          <p:cNvPr id="8" name="Text 5"/>
          <p:cNvSpPr txBox="1"/>
          <p:nvPr/>
        </p:nvSpPr>
        <p:spPr>
          <a:xfrm>
            <a:off x="1115568" y="1124712"/>
            <a:ext cx="3291840" cy="804672"/>
          </a:xfrm>
          <a:prstGeom prst="rect">
            <a:avLst/>
          </a:prstGeom>
          <a:noFill/>
          <a:ln/>
        </p:spPr>
        <p:txBody>
          <a:bodyPr wrap="square" lIns="0" tIns="0" rIns="0" bIns="0" rtlCol="0" anchor="ctr"/>
          <a:lstStyle/>
          <a:p>
            <a:pPr indent="0" marL="0">
              <a:buNone/>
            </a:pPr>
            <a:r>
              <a:rPr lang="en-US" sz="1150" b="1" dirty="0">
                <a:solidFill>
                  <a:srgbClr val="0B2A5B"/>
                </a:solidFill>
                <a:latin typeface="Calibri" pitchFamily="34" charset="0"/>
                <a:ea typeface="Calibri" pitchFamily="34" charset="-122"/>
                <a:cs typeface="Calibri" pitchFamily="34" charset="-120"/>
              </a:rPr>
              <a:t>Photos are not yet uploaded</a:t>
            </a:r>
            <a:endParaRPr lang="en-US" sz="1300" dirty="0"/>
          </a:p>
          <a:p>
            <a:pPr indent="0" marL="0">
              <a:buNone/>
            </a:pPr>
            <a:r>
              <a:rPr lang="en-US" sz="900" dirty="0">
                <a:solidFill>
                  <a:srgbClr val="14213D"/>
                </a:solidFill>
                <a:latin typeface="Calibri" pitchFamily="34" charset="0"/>
                <a:ea typeface="Calibri" pitchFamily="34" charset="-122"/>
                <a:cs typeface="Calibri" pitchFamily="34" charset="-120"/>
              </a:rPr>
              <a:t>The report form shows a photo option, but this version saves the report without a photo. Firebase Storage is included for a later release.</a:t>
            </a:r>
            <a:endParaRPr lang="en-US" sz="1300" dirty="0"/>
          </a:p>
        </p:txBody>
      </p:sp>
      <p:sp>
        <p:nvSpPr>
          <p:cNvPr id="9" name="Shape 6"/>
          <p:cNvSpPr/>
          <p:nvPr/>
        </p:nvSpPr>
        <p:spPr>
          <a:xfrm>
            <a:off x="4709160" y="1097280"/>
            <a:ext cx="3931920" cy="859536"/>
          </a:xfrm>
          <a:prstGeom prst="roundRect">
            <a:avLst>
              <a:gd name="adj" fmla="val 10638"/>
            </a:avLst>
          </a:prstGeom>
          <a:solidFill>
            <a:srgbClr val="EEF5FF"/>
          </a:solidFill>
          <a:ln w="12700">
            <a:solidFill>
              <a:srgbClr val="BBD6F7"/>
            </a:solidFill>
            <a:prstDash val="solid"/>
          </a:ln>
        </p:spPr>
      </p:sp>
      <p:sp>
        <p:nvSpPr>
          <p:cNvPr id="10" name="Shape 7"/>
          <p:cNvSpPr/>
          <p:nvPr/>
        </p:nvSpPr>
        <p:spPr>
          <a:xfrm>
            <a:off x="4818888" y="1207008"/>
            <a:ext cx="347472" cy="347472"/>
          </a:xfrm>
          <a:prstGeom prst="ellipse">
            <a:avLst/>
          </a:prstGeom>
          <a:solidFill>
            <a:srgbClr val="FFC145"/>
          </a:solidFill>
          <a:ln w="12700">
            <a:solidFill>
              <a:srgbClr val="FFC145"/>
            </a:solidFill>
            <a:prstDash val="solid"/>
          </a:ln>
        </p:spPr>
      </p:sp>
      <p:pic>
        <p:nvPicPr>
          <p:cNvPr id="11" name="Image 1" descr="preencoded.png">    </p:cNvPr>
          <p:cNvPicPr>
            <a:picLocks noChangeAspect="1"/>
          </p:cNvPicPr>
          <p:nvPr/>
        </p:nvPicPr>
        <p:blipFill>
          <a:blip r:embed="rId2"/>
          <a:stretch>
            <a:fillRect/>
          </a:stretch>
        </p:blipFill>
        <p:spPr>
          <a:xfrm>
            <a:off x="4910328" y="1298448"/>
            <a:ext cx="164592" cy="164592"/>
          </a:xfrm>
          <a:prstGeom prst="rect">
            <a:avLst/>
          </a:prstGeom>
        </p:spPr>
      </p:pic>
      <p:sp>
        <p:nvSpPr>
          <p:cNvPr id="12" name="Text 8"/>
          <p:cNvSpPr txBox="1"/>
          <p:nvPr/>
        </p:nvSpPr>
        <p:spPr>
          <a:xfrm>
            <a:off x="5276088" y="1124712"/>
            <a:ext cx="3291840" cy="804672"/>
          </a:xfrm>
          <a:prstGeom prst="rect">
            <a:avLst/>
          </a:prstGeom>
          <a:noFill/>
          <a:ln/>
        </p:spPr>
        <p:txBody>
          <a:bodyPr wrap="square" lIns="0" tIns="0" rIns="0" bIns="0" rtlCol="0" anchor="ctr"/>
          <a:lstStyle/>
          <a:p>
            <a:pPr indent="0" marL="0">
              <a:buNone/>
            </a:pPr>
            <a:r>
              <a:rPr lang="en-US" sz="1150" b="1" dirty="0">
                <a:solidFill>
                  <a:srgbClr val="0B2A5B"/>
                </a:solidFill>
                <a:latin typeface="Calibri" pitchFamily="34" charset="0"/>
                <a:ea typeface="Calibri" pitchFamily="34" charset="-122"/>
                <a:cs typeface="Calibri" pitchFamily="34" charset="-120"/>
              </a:rPr>
              <a:t>No push notifications</a:t>
            </a:r>
            <a:endParaRPr lang="en-US" sz="1300" dirty="0"/>
          </a:p>
          <a:p>
            <a:pPr indent="0" marL="0">
              <a:buNone/>
            </a:pPr>
            <a:r>
              <a:rPr lang="en-US" sz="900" dirty="0">
                <a:solidFill>
                  <a:srgbClr val="14213D"/>
                </a:solidFill>
                <a:latin typeface="Calibri" pitchFamily="34" charset="0"/>
                <a:ea typeface="Calibri" pitchFamily="34" charset="-122"/>
                <a:cs typeface="Calibri" pitchFamily="34" charset="-120"/>
              </a:rPr>
              <a:t>Notifications are in-app and update in real time while the app runs. Cloud Messaging and its permission are declared, but no messaging service exists yet.</a:t>
            </a:r>
            <a:endParaRPr lang="en-US" sz="1300" dirty="0"/>
          </a:p>
        </p:txBody>
      </p:sp>
      <p:sp>
        <p:nvSpPr>
          <p:cNvPr id="13" name="Shape 9"/>
          <p:cNvSpPr/>
          <p:nvPr/>
        </p:nvSpPr>
        <p:spPr>
          <a:xfrm>
            <a:off x="548640" y="2029968"/>
            <a:ext cx="3931920" cy="859536"/>
          </a:xfrm>
          <a:prstGeom prst="roundRect">
            <a:avLst>
              <a:gd name="adj" fmla="val 10638"/>
            </a:avLst>
          </a:prstGeom>
          <a:solidFill>
            <a:srgbClr val="EEF5FF"/>
          </a:solidFill>
          <a:ln w="12700">
            <a:solidFill>
              <a:srgbClr val="BBD6F7"/>
            </a:solidFill>
            <a:prstDash val="solid"/>
          </a:ln>
        </p:spPr>
      </p:sp>
      <p:sp>
        <p:nvSpPr>
          <p:cNvPr id="14" name="Shape 10"/>
          <p:cNvSpPr/>
          <p:nvPr/>
        </p:nvSpPr>
        <p:spPr>
          <a:xfrm>
            <a:off x="658368" y="2139696"/>
            <a:ext cx="347472" cy="347472"/>
          </a:xfrm>
          <a:prstGeom prst="ellipse">
            <a:avLst/>
          </a:prstGeom>
          <a:solidFill>
            <a:srgbClr val="FFC145"/>
          </a:solidFill>
          <a:ln w="12700">
            <a:solidFill>
              <a:srgbClr val="FFC145"/>
            </a:solidFill>
            <a:prstDash val="solid"/>
          </a:ln>
        </p:spPr>
      </p:sp>
      <p:pic>
        <p:nvPicPr>
          <p:cNvPr id="15" name="Image 2" descr="preencoded.png">    </p:cNvPr>
          <p:cNvPicPr>
            <a:picLocks noChangeAspect="1"/>
          </p:cNvPicPr>
          <p:nvPr/>
        </p:nvPicPr>
        <p:blipFill>
          <a:blip r:embed="rId3"/>
          <a:stretch>
            <a:fillRect/>
          </a:stretch>
        </p:blipFill>
        <p:spPr>
          <a:xfrm>
            <a:off x="749808" y="2231136"/>
            <a:ext cx="164592" cy="164592"/>
          </a:xfrm>
          <a:prstGeom prst="rect">
            <a:avLst/>
          </a:prstGeom>
        </p:spPr>
      </p:pic>
      <p:sp>
        <p:nvSpPr>
          <p:cNvPr id="16" name="Text 11"/>
          <p:cNvSpPr txBox="1"/>
          <p:nvPr/>
        </p:nvSpPr>
        <p:spPr>
          <a:xfrm>
            <a:off x="1115568" y="2057400"/>
            <a:ext cx="3291840" cy="804672"/>
          </a:xfrm>
          <a:prstGeom prst="rect">
            <a:avLst/>
          </a:prstGeom>
          <a:noFill/>
          <a:ln/>
        </p:spPr>
        <p:txBody>
          <a:bodyPr wrap="square" lIns="0" tIns="0" rIns="0" bIns="0" rtlCol="0" anchor="ctr"/>
          <a:lstStyle/>
          <a:p>
            <a:pPr indent="0" marL="0">
              <a:buNone/>
            </a:pPr>
            <a:r>
              <a:rPr lang="en-US" sz="1150" b="1" dirty="0">
                <a:solidFill>
                  <a:srgbClr val="0B2A5B"/>
                </a:solidFill>
                <a:latin typeface="Calibri" pitchFamily="34" charset="0"/>
                <a:ea typeface="Calibri" pitchFamily="34" charset="-122"/>
                <a:cs typeface="Calibri" pitchFamily="34" charset="-120"/>
              </a:rPr>
              <a:t>Security relies on the client</a:t>
            </a:r>
            <a:endParaRPr lang="en-US" sz="1300" dirty="0"/>
          </a:p>
          <a:p>
            <a:pPr indent="0" marL="0">
              <a:buNone/>
            </a:pPr>
            <a:r>
              <a:rPr lang="en-US" sz="900" dirty="0">
                <a:solidFill>
                  <a:srgbClr val="14213D"/>
                </a:solidFill>
                <a:latin typeface="Calibri" pitchFamily="34" charset="0"/>
                <a:ea typeface="Calibri" pitchFamily="34" charset="-122"/>
                <a:cs typeface="Calibri" pitchFamily="34" charset="-120"/>
              </a:rPr>
              <a:t>Role checks are performed in the app. Firestore security rules must also enforce roles on the server, and the main admin's user ID is written inside the app code.</a:t>
            </a:r>
            <a:endParaRPr lang="en-US" sz="1300" dirty="0"/>
          </a:p>
        </p:txBody>
      </p:sp>
      <p:sp>
        <p:nvSpPr>
          <p:cNvPr id="17" name="Shape 12"/>
          <p:cNvSpPr/>
          <p:nvPr/>
        </p:nvSpPr>
        <p:spPr>
          <a:xfrm>
            <a:off x="4709160" y="2029968"/>
            <a:ext cx="3931920" cy="859536"/>
          </a:xfrm>
          <a:prstGeom prst="roundRect">
            <a:avLst>
              <a:gd name="adj" fmla="val 10638"/>
            </a:avLst>
          </a:prstGeom>
          <a:solidFill>
            <a:srgbClr val="EEF5FF"/>
          </a:solidFill>
          <a:ln w="12700">
            <a:solidFill>
              <a:srgbClr val="BBD6F7"/>
            </a:solidFill>
            <a:prstDash val="solid"/>
          </a:ln>
        </p:spPr>
      </p:sp>
      <p:sp>
        <p:nvSpPr>
          <p:cNvPr id="18" name="Shape 13"/>
          <p:cNvSpPr/>
          <p:nvPr/>
        </p:nvSpPr>
        <p:spPr>
          <a:xfrm>
            <a:off x="4818888" y="2139696"/>
            <a:ext cx="347472" cy="347472"/>
          </a:xfrm>
          <a:prstGeom prst="ellipse">
            <a:avLst/>
          </a:prstGeom>
          <a:solidFill>
            <a:srgbClr val="FFC145"/>
          </a:solidFill>
          <a:ln w="12700">
            <a:solidFill>
              <a:srgbClr val="FFC145"/>
            </a:solidFill>
            <a:prstDash val="solid"/>
          </a:ln>
        </p:spPr>
      </p:sp>
      <p:pic>
        <p:nvPicPr>
          <p:cNvPr id="19" name="Image 3" descr="preencoded.png">    </p:cNvPr>
          <p:cNvPicPr>
            <a:picLocks noChangeAspect="1"/>
          </p:cNvPicPr>
          <p:nvPr/>
        </p:nvPicPr>
        <p:blipFill>
          <a:blip r:embed="rId4"/>
          <a:stretch>
            <a:fillRect/>
          </a:stretch>
        </p:blipFill>
        <p:spPr>
          <a:xfrm>
            <a:off x="4910328" y="2231136"/>
            <a:ext cx="164592" cy="164592"/>
          </a:xfrm>
          <a:prstGeom prst="rect">
            <a:avLst/>
          </a:prstGeom>
        </p:spPr>
      </p:pic>
      <p:sp>
        <p:nvSpPr>
          <p:cNvPr id="20" name="Text 14"/>
          <p:cNvSpPr txBox="1"/>
          <p:nvPr/>
        </p:nvSpPr>
        <p:spPr>
          <a:xfrm>
            <a:off x="5276088" y="2057400"/>
            <a:ext cx="3291840" cy="804672"/>
          </a:xfrm>
          <a:prstGeom prst="rect">
            <a:avLst/>
          </a:prstGeom>
          <a:noFill/>
          <a:ln/>
        </p:spPr>
        <p:txBody>
          <a:bodyPr wrap="square" lIns="0" tIns="0" rIns="0" bIns="0" rtlCol="0" anchor="ctr"/>
          <a:lstStyle/>
          <a:p>
            <a:pPr indent="0" marL="0">
              <a:buNone/>
            </a:pPr>
            <a:r>
              <a:rPr lang="en-US" sz="1150" b="1" dirty="0">
                <a:solidFill>
                  <a:srgbClr val="0B2A5B"/>
                </a:solidFill>
                <a:latin typeface="Calibri" pitchFamily="34" charset="0"/>
                <a:ea typeface="Calibri" pitchFamily="34" charset="-122"/>
                <a:cs typeface="Calibri" pitchFamily="34" charset="-120"/>
              </a:rPr>
              <a:t>Reports are looked up by timestamp</a:t>
            </a:r>
            <a:endParaRPr lang="en-US" sz="1300" dirty="0"/>
          </a:p>
          <a:p>
            <a:pPr indent="0" marL="0">
              <a:buNone/>
            </a:pPr>
            <a:r>
              <a:rPr lang="en-US" sz="900" dirty="0">
                <a:solidFill>
                  <a:srgbClr val="14213D"/>
                </a:solidFill>
                <a:latin typeface="Calibri" pitchFamily="34" charset="0"/>
                <a:ea typeface="Calibri" pitchFamily="34" charset="-122"/>
                <a:cs typeface="Calibri" pitchFamily="34" charset="-120"/>
              </a:rPr>
              <a:t>The creation time in milliseconds is the identifier passed between screens. It works for a small system; a Firestore document ID would be more reliable.</a:t>
            </a:r>
            <a:endParaRPr lang="en-US" sz="1300" dirty="0"/>
          </a:p>
        </p:txBody>
      </p:sp>
      <p:sp>
        <p:nvSpPr>
          <p:cNvPr id="21" name="Shape 15"/>
          <p:cNvSpPr/>
          <p:nvPr/>
        </p:nvSpPr>
        <p:spPr>
          <a:xfrm>
            <a:off x="548640" y="2962656"/>
            <a:ext cx="3931920" cy="859536"/>
          </a:xfrm>
          <a:prstGeom prst="roundRect">
            <a:avLst>
              <a:gd name="adj" fmla="val 10638"/>
            </a:avLst>
          </a:prstGeom>
          <a:solidFill>
            <a:srgbClr val="EEF5FF"/>
          </a:solidFill>
          <a:ln w="12700">
            <a:solidFill>
              <a:srgbClr val="BBD6F7"/>
            </a:solidFill>
            <a:prstDash val="solid"/>
          </a:ln>
        </p:spPr>
      </p:sp>
      <p:sp>
        <p:nvSpPr>
          <p:cNvPr id="22" name="Shape 16"/>
          <p:cNvSpPr/>
          <p:nvPr/>
        </p:nvSpPr>
        <p:spPr>
          <a:xfrm>
            <a:off x="658368" y="3072384"/>
            <a:ext cx="347472" cy="347472"/>
          </a:xfrm>
          <a:prstGeom prst="ellipse">
            <a:avLst/>
          </a:prstGeom>
          <a:solidFill>
            <a:srgbClr val="FFC145"/>
          </a:solidFill>
          <a:ln w="12700">
            <a:solidFill>
              <a:srgbClr val="FFC145"/>
            </a:solidFill>
            <a:prstDash val="solid"/>
          </a:ln>
        </p:spPr>
      </p:sp>
      <p:pic>
        <p:nvPicPr>
          <p:cNvPr id="23" name="Image 4" descr="preencoded.png">    </p:cNvPr>
          <p:cNvPicPr>
            <a:picLocks noChangeAspect="1"/>
          </p:cNvPicPr>
          <p:nvPr/>
        </p:nvPicPr>
        <p:blipFill>
          <a:blip r:embed="rId5"/>
          <a:stretch>
            <a:fillRect/>
          </a:stretch>
        </p:blipFill>
        <p:spPr>
          <a:xfrm>
            <a:off x="749808" y="3163824"/>
            <a:ext cx="164592" cy="164592"/>
          </a:xfrm>
          <a:prstGeom prst="rect">
            <a:avLst/>
          </a:prstGeom>
        </p:spPr>
      </p:pic>
      <p:sp>
        <p:nvSpPr>
          <p:cNvPr id="24" name="Text 17"/>
          <p:cNvSpPr txBox="1"/>
          <p:nvPr/>
        </p:nvSpPr>
        <p:spPr>
          <a:xfrm>
            <a:off x="1115568" y="2990088"/>
            <a:ext cx="3291840" cy="804672"/>
          </a:xfrm>
          <a:prstGeom prst="rect">
            <a:avLst/>
          </a:prstGeom>
          <a:noFill/>
          <a:ln/>
        </p:spPr>
        <p:txBody>
          <a:bodyPr wrap="square" lIns="0" tIns="0" rIns="0" bIns="0" rtlCol="0" anchor="ctr"/>
          <a:lstStyle/>
          <a:p>
            <a:pPr indent="0" marL="0">
              <a:buNone/>
            </a:pPr>
            <a:r>
              <a:rPr lang="en-US" sz="1150" b="1" dirty="0">
                <a:solidFill>
                  <a:srgbClr val="0B2A5B"/>
                </a:solidFill>
                <a:latin typeface="Calibri" pitchFamily="34" charset="0"/>
                <a:ea typeface="Calibri" pitchFamily="34" charset="-122"/>
                <a:cs typeface="Calibri" pitchFamily="34" charset="-120"/>
              </a:rPr>
              <a:t>Rule-based classifier</a:t>
            </a:r>
            <a:endParaRPr lang="en-US" sz="1300" dirty="0"/>
          </a:p>
          <a:p>
            <a:pPr indent="0" marL="0">
              <a:buNone/>
            </a:pPr>
            <a:r>
              <a:rPr lang="en-US" sz="900" dirty="0">
                <a:solidFill>
                  <a:srgbClr val="14213D"/>
                </a:solidFill>
                <a:latin typeface="Calibri" pitchFamily="34" charset="0"/>
                <a:ea typeface="Calibri" pitchFamily="34" charset="-122"/>
                <a:cs typeface="Calibri" pitchFamily="34" charset="-120"/>
              </a:rPr>
              <a:t>It depends on categories and keywords and cannot understand free-text descriptions.</a:t>
            </a:r>
            <a:endParaRPr lang="en-US" sz="1300" dirty="0"/>
          </a:p>
        </p:txBody>
      </p:sp>
      <p:sp>
        <p:nvSpPr>
          <p:cNvPr id="25" name="Shape 18"/>
          <p:cNvSpPr/>
          <p:nvPr/>
        </p:nvSpPr>
        <p:spPr>
          <a:xfrm>
            <a:off x="4709160" y="2962656"/>
            <a:ext cx="3931920" cy="859536"/>
          </a:xfrm>
          <a:prstGeom prst="roundRect">
            <a:avLst>
              <a:gd name="adj" fmla="val 10638"/>
            </a:avLst>
          </a:prstGeom>
          <a:solidFill>
            <a:srgbClr val="EEF5FF"/>
          </a:solidFill>
          <a:ln w="12700">
            <a:solidFill>
              <a:srgbClr val="BBD6F7"/>
            </a:solidFill>
            <a:prstDash val="solid"/>
          </a:ln>
        </p:spPr>
      </p:sp>
      <p:sp>
        <p:nvSpPr>
          <p:cNvPr id="26" name="Shape 19"/>
          <p:cNvSpPr/>
          <p:nvPr/>
        </p:nvSpPr>
        <p:spPr>
          <a:xfrm>
            <a:off x="4818888" y="3072384"/>
            <a:ext cx="347472" cy="347472"/>
          </a:xfrm>
          <a:prstGeom prst="ellipse">
            <a:avLst/>
          </a:prstGeom>
          <a:solidFill>
            <a:srgbClr val="FFC145"/>
          </a:solidFill>
          <a:ln w="12700">
            <a:solidFill>
              <a:srgbClr val="FFC145"/>
            </a:solidFill>
            <a:prstDash val="solid"/>
          </a:ln>
        </p:spPr>
      </p:sp>
      <p:pic>
        <p:nvPicPr>
          <p:cNvPr id="27" name="Image 5" descr="preencoded.png">    </p:cNvPr>
          <p:cNvPicPr>
            <a:picLocks noChangeAspect="1"/>
          </p:cNvPicPr>
          <p:nvPr/>
        </p:nvPicPr>
        <p:blipFill>
          <a:blip r:embed="rId6"/>
          <a:stretch>
            <a:fillRect/>
          </a:stretch>
        </p:blipFill>
        <p:spPr>
          <a:xfrm>
            <a:off x="4910328" y="3163824"/>
            <a:ext cx="164592" cy="164592"/>
          </a:xfrm>
          <a:prstGeom prst="rect">
            <a:avLst/>
          </a:prstGeom>
        </p:spPr>
      </p:pic>
      <p:sp>
        <p:nvSpPr>
          <p:cNvPr id="28" name="Text 20"/>
          <p:cNvSpPr txBox="1"/>
          <p:nvPr/>
        </p:nvSpPr>
        <p:spPr>
          <a:xfrm>
            <a:off x="5276088" y="2990088"/>
            <a:ext cx="3291840" cy="804672"/>
          </a:xfrm>
          <a:prstGeom prst="rect">
            <a:avLst/>
          </a:prstGeom>
          <a:noFill/>
          <a:ln/>
        </p:spPr>
        <p:txBody>
          <a:bodyPr wrap="square" lIns="0" tIns="0" rIns="0" bIns="0" rtlCol="0" anchor="ctr"/>
          <a:lstStyle/>
          <a:p>
            <a:pPr indent="0" marL="0">
              <a:buNone/>
            </a:pPr>
            <a:r>
              <a:rPr lang="en-US" sz="1150" b="1" dirty="0">
                <a:solidFill>
                  <a:srgbClr val="0B2A5B"/>
                </a:solidFill>
                <a:latin typeface="Calibri" pitchFamily="34" charset="0"/>
                <a:ea typeface="Calibri" pitchFamily="34" charset="-122"/>
                <a:cs typeface="Calibri" pitchFamily="34" charset="-120"/>
              </a:rPr>
              <a:t>Legacy and unused code</a:t>
            </a:r>
            <a:endParaRPr lang="en-US" sz="1300" dirty="0"/>
          </a:p>
          <a:p>
            <a:pPr indent="0" marL="0">
              <a:buNone/>
            </a:pPr>
            <a:r>
              <a:rPr lang="en-US" sz="900" dirty="0">
                <a:solidFill>
                  <a:srgbClr val="14213D"/>
                </a:solidFill>
                <a:latin typeface="Calibri" pitchFamily="34" charset="0"/>
                <a:ea typeface="Calibri" pitchFamily="34" charset="-122"/>
                <a:cs typeface="Calibri" pitchFamily="34" charset="-120"/>
              </a:rPr>
              <a:t>DbHelper (SQLite) and AdminPanelActivity remain from earlier versions and are no longer part of the main flow.</a:t>
            </a:r>
            <a:endParaRPr lang="en-US" sz="1300" dirty="0"/>
          </a:p>
        </p:txBody>
      </p:sp>
      <p:sp>
        <p:nvSpPr>
          <p:cNvPr id="29" name="Shape 21"/>
          <p:cNvSpPr/>
          <p:nvPr/>
        </p:nvSpPr>
        <p:spPr>
          <a:xfrm>
            <a:off x="548640" y="3895344"/>
            <a:ext cx="3931920" cy="859536"/>
          </a:xfrm>
          <a:prstGeom prst="roundRect">
            <a:avLst>
              <a:gd name="adj" fmla="val 10638"/>
            </a:avLst>
          </a:prstGeom>
          <a:solidFill>
            <a:srgbClr val="EEF5FF"/>
          </a:solidFill>
          <a:ln w="12700">
            <a:solidFill>
              <a:srgbClr val="BBD6F7"/>
            </a:solidFill>
            <a:prstDash val="solid"/>
          </a:ln>
        </p:spPr>
      </p:sp>
      <p:sp>
        <p:nvSpPr>
          <p:cNvPr id="30" name="Shape 22"/>
          <p:cNvSpPr/>
          <p:nvPr/>
        </p:nvSpPr>
        <p:spPr>
          <a:xfrm>
            <a:off x="658368" y="4005072"/>
            <a:ext cx="347472" cy="347472"/>
          </a:xfrm>
          <a:prstGeom prst="ellipse">
            <a:avLst/>
          </a:prstGeom>
          <a:solidFill>
            <a:srgbClr val="FFC145"/>
          </a:solidFill>
          <a:ln w="12700">
            <a:solidFill>
              <a:srgbClr val="FFC145"/>
            </a:solidFill>
            <a:prstDash val="solid"/>
          </a:ln>
        </p:spPr>
      </p:sp>
      <p:pic>
        <p:nvPicPr>
          <p:cNvPr id="31" name="Image 6" descr="preencoded.png">    </p:cNvPr>
          <p:cNvPicPr>
            <a:picLocks noChangeAspect="1"/>
          </p:cNvPicPr>
          <p:nvPr/>
        </p:nvPicPr>
        <p:blipFill>
          <a:blip r:embed="rId7"/>
          <a:stretch>
            <a:fillRect/>
          </a:stretch>
        </p:blipFill>
        <p:spPr>
          <a:xfrm>
            <a:off x="749808" y="4096512"/>
            <a:ext cx="164592" cy="164592"/>
          </a:xfrm>
          <a:prstGeom prst="rect">
            <a:avLst/>
          </a:prstGeom>
        </p:spPr>
      </p:pic>
      <p:sp>
        <p:nvSpPr>
          <p:cNvPr id="32" name="Text 23"/>
          <p:cNvSpPr txBox="1"/>
          <p:nvPr/>
        </p:nvSpPr>
        <p:spPr>
          <a:xfrm>
            <a:off x="1115568" y="3922776"/>
            <a:ext cx="3291840" cy="804672"/>
          </a:xfrm>
          <a:prstGeom prst="rect">
            <a:avLst/>
          </a:prstGeom>
          <a:noFill/>
          <a:ln/>
        </p:spPr>
        <p:txBody>
          <a:bodyPr wrap="square" lIns="0" tIns="0" rIns="0" bIns="0" rtlCol="0" anchor="ctr"/>
          <a:lstStyle/>
          <a:p>
            <a:pPr indent="0" marL="0">
              <a:buNone/>
            </a:pPr>
            <a:r>
              <a:rPr lang="en-US" sz="1150" b="1" dirty="0">
                <a:solidFill>
                  <a:srgbClr val="0B2A5B"/>
                </a:solidFill>
                <a:latin typeface="Calibri" pitchFamily="34" charset="0"/>
                <a:ea typeface="Calibri" pitchFamily="34" charset="-122"/>
                <a:cs typeface="Calibri" pitchFamily="34" charset="-120"/>
              </a:rPr>
              <a:t>No automated tests</a:t>
            </a:r>
            <a:endParaRPr lang="en-US" sz="1300" dirty="0"/>
          </a:p>
          <a:p>
            <a:pPr indent="0" marL="0">
              <a:buNone/>
            </a:pPr>
            <a:r>
              <a:rPr lang="en-US" sz="900" dirty="0">
                <a:solidFill>
                  <a:srgbClr val="14213D"/>
                </a:solidFill>
                <a:latin typeface="Calibri" pitchFamily="34" charset="0"/>
                <a:ea typeface="Calibri" pitchFamily="34" charset="-122"/>
                <a:cs typeface="Calibri" pitchFamily="34" charset="-120"/>
              </a:rPr>
              <a:t>Testing is by manual scenarios.</a:t>
            </a:r>
            <a:endParaRPr lang="en-US" sz="1300" dirty="0"/>
          </a:p>
        </p:txBody>
      </p:sp>
      <p:sp>
        <p:nvSpPr>
          <p:cNvPr id="33" name="Shape 24"/>
          <p:cNvSpPr/>
          <p:nvPr/>
        </p:nvSpPr>
        <p:spPr>
          <a:xfrm>
            <a:off x="4709160" y="3895344"/>
            <a:ext cx="3931920" cy="859536"/>
          </a:xfrm>
          <a:prstGeom prst="roundRect">
            <a:avLst>
              <a:gd name="adj" fmla="val 10638"/>
            </a:avLst>
          </a:prstGeom>
          <a:solidFill>
            <a:srgbClr val="EEF5FF"/>
          </a:solidFill>
          <a:ln w="12700">
            <a:solidFill>
              <a:srgbClr val="BBD6F7"/>
            </a:solidFill>
            <a:prstDash val="solid"/>
          </a:ln>
        </p:spPr>
      </p:sp>
      <p:sp>
        <p:nvSpPr>
          <p:cNvPr id="34" name="Shape 25"/>
          <p:cNvSpPr/>
          <p:nvPr/>
        </p:nvSpPr>
        <p:spPr>
          <a:xfrm>
            <a:off x="4818888" y="4005072"/>
            <a:ext cx="347472" cy="347472"/>
          </a:xfrm>
          <a:prstGeom prst="ellipse">
            <a:avLst/>
          </a:prstGeom>
          <a:solidFill>
            <a:srgbClr val="FFC145"/>
          </a:solidFill>
          <a:ln w="12700">
            <a:solidFill>
              <a:srgbClr val="FFC145"/>
            </a:solidFill>
            <a:prstDash val="solid"/>
          </a:ln>
        </p:spPr>
      </p:sp>
      <p:pic>
        <p:nvPicPr>
          <p:cNvPr id="35" name="Image 7" descr="preencoded.png">    </p:cNvPr>
          <p:cNvPicPr>
            <a:picLocks noChangeAspect="1"/>
          </p:cNvPicPr>
          <p:nvPr/>
        </p:nvPicPr>
        <p:blipFill>
          <a:blip r:embed="rId8"/>
          <a:stretch>
            <a:fillRect/>
          </a:stretch>
        </p:blipFill>
        <p:spPr>
          <a:xfrm>
            <a:off x="4910328" y="4096512"/>
            <a:ext cx="164592" cy="164592"/>
          </a:xfrm>
          <a:prstGeom prst="rect">
            <a:avLst/>
          </a:prstGeom>
        </p:spPr>
      </p:pic>
      <p:sp>
        <p:nvSpPr>
          <p:cNvPr id="36" name="Text 26"/>
          <p:cNvSpPr txBox="1"/>
          <p:nvPr/>
        </p:nvSpPr>
        <p:spPr>
          <a:xfrm>
            <a:off x="5276088" y="3922776"/>
            <a:ext cx="3291840" cy="804672"/>
          </a:xfrm>
          <a:prstGeom prst="rect">
            <a:avLst/>
          </a:prstGeom>
          <a:noFill/>
          <a:ln/>
        </p:spPr>
        <p:txBody>
          <a:bodyPr wrap="square" lIns="0" tIns="0" rIns="0" bIns="0" rtlCol="0" anchor="ctr"/>
          <a:lstStyle/>
          <a:p>
            <a:pPr indent="0" marL="0">
              <a:buNone/>
            </a:pPr>
            <a:r>
              <a:rPr lang="en-US" sz="1150" b="1" dirty="0">
                <a:solidFill>
                  <a:srgbClr val="0B2A5B"/>
                </a:solidFill>
                <a:latin typeface="Calibri" pitchFamily="34" charset="0"/>
                <a:ea typeface="Calibri" pitchFamily="34" charset="-122"/>
                <a:cs typeface="Calibri" pitchFamily="34" charset="-120"/>
              </a:rPr>
              <a:t>Only 3 DUT campuses</a:t>
            </a:r>
            <a:endParaRPr lang="en-US" sz="1300" dirty="0"/>
          </a:p>
          <a:p>
            <a:pPr indent="0" marL="0">
              <a:buNone/>
            </a:pPr>
            <a:r>
              <a:rPr lang="en-US" sz="900" dirty="0">
                <a:solidFill>
                  <a:srgbClr val="14213D"/>
                </a:solidFill>
                <a:latin typeface="Calibri" pitchFamily="34" charset="0"/>
                <a:ea typeface="Calibri" pitchFamily="34" charset="-122"/>
                <a:cs typeface="Calibri" pitchFamily="34" charset="-120"/>
              </a:rPr>
              <a:t>Only 3 DUT campuses are in the app. More campuses will be added soon.</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9FF"/>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E6FD9"/>
          </a:solidFill>
          <a:ln w="12700">
            <a:solidFill>
              <a:srgbClr val="1E6FD9"/>
            </a:solidFill>
            <a:prstDash val="solid"/>
          </a:ln>
        </p:spPr>
      </p:sp>
      <p:sp>
        <p:nvSpPr>
          <p:cNvPr id="3" name="Text 1"/>
          <p:cNvSpPr txBox="1"/>
          <p:nvPr/>
        </p:nvSpPr>
        <p:spPr>
          <a:xfrm>
            <a:off x="548640" y="91440"/>
            <a:ext cx="7680960" cy="228600"/>
          </a:xfrm>
          <a:prstGeom prst="rect">
            <a:avLst/>
          </a:prstGeom>
          <a:noFill/>
          <a:ln/>
        </p:spPr>
        <p:txBody>
          <a:bodyPr wrap="square" lIns="0" tIns="0" rIns="0" bIns="0" rtlCol="0" anchor="ctr"/>
          <a:lstStyle/>
          <a:p>
            <a:pPr indent="0" marL="0">
              <a:buNone/>
            </a:pPr>
            <a:r>
              <a:rPr lang="en-US" sz="900" b="1" spc="200" kern="0" dirty="0">
                <a:solidFill>
                  <a:srgbClr val="1E6FD9"/>
                </a:solidFill>
                <a:latin typeface="Calibri" pitchFamily="34" charset="0"/>
                <a:ea typeface="Calibri" pitchFamily="34" charset="-122"/>
                <a:cs typeface="Calibri" pitchFamily="34" charset="-120"/>
              </a:rPr>
              <a:t>WHERE IT CAN GO NEXT</a:t>
            </a:r>
            <a:endParaRPr lang="en-US" sz="900" dirty="0"/>
          </a:p>
        </p:txBody>
      </p:sp>
      <p:sp>
        <p:nvSpPr>
          <p:cNvPr id="4" name="Text 2"/>
          <p:cNvSpPr txBox="1"/>
          <p:nvPr/>
        </p:nvSpPr>
        <p:spPr>
          <a:xfrm>
            <a:off x="548640" y="320040"/>
            <a:ext cx="8229600" cy="640080"/>
          </a:xfrm>
          <a:prstGeom prst="rect">
            <a:avLst/>
          </a:prstGeom>
          <a:noFill/>
          <a:ln/>
        </p:spPr>
        <p:txBody>
          <a:bodyPr wrap="square" lIns="0" tIns="0" rIns="0" bIns="0" rtlCol="0" anchor="ctr"/>
          <a:lstStyle/>
          <a:p>
            <a:pPr indent="0" marL="0">
              <a:buNone/>
            </a:pPr>
            <a:r>
              <a:rPr lang="en-US" sz="3000" b="1" dirty="0">
                <a:solidFill>
                  <a:srgbClr val="0B2A5B"/>
                </a:solidFill>
                <a:latin typeface="Cambria" pitchFamily="34" charset="0"/>
                <a:ea typeface="Cambria" pitchFamily="34" charset="-122"/>
                <a:cs typeface="Cambria" pitchFamily="34" charset="-120"/>
              </a:rPr>
              <a:t>Where It Can Go Next</a:t>
            </a:r>
            <a:endParaRPr lang="en-US" sz="3000" dirty="0"/>
          </a:p>
        </p:txBody>
      </p:sp>
      <p:sp>
        <p:nvSpPr>
          <p:cNvPr id="5" name="Shape 3"/>
          <p:cNvSpPr/>
          <p:nvPr/>
        </p:nvSpPr>
        <p:spPr>
          <a:xfrm>
            <a:off x="548640" y="1188720"/>
            <a:ext cx="1920240" cy="1691640"/>
          </a:xfrm>
          <a:prstGeom prst="roundRect">
            <a:avLst>
              <a:gd name="adj" fmla="val 6486"/>
            </a:avLst>
          </a:prstGeom>
          <a:solidFill>
            <a:srgbClr val="FFFFFF"/>
          </a:solidFill>
          <a:ln w="12700">
            <a:solidFill>
              <a:srgbClr val="D6E4F7"/>
            </a:solidFill>
            <a:prstDash val="solid"/>
          </a:ln>
        </p:spPr>
      </p:sp>
      <p:sp>
        <p:nvSpPr>
          <p:cNvPr id="6" name="Shape 4"/>
          <p:cNvSpPr/>
          <p:nvPr/>
        </p:nvSpPr>
        <p:spPr>
          <a:xfrm>
            <a:off x="658368" y="1298448"/>
            <a:ext cx="457200" cy="457200"/>
          </a:xfrm>
          <a:prstGeom prst="ellipse">
            <a:avLst/>
          </a:prstGeom>
          <a:solidFill>
            <a:srgbClr val="1E6FD9"/>
          </a:solidFill>
          <a:ln w="12700">
            <a:solidFill>
              <a:srgbClr val="1E6FD9"/>
            </a:solidFill>
            <a:prstDash val="solid"/>
          </a:ln>
        </p:spPr>
      </p:sp>
      <p:pic>
        <p:nvPicPr>
          <p:cNvPr id="7" name="Image 0" descr="preencoded.png">    </p:cNvPr>
          <p:cNvPicPr>
            <a:picLocks noChangeAspect="1"/>
          </p:cNvPicPr>
          <p:nvPr/>
        </p:nvPicPr>
        <p:blipFill>
          <a:blip r:embed="rId1"/>
          <a:stretch>
            <a:fillRect/>
          </a:stretch>
        </p:blipFill>
        <p:spPr>
          <a:xfrm>
            <a:off x="772668" y="1412748"/>
            <a:ext cx="228600" cy="228600"/>
          </a:xfrm>
          <a:prstGeom prst="rect">
            <a:avLst/>
          </a:prstGeom>
        </p:spPr>
      </p:pic>
      <p:sp>
        <p:nvSpPr>
          <p:cNvPr id="8" name="Text 5"/>
          <p:cNvSpPr txBox="1"/>
          <p:nvPr/>
        </p:nvSpPr>
        <p:spPr>
          <a:xfrm>
            <a:off x="1207008" y="1280160"/>
            <a:ext cx="1188720" cy="502920"/>
          </a:xfrm>
          <a:prstGeom prst="rect">
            <a:avLst/>
          </a:prstGeom>
          <a:noFill/>
          <a:ln/>
        </p:spPr>
        <p:txBody>
          <a:bodyPr wrap="square" lIns="0" tIns="0" rIns="0" bIns="0" rtlCol="0" anchor="ctr"/>
          <a:lstStyle/>
          <a:p>
            <a:pPr indent="0" marL="0">
              <a:buNone/>
            </a:pPr>
            <a:r>
              <a:rPr lang="en-US" sz="1200" b="1" dirty="0">
                <a:solidFill>
                  <a:srgbClr val="0B2A5B"/>
                </a:solidFill>
                <a:latin typeface="Calibri" pitchFamily="34" charset="0"/>
                <a:ea typeface="Calibri" pitchFamily="34" charset="-122"/>
                <a:cs typeface="Calibri" pitchFamily="34" charset="-120"/>
              </a:rPr>
              <a:t>Photo upload</a:t>
            </a:r>
            <a:endParaRPr lang="en-US" sz="1200" dirty="0"/>
          </a:p>
        </p:txBody>
      </p:sp>
      <p:sp>
        <p:nvSpPr>
          <p:cNvPr id="9" name="Text 6"/>
          <p:cNvSpPr txBox="1"/>
          <p:nvPr/>
        </p:nvSpPr>
        <p:spPr>
          <a:xfrm>
            <a:off x="676656" y="1874520"/>
            <a:ext cx="1691640" cy="960120"/>
          </a:xfrm>
          <a:prstGeom prst="rect">
            <a:avLst/>
          </a:prstGeom>
          <a:noFill/>
          <a:ln/>
        </p:spPr>
        <p:txBody>
          <a:bodyPr wrap="square" lIns="0" tIns="0" rIns="0" bIns="0" rtlCol="0" anchor="t"/>
          <a:lstStyle/>
          <a:p>
            <a:pPr indent="0" marL="0">
              <a:buNone/>
            </a:pPr>
            <a:r>
              <a:rPr lang="en-US" sz="1050" dirty="0">
                <a:solidFill>
                  <a:srgbClr val="14213D"/>
                </a:solidFill>
                <a:latin typeface="Calibri" pitchFamily="34" charset="0"/>
                <a:ea typeface="Calibri" pitchFamily="34" charset="-122"/>
                <a:cs typeface="Calibri" pitchFamily="34" charset="-120"/>
              </a:rPr>
              <a:t>Save photos with reports using Firebase Storage, already included as a dependency.</a:t>
            </a:r>
            <a:endParaRPr lang="en-US" sz="1050" dirty="0"/>
          </a:p>
        </p:txBody>
      </p:sp>
      <p:sp>
        <p:nvSpPr>
          <p:cNvPr id="10" name="Shape 7"/>
          <p:cNvSpPr/>
          <p:nvPr/>
        </p:nvSpPr>
        <p:spPr>
          <a:xfrm>
            <a:off x="2633472" y="1188720"/>
            <a:ext cx="1920240" cy="1691640"/>
          </a:xfrm>
          <a:prstGeom prst="roundRect">
            <a:avLst>
              <a:gd name="adj" fmla="val 6486"/>
            </a:avLst>
          </a:prstGeom>
          <a:solidFill>
            <a:srgbClr val="FFFFFF"/>
          </a:solidFill>
          <a:ln w="12700">
            <a:solidFill>
              <a:srgbClr val="D6E4F7"/>
            </a:solidFill>
            <a:prstDash val="solid"/>
          </a:ln>
        </p:spPr>
      </p:sp>
      <p:sp>
        <p:nvSpPr>
          <p:cNvPr id="11" name="Shape 8"/>
          <p:cNvSpPr/>
          <p:nvPr/>
        </p:nvSpPr>
        <p:spPr>
          <a:xfrm>
            <a:off x="2743200" y="1298448"/>
            <a:ext cx="457200" cy="457200"/>
          </a:xfrm>
          <a:prstGeom prst="ellipse">
            <a:avLst/>
          </a:prstGeom>
          <a:solidFill>
            <a:srgbClr val="3B9CF0"/>
          </a:solidFill>
          <a:ln w="12700">
            <a:solidFill>
              <a:srgbClr val="3B9CF0"/>
            </a:solidFill>
            <a:prstDash val="solid"/>
          </a:ln>
        </p:spPr>
      </p:sp>
      <p:pic>
        <p:nvPicPr>
          <p:cNvPr id="12" name="Image 1" descr="preencoded.png">    </p:cNvPr>
          <p:cNvPicPr>
            <a:picLocks noChangeAspect="1"/>
          </p:cNvPicPr>
          <p:nvPr/>
        </p:nvPicPr>
        <p:blipFill>
          <a:blip r:embed="rId2"/>
          <a:stretch>
            <a:fillRect/>
          </a:stretch>
        </p:blipFill>
        <p:spPr>
          <a:xfrm>
            <a:off x="2857500" y="1412748"/>
            <a:ext cx="228600" cy="228600"/>
          </a:xfrm>
          <a:prstGeom prst="rect">
            <a:avLst/>
          </a:prstGeom>
        </p:spPr>
      </p:pic>
      <p:sp>
        <p:nvSpPr>
          <p:cNvPr id="13" name="Text 9"/>
          <p:cNvSpPr txBox="1"/>
          <p:nvPr/>
        </p:nvSpPr>
        <p:spPr>
          <a:xfrm>
            <a:off x="3291840" y="1280160"/>
            <a:ext cx="1188720" cy="502920"/>
          </a:xfrm>
          <a:prstGeom prst="rect">
            <a:avLst/>
          </a:prstGeom>
          <a:noFill/>
          <a:ln/>
        </p:spPr>
        <p:txBody>
          <a:bodyPr wrap="square" lIns="0" tIns="0" rIns="0" bIns="0" rtlCol="0" anchor="ctr"/>
          <a:lstStyle/>
          <a:p>
            <a:pPr indent="0" marL="0">
              <a:buNone/>
            </a:pPr>
            <a:r>
              <a:rPr lang="en-US" sz="1200" b="1" dirty="0">
                <a:solidFill>
                  <a:srgbClr val="0B2A5B"/>
                </a:solidFill>
                <a:latin typeface="Calibri" pitchFamily="34" charset="0"/>
                <a:ea typeface="Calibri" pitchFamily="34" charset="-122"/>
                <a:cs typeface="Calibri" pitchFamily="34" charset="-120"/>
              </a:rPr>
              <a:t>Push notifications</a:t>
            </a:r>
            <a:endParaRPr lang="en-US" sz="1200" dirty="0"/>
          </a:p>
        </p:txBody>
      </p:sp>
      <p:sp>
        <p:nvSpPr>
          <p:cNvPr id="14" name="Text 10"/>
          <p:cNvSpPr txBox="1"/>
          <p:nvPr/>
        </p:nvSpPr>
        <p:spPr>
          <a:xfrm>
            <a:off x="2761488" y="1874520"/>
            <a:ext cx="1691640" cy="960120"/>
          </a:xfrm>
          <a:prstGeom prst="rect">
            <a:avLst/>
          </a:prstGeom>
          <a:noFill/>
          <a:ln/>
        </p:spPr>
        <p:txBody>
          <a:bodyPr wrap="square" lIns="0" tIns="0" rIns="0" bIns="0" rtlCol="0" anchor="t"/>
          <a:lstStyle/>
          <a:p>
            <a:pPr indent="0" marL="0">
              <a:buNone/>
            </a:pPr>
            <a:r>
              <a:rPr lang="en-US" sz="1050" dirty="0">
                <a:solidFill>
                  <a:srgbClr val="14213D"/>
                </a:solidFill>
                <a:latin typeface="Calibri" pitchFamily="34" charset="0"/>
                <a:ea typeface="Calibri" pitchFamily="34" charset="-122"/>
                <a:cs typeface="Calibri" pitchFamily="34" charset="-120"/>
              </a:rPr>
              <a:t>Add a messaging service so Firebase Cloud Messaging can alert users outside the app.</a:t>
            </a:r>
            <a:endParaRPr lang="en-US" sz="1050" dirty="0"/>
          </a:p>
        </p:txBody>
      </p:sp>
      <p:sp>
        <p:nvSpPr>
          <p:cNvPr id="15" name="Shape 11"/>
          <p:cNvSpPr/>
          <p:nvPr/>
        </p:nvSpPr>
        <p:spPr>
          <a:xfrm>
            <a:off x="4718304" y="1188720"/>
            <a:ext cx="1920240" cy="1691640"/>
          </a:xfrm>
          <a:prstGeom prst="roundRect">
            <a:avLst>
              <a:gd name="adj" fmla="val 6486"/>
            </a:avLst>
          </a:prstGeom>
          <a:solidFill>
            <a:srgbClr val="FFFFFF"/>
          </a:solidFill>
          <a:ln w="12700">
            <a:solidFill>
              <a:srgbClr val="D6E4F7"/>
            </a:solidFill>
            <a:prstDash val="solid"/>
          </a:ln>
        </p:spPr>
      </p:sp>
      <p:sp>
        <p:nvSpPr>
          <p:cNvPr id="16" name="Shape 12"/>
          <p:cNvSpPr/>
          <p:nvPr/>
        </p:nvSpPr>
        <p:spPr>
          <a:xfrm>
            <a:off x="4828032" y="1298448"/>
            <a:ext cx="457200" cy="457200"/>
          </a:xfrm>
          <a:prstGeom prst="ellipse">
            <a:avLst/>
          </a:prstGeom>
          <a:solidFill>
            <a:srgbClr val="1E6FD9"/>
          </a:solidFill>
          <a:ln w="12700">
            <a:solidFill>
              <a:srgbClr val="1E6FD9"/>
            </a:solidFill>
            <a:prstDash val="solid"/>
          </a:ln>
        </p:spPr>
      </p:sp>
      <p:pic>
        <p:nvPicPr>
          <p:cNvPr id="17" name="Image 2" descr="preencoded.png">    </p:cNvPr>
          <p:cNvPicPr>
            <a:picLocks noChangeAspect="1"/>
          </p:cNvPicPr>
          <p:nvPr/>
        </p:nvPicPr>
        <p:blipFill>
          <a:blip r:embed="rId3"/>
          <a:stretch>
            <a:fillRect/>
          </a:stretch>
        </p:blipFill>
        <p:spPr>
          <a:xfrm>
            <a:off x="4942332" y="1412748"/>
            <a:ext cx="228600" cy="228600"/>
          </a:xfrm>
          <a:prstGeom prst="rect">
            <a:avLst/>
          </a:prstGeom>
        </p:spPr>
      </p:pic>
      <p:sp>
        <p:nvSpPr>
          <p:cNvPr id="18" name="Text 13"/>
          <p:cNvSpPr txBox="1"/>
          <p:nvPr/>
        </p:nvSpPr>
        <p:spPr>
          <a:xfrm>
            <a:off x="5376672" y="1280160"/>
            <a:ext cx="1188720" cy="502920"/>
          </a:xfrm>
          <a:prstGeom prst="rect">
            <a:avLst/>
          </a:prstGeom>
          <a:noFill/>
          <a:ln/>
        </p:spPr>
        <p:txBody>
          <a:bodyPr wrap="square" lIns="0" tIns="0" rIns="0" bIns="0" rtlCol="0" anchor="ctr"/>
          <a:lstStyle/>
          <a:p>
            <a:pPr indent="0" marL="0">
              <a:buNone/>
            </a:pPr>
            <a:r>
              <a:rPr lang="en-US" sz="1200" b="1" dirty="0">
                <a:solidFill>
                  <a:srgbClr val="0B2A5B"/>
                </a:solidFill>
                <a:latin typeface="Calibri" pitchFamily="34" charset="0"/>
                <a:ea typeface="Calibri" pitchFamily="34" charset="-122"/>
                <a:cs typeface="Calibri" pitchFamily="34" charset="-120"/>
              </a:rPr>
              <a:t>Server-side security</a:t>
            </a:r>
            <a:endParaRPr lang="en-US" sz="1200" dirty="0"/>
          </a:p>
        </p:txBody>
      </p:sp>
      <p:sp>
        <p:nvSpPr>
          <p:cNvPr id="19" name="Text 14"/>
          <p:cNvSpPr txBox="1"/>
          <p:nvPr/>
        </p:nvSpPr>
        <p:spPr>
          <a:xfrm>
            <a:off x="4846320" y="1874520"/>
            <a:ext cx="1691640" cy="960120"/>
          </a:xfrm>
          <a:prstGeom prst="rect">
            <a:avLst/>
          </a:prstGeom>
          <a:noFill/>
          <a:ln/>
        </p:spPr>
        <p:txBody>
          <a:bodyPr wrap="square" lIns="0" tIns="0" rIns="0" bIns="0" rtlCol="0" anchor="t"/>
          <a:lstStyle/>
          <a:p>
            <a:pPr indent="0" marL="0">
              <a:buNone/>
            </a:pPr>
            <a:r>
              <a:rPr lang="en-US" sz="1050" dirty="0">
                <a:solidFill>
                  <a:srgbClr val="14213D"/>
                </a:solidFill>
                <a:latin typeface="Calibri" pitchFamily="34" charset="0"/>
                <a:ea typeface="Calibri" pitchFamily="34" charset="-122"/>
                <a:cs typeface="Calibri" pitchFamily="34" charset="-120"/>
              </a:rPr>
              <a:t>Firestore security rules that enforce roles on the server, not only in the app.</a:t>
            </a:r>
            <a:endParaRPr lang="en-US" sz="1050" dirty="0"/>
          </a:p>
        </p:txBody>
      </p:sp>
      <p:sp>
        <p:nvSpPr>
          <p:cNvPr id="20" name="Shape 15"/>
          <p:cNvSpPr/>
          <p:nvPr/>
        </p:nvSpPr>
        <p:spPr>
          <a:xfrm>
            <a:off x="6803136" y="1188720"/>
            <a:ext cx="1920240" cy="1691640"/>
          </a:xfrm>
          <a:prstGeom prst="roundRect">
            <a:avLst>
              <a:gd name="adj" fmla="val 6486"/>
            </a:avLst>
          </a:prstGeom>
          <a:solidFill>
            <a:srgbClr val="FFFFFF"/>
          </a:solidFill>
          <a:ln w="12700">
            <a:solidFill>
              <a:srgbClr val="D6E4F7"/>
            </a:solidFill>
            <a:prstDash val="solid"/>
          </a:ln>
        </p:spPr>
      </p:sp>
      <p:sp>
        <p:nvSpPr>
          <p:cNvPr id="21" name="Shape 16"/>
          <p:cNvSpPr/>
          <p:nvPr/>
        </p:nvSpPr>
        <p:spPr>
          <a:xfrm>
            <a:off x="6912864" y="1298448"/>
            <a:ext cx="457200" cy="457200"/>
          </a:xfrm>
          <a:prstGeom prst="ellipse">
            <a:avLst/>
          </a:prstGeom>
          <a:solidFill>
            <a:srgbClr val="3B9CF0"/>
          </a:solidFill>
          <a:ln w="12700">
            <a:solidFill>
              <a:srgbClr val="3B9CF0"/>
            </a:solidFill>
            <a:prstDash val="solid"/>
          </a:ln>
        </p:spPr>
      </p:sp>
      <p:pic>
        <p:nvPicPr>
          <p:cNvPr id="22" name="Image 3" descr="preencoded.png">    </p:cNvPr>
          <p:cNvPicPr>
            <a:picLocks noChangeAspect="1"/>
          </p:cNvPicPr>
          <p:nvPr/>
        </p:nvPicPr>
        <p:blipFill>
          <a:blip r:embed="rId4"/>
          <a:stretch>
            <a:fillRect/>
          </a:stretch>
        </p:blipFill>
        <p:spPr>
          <a:xfrm>
            <a:off x="7027164" y="1412748"/>
            <a:ext cx="228600" cy="228600"/>
          </a:xfrm>
          <a:prstGeom prst="rect">
            <a:avLst/>
          </a:prstGeom>
        </p:spPr>
      </p:pic>
      <p:sp>
        <p:nvSpPr>
          <p:cNvPr id="23" name="Text 17"/>
          <p:cNvSpPr txBox="1"/>
          <p:nvPr/>
        </p:nvSpPr>
        <p:spPr>
          <a:xfrm>
            <a:off x="7461504" y="1280160"/>
            <a:ext cx="1188720" cy="502920"/>
          </a:xfrm>
          <a:prstGeom prst="rect">
            <a:avLst/>
          </a:prstGeom>
          <a:noFill/>
          <a:ln/>
        </p:spPr>
        <p:txBody>
          <a:bodyPr wrap="square" lIns="0" tIns="0" rIns="0" bIns="0" rtlCol="0" anchor="ctr"/>
          <a:lstStyle/>
          <a:p>
            <a:pPr indent="0" marL="0">
              <a:buNone/>
            </a:pPr>
            <a:r>
              <a:rPr lang="en-US" sz="1200" b="1" dirty="0">
                <a:solidFill>
                  <a:srgbClr val="0B2A5B"/>
                </a:solidFill>
                <a:latin typeface="Calibri" pitchFamily="34" charset="0"/>
                <a:ea typeface="Calibri" pitchFamily="34" charset="-122"/>
                <a:cs typeface="Calibri" pitchFamily="34" charset="-120"/>
              </a:rPr>
              <a:t>Reliable report IDs</a:t>
            </a:r>
            <a:endParaRPr lang="en-US" sz="1200" dirty="0"/>
          </a:p>
        </p:txBody>
      </p:sp>
      <p:sp>
        <p:nvSpPr>
          <p:cNvPr id="24" name="Text 18"/>
          <p:cNvSpPr txBox="1"/>
          <p:nvPr/>
        </p:nvSpPr>
        <p:spPr>
          <a:xfrm>
            <a:off x="6931152" y="1874520"/>
            <a:ext cx="1691640" cy="960120"/>
          </a:xfrm>
          <a:prstGeom prst="rect">
            <a:avLst/>
          </a:prstGeom>
          <a:noFill/>
          <a:ln/>
        </p:spPr>
        <p:txBody>
          <a:bodyPr wrap="square" lIns="0" tIns="0" rIns="0" bIns="0" rtlCol="0" anchor="t"/>
          <a:lstStyle/>
          <a:p>
            <a:pPr indent="0" marL="0">
              <a:buNone/>
            </a:pPr>
            <a:r>
              <a:rPr lang="en-US" sz="1050" dirty="0">
                <a:solidFill>
                  <a:srgbClr val="14213D"/>
                </a:solidFill>
                <a:latin typeface="Calibri" pitchFamily="34" charset="0"/>
                <a:ea typeface="Calibri" pitchFamily="34" charset="-122"/>
                <a:cs typeface="Calibri" pitchFamily="34" charset="-120"/>
              </a:rPr>
              <a:t>Use a Firestore document ID instead of the creation timestamp.</a:t>
            </a:r>
            <a:endParaRPr lang="en-US" sz="1050" dirty="0"/>
          </a:p>
        </p:txBody>
      </p:sp>
      <p:sp>
        <p:nvSpPr>
          <p:cNvPr id="25" name="Shape 19"/>
          <p:cNvSpPr/>
          <p:nvPr/>
        </p:nvSpPr>
        <p:spPr>
          <a:xfrm>
            <a:off x="548640" y="3017520"/>
            <a:ext cx="1920240" cy="1691640"/>
          </a:xfrm>
          <a:prstGeom prst="roundRect">
            <a:avLst>
              <a:gd name="adj" fmla="val 6486"/>
            </a:avLst>
          </a:prstGeom>
          <a:solidFill>
            <a:srgbClr val="FFFFFF"/>
          </a:solidFill>
          <a:ln w="12700">
            <a:solidFill>
              <a:srgbClr val="D6E4F7"/>
            </a:solidFill>
            <a:prstDash val="solid"/>
          </a:ln>
        </p:spPr>
      </p:sp>
      <p:sp>
        <p:nvSpPr>
          <p:cNvPr id="26" name="Shape 20"/>
          <p:cNvSpPr/>
          <p:nvPr/>
        </p:nvSpPr>
        <p:spPr>
          <a:xfrm>
            <a:off x="658368" y="3127248"/>
            <a:ext cx="457200" cy="457200"/>
          </a:xfrm>
          <a:prstGeom prst="ellipse">
            <a:avLst/>
          </a:prstGeom>
          <a:solidFill>
            <a:srgbClr val="1E6FD9"/>
          </a:solidFill>
          <a:ln w="12700">
            <a:solidFill>
              <a:srgbClr val="1E6FD9"/>
            </a:solidFill>
            <a:prstDash val="solid"/>
          </a:ln>
        </p:spPr>
      </p:sp>
      <p:pic>
        <p:nvPicPr>
          <p:cNvPr id="27" name="Image 4" descr="preencoded.png">    </p:cNvPr>
          <p:cNvPicPr>
            <a:picLocks noChangeAspect="1"/>
          </p:cNvPicPr>
          <p:nvPr/>
        </p:nvPicPr>
        <p:blipFill>
          <a:blip r:embed="rId5"/>
          <a:stretch>
            <a:fillRect/>
          </a:stretch>
        </p:blipFill>
        <p:spPr>
          <a:xfrm>
            <a:off x="772668" y="3241548"/>
            <a:ext cx="228600" cy="228600"/>
          </a:xfrm>
          <a:prstGeom prst="rect">
            <a:avLst/>
          </a:prstGeom>
        </p:spPr>
      </p:pic>
      <p:sp>
        <p:nvSpPr>
          <p:cNvPr id="28" name="Text 21"/>
          <p:cNvSpPr txBox="1"/>
          <p:nvPr/>
        </p:nvSpPr>
        <p:spPr>
          <a:xfrm>
            <a:off x="1207008" y="3108960"/>
            <a:ext cx="1188720" cy="502920"/>
          </a:xfrm>
          <a:prstGeom prst="rect">
            <a:avLst/>
          </a:prstGeom>
          <a:noFill/>
          <a:ln/>
        </p:spPr>
        <p:txBody>
          <a:bodyPr wrap="square" lIns="0" tIns="0" rIns="0" bIns="0" rtlCol="0" anchor="ctr"/>
          <a:lstStyle/>
          <a:p>
            <a:pPr indent="0" marL="0">
              <a:buNone/>
            </a:pPr>
            <a:r>
              <a:rPr lang="en-US" sz="1200" b="1" dirty="0">
                <a:solidFill>
                  <a:srgbClr val="0B2A5B"/>
                </a:solidFill>
                <a:latin typeface="Calibri" pitchFamily="34" charset="0"/>
                <a:ea typeface="Calibri" pitchFamily="34" charset="-122"/>
                <a:cs typeface="Calibri" pitchFamily="34" charset="-120"/>
              </a:rPr>
              <a:t>More campuses</a:t>
            </a:r>
            <a:endParaRPr lang="en-US" sz="1200" dirty="0"/>
          </a:p>
        </p:txBody>
      </p:sp>
      <p:sp>
        <p:nvSpPr>
          <p:cNvPr id="29" name="Text 22"/>
          <p:cNvSpPr txBox="1"/>
          <p:nvPr/>
        </p:nvSpPr>
        <p:spPr>
          <a:xfrm>
            <a:off x="676656" y="3703320"/>
            <a:ext cx="1691640" cy="960120"/>
          </a:xfrm>
          <a:prstGeom prst="rect">
            <a:avLst/>
          </a:prstGeom>
          <a:noFill/>
          <a:ln/>
        </p:spPr>
        <p:txBody>
          <a:bodyPr wrap="square" lIns="0" tIns="0" rIns="0" bIns="0" rtlCol="0" anchor="t"/>
          <a:lstStyle/>
          <a:p>
            <a:pPr indent="0" marL="0">
              <a:buNone/>
            </a:pPr>
            <a:r>
              <a:rPr lang="en-US" sz="1050" dirty="0">
                <a:solidFill>
                  <a:srgbClr val="14213D"/>
                </a:solidFill>
                <a:latin typeface="Calibri" pitchFamily="34" charset="0"/>
                <a:ea typeface="Calibri" pitchFamily="34" charset="-122"/>
                <a:cs typeface="Calibri" pitchFamily="34" charset="-120"/>
              </a:rPr>
              <a:t>Only 3 DUT campuses are in the app; more will be added soon.</a:t>
            </a:r>
            <a:endParaRPr lang="en-US" sz="1050" dirty="0"/>
          </a:p>
        </p:txBody>
      </p:sp>
      <p:sp>
        <p:nvSpPr>
          <p:cNvPr id="30" name="Shape 23"/>
          <p:cNvSpPr/>
          <p:nvPr/>
        </p:nvSpPr>
        <p:spPr>
          <a:xfrm>
            <a:off x="2633472" y="3017520"/>
            <a:ext cx="1920240" cy="1691640"/>
          </a:xfrm>
          <a:prstGeom prst="roundRect">
            <a:avLst>
              <a:gd name="adj" fmla="val 6486"/>
            </a:avLst>
          </a:prstGeom>
          <a:solidFill>
            <a:srgbClr val="FFFFFF"/>
          </a:solidFill>
          <a:ln w="12700">
            <a:solidFill>
              <a:srgbClr val="D6E4F7"/>
            </a:solidFill>
            <a:prstDash val="solid"/>
          </a:ln>
        </p:spPr>
      </p:sp>
      <p:sp>
        <p:nvSpPr>
          <p:cNvPr id="31" name="Shape 24"/>
          <p:cNvSpPr/>
          <p:nvPr/>
        </p:nvSpPr>
        <p:spPr>
          <a:xfrm>
            <a:off x="2743200" y="3127248"/>
            <a:ext cx="457200" cy="457200"/>
          </a:xfrm>
          <a:prstGeom prst="ellipse">
            <a:avLst/>
          </a:prstGeom>
          <a:solidFill>
            <a:srgbClr val="3B9CF0"/>
          </a:solidFill>
          <a:ln w="12700">
            <a:solidFill>
              <a:srgbClr val="3B9CF0"/>
            </a:solidFill>
            <a:prstDash val="solid"/>
          </a:ln>
        </p:spPr>
      </p:sp>
      <p:pic>
        <p:nvPicPr>
          <p:cNvPr id="32" name="Image 5" descr="preencoded.png">    </p:cNvPr>
          <p:cNvPicPr>
            <a:picLocks noChangeAspect="1"/>
          </p:cNvPicPr>
          <p:nvPr/>
        </p:nvPicPr>
        <p:blipFill>
          <a:blip r:embed="rId6"/>
          <a:stretch>
            <a:fillRect/>
          </a:stretch>
        </p:blipFill>
        <p:spPr>
          <a:xfrm>
            <a:off x="2857500" y="3241548"/>
            <a:ext cx="228600" cy="228600"/>
          </a:xfrm>
          <a:prstGeom prst="rect">
            <a:avLst/>
          </a:prstGeom>
        </p:spPr>
      </p:pic>
      <p:sp>
        <p:nvSpPr>
          <p:cNvPr id="33" name="Text 25"/>
          <p:cNvSpPr txBox="1"/>
          <p:nvPr/>
        </p:nvSpPr>
        <p:spPr>
          <a:xfrm>
            <a:off x="3291840" y="3108960"/>
            <a:ext cx="1188720" cy="502920"/>
          </a:xfrm>
          <a:prstGeom prst="rect">
            <a:avLst/>
          </a:prstGeom>
          <a:noFill/>
          <a:ln/>
        </p:spPr>
        <p:txBody>
          <a:bodyPr wrap="square" lIns="0" tIns="0" rIns="0" bIns="0" rtlCol="0" anchor="ctr"/>
          <a:lstStyle/>
          <a:p>
            <a:pPr indent="0" marL="0">
              <a:buNone/>
            </a:pPr>
            <a:r>
              <a:rPr lang="en-US" sz="1200" b="1" dirty="0">
                <a:solidFill>
                  <a:srgbClr val="0B2A5B"/>
                </a:solidFill>
                <a:latin typeface="Calibri" pitchFamily="34" charset="0"/>
                <a:ea typeface="Calibri" pitchFamily="34" charset="-122"/>
                <a:cs typeface="Calibri" pitchFamily="34" charset="-120"/>
              </a:rPr>
              <a:t>Cleaner code base</a:t>
            </a:r>
            <a:endParaRPr lang="en-US" sz="1200" dirty="0"/>
          </a:p>
        </p:txBody>
      </p:sp>
      <p:sp>
        <p:nvSpPr>
          <p:cNvPr id="34" name="Text 26"/>
          <p:cNvSpPr txBox="1"/>
          <p:nvPr/>
        </p:nvSpPr>
        <p:spPr>
          <a:xfrm>
            <a:off x="2761488" y="3703320"/>
            <a:ext cx="1691640" cy="960120"/>
          </a:xfrm>
          <a:prstGeom prst="rect">
            <a:avLst/>
          </a:prstGeom>
          <a:noFill/>
          <a:ln/>
        </p:spPr>
        <p:txBody>
          <a:bodyPr wrap="square" lIns="0" tIns="0" rIns="0" bIns="0" rtlCol="0" anchor="t"/>
          <a:lstStyle/>
          <a:p>
            <a:pPr indent="0" marL="0">
              <a:buNone/>
            </a:pPr>
            <a:r>
              <a:rPr lang="en-US" sz="1050" dirty="0">
                <a:solidFill>
                  <a:srgbClr val="14213D"/>
                </a:solidFill>
                <a:latin typeface="Calibri" pitchFamily="34" charset="0"/>
                <a:ea typeface="Calibri" pitchFamily="34" charset="-122"/>
                <a:cs typeface="Calibri" pitchFamily="34" charset="-120"/>
              </a:rPr>
              <a:t>Remove the legacy DbHelper (SQLite) and AdminPanelActivity.</a:t>
            </a:r>
            <a:endParaRPr lang="en-US" sz="1050" dirty="0"/>
          </a:p>
        </p:txBody>
      </p:sp>
      <p:sp>
        <p:nvSpPr>
          <p:cNvPr id="35" name="Shape 27"/>
          <p:cNvSpPr/>
          <p:nvPr/>
        </p:nvSpPr>
        <p:spPr>
          <a:xfrm>
            <a:off x="4718304" y="3017520"/>
            <a:ext cx="1920240" cy="1691640"/>
          </a:xfrm>
          <a:prstGeom prst="roundRect">
            <a:avLst>
              <a:gd name="adj" fmla="val 6486"/>
            </a:avLst>
          </a:prstGeom>
          <a:solidFill>
            <a:srgbClr val="FFFFFF"/>
          </a:solidFill>
          <a:ln w="12700">
            <a:solidFill>
              <a:srgbClr val="D6E4F7"/>
            </a:solidFill>
            <a:prstDash val="solid"/>
          </a:ln>
        </p:spPr>
      </p:sp>
      <p:sp>
        <p:nvSpPr>
          <p:cNvPr id="36" name="Shape 28"/>
          <p:cNvSpPr/>
          <p:nvPr/>
        </p:nvSpPr>
        <p:spPr>
          <a:xfrm>
            <a:off x="4828032" y="3127248"/>
            <a:ext cx="457200" cy="457200"/>
          </a:xfrm>
          <a:prstGeom prst="ellipse">
            <a:avLst/>
          </a:prstGeom>
          <a:solidFill>
            <a:srgbClr val="1E6FD9"/>
          </a:solidFill>
          <a:ln w="12700">
            <a:solidFill>
              <a:srgbClr val="1E6FD9"/>
            </a:solidFill>
            <a:prstDash val="solid"/>
          </a:ln>
        </p:spPr>
      </p:sp>
      <p:pic>
        <p:nvPicPr>
          <p:cNvPr id="37" name="Image 6" descr="preencoded.png">    </p:cNvPr>
          <p:cNvPicPr>
            <a:picLocks noChangeAspect="1"/>
          </p:cNvPicPr>
          <p:nvPr/>
        </p:nvPicPr>
        <p:blipFill>
          <a:blip r:embed="rId7"/>
          <a:stretch>
            <a:fillRect/>
          </a:stretch>
        </p:blipFill>
        <p:spPr>
          <a:xfrm>
            <a:off x="4942332" y="3241548"/>
            <a:ext cx="228600" cy="228600"/>
          </a:xfrm>
          <a:prstGeom prst="rect">
            <a:avLst/>
          </a:prstGeom>
        </p:spPr>
      </p:pic>
      <p:sp>
        <p:nvSpPr>
          <p:cNvPr id="38" name="Text 29"/>
          <p:cNvSpPr txBox="1"/>
          <p:nvPr/>
        </p:nvSpPr>
        <p:spPr>
          <a:xfrm>
            <a:off x="5376672" y="3108960"/>
            <a:ext cx="1188720" cy="502920"/>
          </a:xfrm>
          <a:prstGeom prst="rect">
            <a:avLst/>
          </a:prstGeom>
          <a:noFill/>
          <a:ln/>
        </p:spPr>
        <p:txBody>
          <a:bodyPr wrap="square" lIns="0" tIns="0" rIns="0" bIns="0" rtlCol="0" anchor="ctr"/>
          <a:lstStyle/>
          <a:p>
            <a:pPr indent="0" marL="0">
              <a:buNone/>
            </a:pPr>
            <a:r>
              <a:rPr lang="en-US" sz="1200" b="1" dirty="0">
                <a:solidFill>
                  <a:srgbClr val="0B2A5B"/>
                </a:solidFill>
                <a:latin typeface="Calibri" pitchFamily="34" charset="0"/>
                <a:ea typeface="Calibri" pitchFamily="34" charset="-122"/>
                <a:cs typeface="Calibri" pitchFamily="34" charset="-120"/>
              </a:rPr>
              <a:t>Automated tests</a:t>
            </a:r>
            <a:endParaRPr lang="en-US" sz="1200" dirty="0"/>
          </a:p>
        </p:txBody>
      </p:sp>
      <p:sp>
        <p:nvSpPr>
          <p:cNvPr id="39" name="Text 30"/>
          <p:cNvSpPr txBox="1"/>
          <p:nvPr/>
        </p:nvSpPr>
        <p:spPr>
          <a:xfrm>
            <a:off x="4846320" y="3703320"/>
            <a:ext cx="1691640" cy="960120"/>
          </a:xfrm>
          <a:prstGeom prst="rect">
            <a:avLst/>
          </a:prstGeom>
          <a:noFill/>
          <a:ln/>
        </p:spPr>
        <p:txBody>
          <a:bodyPr wrap="square" lIns="0" tIns="0" rIns="0" bIns="0" rtlCol="0" anchor="t"/>
          <a:lstStyle/>
          <a:p>
            <a:pPr indent="0" marL="0">
              <a:buNone/>
            </a:pPr>
            <a:r>
              <a:rPr lang="en-US" sz="1050" dirty="0">
                <a:solidFill>
                  <a:srgbClr val="14213D"/>
                </a:solidFill>
                <a:latin typeface="Calibri" pitchFamily="34" charset="0"/>
                <a:ea typeface="Calibri" pitchFamily="34" charset="-122"/>
                <a:cs typeface="Calibri" pitchFamily="34" charset="-120"/>
              </a:rPr>
              <a:t>Add automated tests alongside the manual scenarios.</a:t>
            </a:r>
            <a:endParaRPr lang="en-US" sz="1050" dirty="0"/>
          </a:p>
        </p:txBody>
      </p:sp>
      <p:sp>
        <p:nvSpPr>
          <p:cNvPr id="40" name="Shape 31"/>
          <p:cNvSpPr/>
          <p:nvPr/>
        </p:nvSpPr>
        <p:spPr>
          <a:xfrm>
            <a:off x="6803136" y="3017520"/>
            <a:ext cx="1920240" cy="1691640"/>
          </a:xfrm>
          <a:prstGeom prst="roundRect">
            <a:avLst>
              <a:gd name="adj" fmla="val 6486"/>
            </a:avLst>
          </a:prstGeom>
          <a:solidFill>
            <a:srgbClr val="FFFFFF"/>
          </a:solidFill>
          <a:ln w="12700">
            <a:solidFill>
              <a:srgbClr val="D6E4F7"/>
            </a:solidFill>
            <a:prstDash val="solid"/>
          </a:ln>
        </p:spPr>
      </p:sp>
      <p:sp>
        <p:nvSpPr>
          <p:cNvPr id="41" name="Shape 32"/>
          <p:cNvSpPr/>
          <p:nvPr/>
        </p:nvSpPr>
        <p:spPr>
          <a:xfrm>
            <a:off x="6912864" y="3127248"/>
            <a:ext cx="457200" cy="457200"/>
          </a:xfrm>
          <a:prstGeom prst="ellipse">
            <a:avLst/>
          </a:prstGeom>
          <a:solidFill>
            <a:srgbClr val="3B9CF0"/>
          </a:solidFill>
          <a:ln w="12700">
            <a:solidFill>
              <a:srgbClr val="3B9CF0"/>
            </a:solidFill>
            <a:prstDash val="solid"/>
          </a:ln>
        </p:spPr>
      </p:sp>
      <p:pic>
        <p:nvPicPr>
          <p:cNvPr id="42" name="Image 7" descr="preencoded.png">    </p:cNvPr>
          <p:cNvPicPr>
            <a:picLocks noChangeAspect="1"/>
          </p:cNvPicPr>
          <p:nvPr/>
        </p:nvPicPr>
        <p:blipFill>
          <a:blip r:embed="rId8"/>
          <a:stretch>
            <a:fillRect/>
          </a:stretch>
        </p:blipFill>
        <p:spPr>
          <a:xfrm>
            <a:off x="7027164" y="3241548"/>
            <a:ext cx="228600" cy="228600"/>
          </a:xfrm>
          <a:prstGeom prst="rect">
            <a:avLst/>
          </a:prstGeom>
        </p:spPr>
      </p:pic>
      <p:sp>
        <p:nvSpPr>
          <p:cNvPr id="43" name="Text 33"/>
          <p:cNvSpPr txBox="1"/>
          <p:nvPr/>
        </p:nvSpPr>
        <p:spPr>
          <a:xfrm>
            <a:off x="7461504" y="3108960"/>
            <a:ext cx="1188720" cy="502920"/>
          </a:xfrm>
          <a:prstGeom prst="rect">
            <a:avLst/>
          </a:prstGeom>
          <a:noFill/>
          <a:ln/>
        </p:spPr>
        <p:txBody>
          <a:bodyPr wrap="square" lIns="0" tIns="0" rIns="0" bIns="0" rtlCol="0" anchor="ctr"/>
          <a:lstStyle/>
          <a:p>
            <a:pPr indent="0" marL="0">
              <a:buNone/>
            </a:pPr>
            <a:r>
              <a:rPr lang="en-US" sz="1200" b="1" dirty="0">
                <a:solidFill>
                  <a:srgbClr val="0B2A5B"/>
                </a:solidFill>
                <a:latin typeface="Calibri" pitchFamily="34" charset="0"/>
                <a:ea typeface="Calibri" pitchFamily="34" charset="-122"/>
                <a:cs typeface="Calibri" pitchFamily="34" charset="-120"/>
              </a:rPr>
              <a:t>Smarter classifier</a:t>
            </a:r>
            <a:endParaRPr lang="en-US" sz="1200" dirty="0"/>
          </a:p>
        </p:txBody>
      </p:sp>
      <p:sp>
        <p:nvSpPr>
          <p:cNvPr id="44" name="Text 34"/>
          <p:cNvSpPr txBox="1"/>
          <p:nvPr/>
        </p:nvSpPr>
        <p:spPr>
          <a:xfrm>
            <a:off x="6931152" y="3703320"/>
            <a:ext cx="1691640" cy="960120"/>
          </a:xfrm>
          <a:prstGeom prst="rect">
            <a:avLst/>
          </a:prstGeom>
          <a:noFill/>
          <a:ln/>
        </p:spPr>
        <p:txBody>
          <a:bodyPr wrap="square" lIns="0" tIns="0" rIns="0" bIns="0" rtlCol="0" anchor="t"/>
          <a:lstStyle/>
          <a:p>
            <a:pPr indent="0" marL="0">
              <a:buNone/>
            </a:pPr>
            <a:r>
              <a:rPr lang="en-US" sz="1050" dirty="0">
                <a:solidFill>
                  <a:srgbClr val="14213D"/>
                </a:solidFill>
                <a:latin typeface="Calibri" pitchFamily="34" charset="0"/>
                <a:ea typeface="Calibri" pitchFamily="34" charset="-122"/>
                <a:cs typeface="Calibri" pitchFamily="34" charset="-120"/>
              </a:rPr>
              <a:t>Go beyond categories and keywords to understand free-text descriptions.</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2A5B"/>
        </a:solidFill>
      </p:bgPr>
    </p:bg>
    <p:spTree>
      <p:nvGrpSpPr>
        <p:cNvPr id="1" name=""/>
        <p:cNvGrpSpPr/>
        <p:nvPr/>
      </p:nvGrpSpPr>
      <p:grpSpPr>
        <a:xfrm>
          <a:off x="0" y="0"/>
          <a:ext cx="0" cy="0"/>
          <a:chOff x="0" y="0"/>
          <a:chExt cx="0" cy="0"/>
        </a:xfrm>
      </p:grpSpPr>
      <p:sp>
        <p:nvSpPr>
          <p:cNvPr id="2" name="Shape 0"/>
          <p:cNvSpPr/>
          <p:nvPr/>
        </p:nvSpPr>
        <p:spPr>
          <a:xfrm>
            <a:off x="-1371600" y="2560320"/>
            <a:ext cx="4572000" cy="4572000"/>
          </a:xfrm>
          <a:prstGeom prst="ellipse">
            <a:avLst/>
          </a:prstGeom>
          <a:solidFill>
            <a:srgbClr val="1E6FD9">
              <a:alpha val="45000"/>
            </a:srgbClr>
          </a:solidFill>
          <a:ln w="12700">
            <a:solidFill>
              <a:srgbClr val="1E6FD9">
                <a:alpha val="0"/>
              </a:srgbClr>
            </a:solidFill>
            <a:prstDash val="solid"/>
          </a:ln>
        </p:spPr>
      </p:sp>
      <p:sp>
        <p:nvSpPr>
          <p:cNvPr id="3" name="Shape 1"/>
          <p:cNvSpPr/>
          <p:nvPr/>
        </p:nvSpPr>
        <p:spPr>
          <a:xfrm>
            <a:off x="548640" y="914400"/>
            <a:ext cx="731520" cy="731520"/>
          </a:xfrm>
          <a:prstGeom prst="ellipse">
            <a:avLst/>
          </a:prstGeom>
          <a:solidFill>
            <a:srgbClr val="FFFFFF"/>
          </a:solidFill>
          <a:ln w="12700">
            <a:solidFill>
              <a:srgbClr val="FFFFFF"/>
            </a:solidFill>
            <a:prstDash val="solid"/>
          </a:ln>
        </p:spPr>
      </p:sp>
      <p:pic>
        <p:nvPicPr>
          <p:cNvPr id="4" name="Image 0" descr="preencoded.png">    </p:cNvPr>
          <p:cNvPicPr>
            <a:picLocks noChangeAspect="1"/>
          </p:cNvPicPr>
          <p:nvPr/>
        </p:nvPicPr>
        <p:blipFill>
          <a:blip r:embed="rId1"/>
          <a:stretch>
            <a:fillRect/>
          </a:stretch>
        </p:blipFill>
        <p:spPr>
          <a:xfrm>
            <a:off x="731520" y="1097280"/>
            <a:ext cx="365760" cy="365760"/>
          </a:xfrm>
          <a:prstGeom prst="rect">
            <a:avLst/>
          </a:prstGeom>
        </p:spPr>
      </p:pic>
      <p:sp>
        <p:nvSpPr>
          <p:cNvPr id="5" name="Text 2"/>
          <p:cNvSpPr txBox="1"/>
          <p:nvPr/>
        </p:nvSpPr>
        <p:spPr>
          <a:xfrm>
            <a:off x="548640" y="1828800"/>
            <a:ext cx="4572000" cy="8229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6" name="Text 3"/>
          <p:cNvSpPr txBox="1"/>
          <p:nvPr/>
        </p:nvSpPr>
        <p:spPr>
          <a:xfrm>
            <a:off x="548640" y="2743200"/>
            <a:ext cx="4572000" cy="457200"/>
          </a:xfrm>
          <a:prstGeom prst="rect">
            <a:avLst/>
          </a:prstGeom>
          <a:noFill/>
          <a:ln/>
        </p:spPr>
        <p:txBody>
          <a:bodyPr wrap="square" lIns="0" tIns="0" rIns="0" bIns="0" rtlCol="0" anchor="ctr"/>
          <a:lstStyle/>
          <a:p>
            <a:pPr indent="0" marL="0">
              <a:buNone/>
            </a:pPr>
            <a:r>
              <a:rPr lang="en-US" sz="2000" dirty="0">
                <a:solidFill>
                  <a:srgbClr val="BBD6F7"/>
                </a:solidFill>
                <a:latin typeface="Calibri" pitchFamily="34" charset="0"/>
                <a:ea typeface="Calibri" pitchFamily="34" charset="-122"/>
                <a:cs typeface="Calibri" pitchFamily="34" charset="-120"/>
              </a:rPr>
              <a:t>Questions?</a:t>
            </a:r>
            <a:endParaRPr lang="en-US" sz="2000" dirty="0"/>
          </a:p>
        </p:txBody>
      </p:sp>
      <p:pic>
        <p:nvPicPr>
          <p:cNvPr id="7" name="Image 1" descr="pb_home.png">    </p:cNvPr>
          <p:cNvPicPr>
            <a:picLocks noChangeAspect="1"/>
          </p:cNvPicPr>
          <p:nvPr/>
        </p:nvPicPr>
        <p:blipFill>
          <a:blip r:embed="rId2"/>
          <a:stretch>
            <a:fillRect/>
          </a:stretch>
        </p:blipFill>
        <p:spPr>
          <a:xfrm>
            <a:off x="5394960" y="731520"/>
            <a:ext cx="1708879" cy="3474720"/>
          </a:xfrm>
          <a:prstGeom prst="rect">
            <a:avLst/>
          </a:prstGeom>
          <a:effectLst>
            <a:outerShdw sx="100000" sy="100000" kx="0" ky="0" algn="bl" rotWithShape="0" blurRad="152400" dist="50800" dir="5400000">
              <a:srgbClr val="000000">
                <a:alpha val="25000"/>
              </a:srgbClr>
            </a:outerShdw>
          </a:effectLst>
        </p:spPr>
      </p:pic>
      <p:pic>
        <p:nvPicPr>
          <p:cNvPr id="8" name="Image 2" descr="pb_details.png">    </p:cNvPr>
          <p:cNvPicPr>
            <a:picLocks noChangeAspect="1"/>
          </p:cNvPicPr>
          <p:nvPr/>
        </p:nvPicPr>
        <p:blipFill>
          <a:blip r:embed="rId3"/>
          <a:stretch>
            <a:fillRect/>
          </a:stretch>
        </p:blipFill>
        <p:spPr>
          <a:xfrm>
            <a:off x="7040880" y="1188720"/>
            <a:ext cx="1708879" cy="3474720"/>
          </a:xfrm>
          <a:prstGeom prst="rect">
            <a:avLst/>
          </a:prstGeom>
          <a:effectLst>
            <a:outerShdw sx="100000" sy="100000" kx="0" ky="0" algn="bl" rotWithShape="0" blurRad="152400" dist="50800" dir="5400000">
              <a:srgbClr val="000000">
                <a:alpha val="25000"/>
              </a:srgbClr>
            </a:outerShdw>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Campus Lost &amp; Found - MOSA202 Integrated Project</dc:title>
  <dc:subject>PptxGenJS Presentation</dc:subject>
  <dc:creator>PptxGenJS</dc:creator>
  <cp:lastModifiedBy>PptxGenJS</cp:lastModifiedBy>
  <cp:revision>1</cp:revision>
  <dcterms:created xsi:type="dcterms:W3CDTF">2026-10-02T01:12:03Z</dcterms:created>
  <dcterms:modified xsi:type="dcterms:W3CDTF">2026-10-02T01:12:03Z</dcterms:modified>
</cp:coreProperties>
</file>